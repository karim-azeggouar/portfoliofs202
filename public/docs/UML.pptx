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6" r:id="rId1"/>
  </p:sldMasterIdLst>
  <p:notesMasterIdLst>
    <p:notesMasterId r:id="rId107"/>
  </p:notesMasterIdLst>
  <p:sldIdLst>
    <p:sldId id="345" r:id="rId2"/>
    <p:sldId id="346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379" r:id="rId36"/>
    <p:sldId id="408" r:id="rId37"/>
    <p:sldId id="409" r:id="rId38"/>
    <p:sldId id="410" r:id="rId39"/>
    <p:sldId id="380" r:id="rId40"/>
    <p:sldId id="381" r:id="rId41"/>
    <p:sldId id="383" r:id="rId42"/>
    <p:sldId id="332" r:id="rId43"/>
    <p:sldId id="284" r:id="rId44"/>
    <p:sldId id="403" r:id="rId45"/>
    <p:sldId id="312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35" r:id="rId55"/>
    <p:sldId id="336" r:id="rId56"/>
    <p:sldId id="322" r:id="rId57"/>
    <p:sldId id="337" r:id="rId58"/>
    <p:sldId id="404" r:id="rId59"/>
    <p:sldId id="323" r:id="rId60"/>
    <p:sldId id="285" r:id="rId61"/>
    <p:sldId id="286" r:id="rId62"/>
    <p:sldId id="287" r:id="rId63"/>
    <p:sldId id="288" r:id="rId64"/>
    <p:sldId id="289" r:id="rId65"/>
    <p:sldId id="291" r:id="rId66"/>
    <p:sldId id="324" r:id="rId67"/>
    <p:sldId id="325" r:id="rId68"/>
    <p:sldId id="326" r:id="rId69"/>
    <p:sldId id="327" r:id="rId70"/>
    <p:sldId id="328" r:id="rId71"/>
    <p:sldId id="292" r:id="rId72"/>
    <p:sldId id="338" r:id="rId73"/>
    <p:sldId id="339" r:id="rId74"/>
    <p:sldId id="340" r:id="rId75"/>
    <p:sldId id="344" r:id="rId76"/>
    <p:sldId id="342" r:id="rId77"/>
    <p:sldId id="343" r:id="rId78"/>
    <p:sldId id="405" r:id="rId79"/>
    <p:sldId id="294" r:id="rId80"/>
    <p:sldId id="293" r:id="rId81"/>
    <p:sldId id="298" r:id="rId82"/>
    <p:sldId id="300" r:id="rId83"/>
    <p:sldId id="302" r:id="rId84"/>
    <p:sldId id="406" r:id="rId85"/>
    <p:sldId id="303" r:id="rId86"/>
    <p:sldId id="412" r:id="rId87"/>
    <p:sldId id="411" r:id="rId88"/>
    <p:sldId id="304" r:id="rId89"/>
    <p:sldId id="413" r:id="rId90"/>
    <p:sldId id="384" r:id="rId91"/>
    <p:sldId id="414" r:id="rId92"/>
    <p:sldId id="415" r:id="rId93"/>
    <p:sldId id="387" r:id="rId94"/>
    <p:sldId id="388" r:id="rId95"/>
    <p:sldId id="389" r:id="rId96"/>
    <p:sldId id="390" r:id="rId97"/>
    <p:sldId id="391" r:id="rId98"/>
    <p:sldId id="392" r:id="rId99"/>
    <p:sldId id="393" r:id="rId100"/>
    <p:sldId id="395" r:id="rId101"/>
    <p:sldId id="396" r:id="rId102"/>
    <p:sldId id="399" r:id="rId103"/>
    <p:sldId id="400" r:id="rId104"/>
    <p:sldId id="401" r:id="rId105"/>
    <p:sldId id="402" r:id="rId106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68F92C1A-D60C-4CB4-9138-7584F19E9DF7}">
          <p14:sldIdLst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408"/>
            <p14:sldId id="409"/>
            <p14:sldId id="410"/>
            <p14:sldId id="380"/>
            <p14:sldId id="381"/>
            <p14:sldId id="383"/>
            <p14:sldId id="332"/>
            <p14:sldId id="284"/>
            <p14:sldId id="403"/>
            <p14:sldId id="312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35"/>
            <p14:sldId id="336"/>
            <p14:sldId id="322"/>
            <p14:sldId id="337"/>
            <p14:sldId id="404"/>
            <p14:sldId id="323"/>
            <p14:sldId id="285"/>
            <p14:sldId id="286"/>
            <p14:sldId id="287"/>
            <p14:sldId id="288"/>
            <p14:sldId id="289"/>
            <p14:sldId id="291"/>
            <p14:sldId id="324"/>
            <p14:sldId id="325"/>
            <p14:sldId id="326"/>
            <p14:sldId id="327"/>
            <p14:sldId id="328"/>
            <p14:sldId id="292"/>
            <p14:sldId id="338"/>
            <p14:sldId id="339"/>
            <p14:sldId id="340"/>
            <p14:sldId id="344"/>
            <p14:sldId id="342"/>
            <p14:sldId id="343"/>
            <p14:sldId id="405"/>
            <p14:sldId id="294"/>
            <p14:sldId id="293"/>
            <p14:sldId id="298"/>
            <p14:sldId id="300"/>
            <p14:sldId id="302"/>
            <p14:sldId id="406"/>
            <p14:sldId id="303"/>
            <p14:sldId id="412"/>
            <p14:sldId id="411"/>
            <p14:sldId id="304"/>
            <p14:sldId id="413"/>
            <p14:sldId id="384"/>
            <p14:sldId id="414"/>
            <p14:sldId id="415"/>
            <p14:sldId id="387"/>
            <p14:sldId id="388"/>
            <p14:sldId id="389"/>
            <p14:sldId id="390"/>
            <p14:sldId id="391"/>
            <p14:sldId id="392"/>
            <p14:sldId id="393"/>
            <p14:sldId id="395"/>
            <p14:sldId id="396"/>
            <p14:sldId id="399"/>
            <p14:sldId id="400"/>
            <p14:sldId id="401"/>
            <p14:sldId id="40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733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4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8E23D1E-64D2-460A-9B32-68D19D8A6D8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0346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52A779B-25ED-4EB8-A9DF-40B14511DE92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A9288C6A-816D-4315-ABEC-F927C9FE9EDB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44869E-E76C-473A-9F69-CC8C587764D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1038DB-4641-4710-B87C-10B3F046BEF7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AE4D1E-9A57-4724-88C0-7A69C2163C5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A802A2-F6F2-40FB-A1A0-19ABC3B267FE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3226F2-908D-4C6B-8025-1B5E108D524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A9BF726A-2A4C-4C9A-BE27-7764A1AFD8E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2C4745-C549-4AFC-948C-68B2DA741AE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6C2754-0A89-4072-93A2-50A9E647AD2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75325BD7-B71C-4933-ADA9-92F09BC10A74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dirty="0" err="1" smtClean="0"/>
              <a:t>A.Karim</a:t>
            </a:r>
            <a:endParaRPr lang="fr-FR" dirty="0" smtClean="0"/>
          </a:p>
        </p:txBody>
      </p:sp>
      <p:sp>
        <p:nvSpPr>
          <p:cNvPr id="3074" name="Rectangle 1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7A796A76-FFEC-4757-BB91-5B9364090A03}" type="slidenum">
              <a:rPr lang="fr-FR"/>
              <a:pPr>
                <a:defRPr/>
              </a:pPr>
              <a:t>1</a:t>
            </a:fld>
            <a:endParaRPr lang="fr-FR"/>
          </a:p>
        </p:txBody>
      </p:sp>
      <p:sp>
        <p:nvSpPr>
          <p:cNvPr id="6148" name="AutoShap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CA" sz="3200" dirty="0" smtClean="0"/>
              <a:t>UML</a:t>
            </a:r>
            <a:endParaRPr lang="fr-FR" sz="3200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933056"/>
            <a:ext cx="3888432" cy="2494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330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2928934"/>
            <a:ext cx="7915276" cy="1928818"/>
          </a:xfrm>
        </p:spPr>
        <p:txBody>
          <a:bodyPr>
            <a:normAutofit fontScale="90000"/>
          </a:bodyPr>
          <a:lstStyle/>
          <a:p>
            <a:r>
              <a:rPr lang="fr-MA" dirty="0" smtClean="0"/>
              <a:t>Evolution des langages de programmation </a:t>
            </a:r>
            <a:br>
              <a:rPr lang="fr-MA" dirty="0" smtClean="0"/>
            </a:b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79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 programmation impérative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2000240"/>
            <a:ext cx="7858180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180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143116"/>
            <a:ext cx="3552825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1911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Programmation structurée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785927"/>
            <a:ext cx="7858180" cy="2786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5472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143116"/>
            <a:ext cx="3552825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2857496"/>
            <a:ext cx="3190875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Flèche courbée vers le bas 6"/>
          <p:cNvSpPr/>
          <p:nvPr/>
        </p:nvSpPr>
        <p:spPr>
          <a:xfrm>
            <a:off x="3857620" y="1714488"/>
            <a:ext cx="2214578" cy="92869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29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Programmation procédurale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181224"/>
            <a:ext cx="7715304" cy="3176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8685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143116"/>
            <a:ext cx="5734050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7908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Programmation orientée objet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Exemple : application de gestion :</a:t>
            </a:r>
          </a:p>
          <a:p>
            <a:endParaRPr lang="fr-FR" dirty="0" smtClean="0"/>
          </a:p>
          <a:p>
            <a:r>
              <a:rPr lang="fr-FR" dirty="0" smtClean="0"/>
              <a:t>Données :   </a:t>
            </a:r>
            <a:r>
              <a:rPr lang="fr-FR" dirty="0" err="1" smtClean="0"/>
              <a:t>Numclient,codeArticle</a:t>
            </a:r>
            <a:r>
              <a:rPr lang="fr-FR" dirty="0" smtClean="0"/>
              <a:t>,</a:t>
            </a:r>
            <a:r>
              <a:rPr lang="fr-FR" dirty="0" err="1" smtClean="0"/>
              <a:t>prix_unitaire</a:t>
            </a:r>
            <a:r>
              <a:rPr lang="fr-FR" dirty="0" smtClean="0"/>
              <a:t>…</a:t>
            </a:r>
          </a:p>
          <a:p>
            <a:endParaRPr lang="fr-FR" dirty="0" smtClean="0"/>
          </a:p>
          <a:p>
            <a:r>
              <a:rPr lang="fr-FR" dirty="0" smtClean="0"/>
              <a:t>Il faut regrouper ces données sous forme de class</a:t>
            </a:r>
          </a:p>
          <a:p>
            <a:pPr>
              <a:buNone/>
            </a:pPr>
            <a:r>
              <a:rPr lang="fr-FR" dirty="0" smtClean="0"/>
              <a:t>    Pour gérer et manipuler des objets</a:t>
            </a:r>
          </a:p>
          <a:p>
            <a:pPr>
              <a:buNone/>
            </a:pPr>
            <a:endParaRPr lang="fr-FR" dirty="0" smtClean="0"/>
          </a:p>
          <a:p>
            <a:r>
              <a:rPr lang="fr-FR" dirty="0" smtClean="0"/>
              <a:t>                             Un outil de conception orientée objet</a:t>
            </a:r>
          </a:p>
          <a:p>
            <a:endParaRPr lang="fr-FR" dirty="0" smtClean="0"/>
          </a:p>
        </p:txBody>
      </p:sp>
      <p:sp>
        <p:nvSpPr>
          <p:cNvPr id="5" name="Flèche droite 4"/>
          <p:cNvSpPr/>
          <p:nvPr/>
        </p:nvSpPr>
        <p:spPr>
          <a:xfrm>
            <a:off x="1428728" y="4572008"/>
            <a:ext cx="1857388" cy="7858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666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42" y="1916832"/>
            <a:ext cx="8289796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7772400" cy="1143000"/>
          </a:xfrm>
        </p:spPr>
        <p:txBody>
          <a:bodyPr/>
          <a:lstStyle/>
          <a:p>
            <a:r>
              <a:rPr lang="fr-FR" dirty="0" smtClean="0"/>
              <a:t>UML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0759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UML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MA" dirty="0" smtClean="0"/>
              <a:t>C'est une façon de décrire le développement d'une application sous forme de diagrammes (langage de conception des applications)</a:t>
            </a:r>
          </a:p>
          <a:p>
            <a:endParaRPr lang="fr-MA" dirty="0" smtClean="0"/>
          </a:p>
          <a:p>
            <a:pPr marL="0" indent="0">
              <a:buNone/>
            </a:pPr>
            <a:r>
              <a:rPr lang="fr-MA" dirty="0"/>
              <a:t>-qui identifient les acteurs du système(diagramme de cas d’utilisation)</a:t>
            </a:r>
          </a:p>
          <a:p>
            <a:endParaRPr lang="fr-MA" dirty="0" smtClean="0"/>
          </a:p>
          <a:p>
            <a:pPr>
              <a:buNone/>
            </a:pPr>
            <a:r>
              <a:rPr lang="fr-MA" dirty="0" smtClean="0"/>
              <a:t>-qui représentent les données (diagramme de classes) </a:t>
            </a:r>
          </a:p>
          <a:p>
            <a:endParaRPr lang="fr-MA" dirty="0" smtClean="0"/>
          </a:p>
          <a:p>
            <a:pPr>
              <a:buNone/>
            </a:pPr>
            <a:r>
              <a:rPr lang="fr-MA" dirty="0" smtClean="0"/>
              <a:t>-qui représentent des échelles de temps (diagramme de séquences)</a:t>
            </a:r>
          </a:p>
          <a:p>
            <a:pPr>
              <a:buNone/>
            </a:pPr>
            <a:r>
              <a:rPr lang="fr-MA" dirty="0" smtClean="0"/>
              <a:t>(diagramme d’</a:t>
            </a:r>
            <a:r>
              <a:rPr lang="fr-MA" dirty="0"/>
              <a:t>é</a:t>
            </a:r>
            <a:r>
              <a:rPr lang="fr-MA" dirty="0" smtClean="0"/>
              <a:t>tat transition)</a:t>
            </a:r>
          </a:p>
          <a:p>
            <a:endParaRPr lang="fr-MA" dirty="0" smtClean="0"/>
          </a:p>
          <a:p>
            <a:pPr>
              <a:buNone/>
            </a:pPr>
            <a:r>
              <a:rPr lang="fr-MA" dirty="0" smtClean="0"/>
              <a:t>-qui représentent des activités (diagramme d’activités)</a:t>
            </a:r>
          </a:p>
          <a:p>
            <a:endParaRPr lang="fr-MA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10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571472" y="2357430"/>
            <a:ext cx="7915276" cy="1928818"/>
          </a:xfrm>
          <a:prstGeom prst="rect">
            <a:avLst/>
          </a:prstGeom>
        </p:spPr>
        <p:txBody>
          <a:bodyPr bIns="91440" anchor="b" anchorCtr="0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I-Diagramme de classes</a:t>
            </a:r>
            <a:br>
              <a:rPr kumimoji="0" lang="fr-MA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fr-FR" sz="4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258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Représentation d’une class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Les diagrammes de class vont nous permettre de représenter les données sous forme de classes et décrire  les interactions entre les classes de l’application </a:t>
            </a:r>
            <a:endParaRPr lang="fr-F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5616" y="2636779"/>
            <a:ext cx="653415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5129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Visibilité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752600"/>
            <a:ext cx="7572428" cy="4176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2251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Logiciel : (</a:t>
            </a:r>
            <a:r>
              <a:rPr lang="fr-FR" dirty="0" err="1" smtClean="0"/>
              <a:t>StarUml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https://staruml.io/download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150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16</a:t>
            </a:fld>
            <a:endParaRPr lang="fr-FR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2500306"/>
            <a:ext cx="4969600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29322" y="2643182"/>
            <a:ext cx="2305050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1713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Objet: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17</a:t>
            </a:fld>
            <a:endParaRPr lang="fr-FR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143116"/>
            <a:ext cx="7072362" cy="2080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1670" y="4143380"/>
            <a:ext cx="4733925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4560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Héritage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18</a:t>
            </a:fld>
            <a:endParaRPr lang="fr-FR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2071678"/>
            <a:ext cx="7572427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9684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19</a:t>
            </a:fld>
            <a:endParaRPr lang="fr-FR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28794" y="1714488"/>
            <a:ext cx="4786346" cy="4179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1438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voiture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20</a:t>
            </a:fld>
            <a:endParaRPr lang="fr-FR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7749" y="1562100"/>
            <a:ext cx="7569973" cy="401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45078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21</a:t>
            </a:fld>
            <a:endParaRPr lang="fr-FR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714488"/>
            <a:ext cx="5191125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72657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Composition et Agrégation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22</a:t>
            </a:fld>
            <a:endParaRPr lang="fr-FR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86512" y="2643182"/>
            <a:ext cx="2657475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2214554"/>
            <a:ext cx="5470710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42976" y="4214818"/>
            <a:ext cx="454342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6715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Association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23</a:t>
            </a:fld>
            <a:endParaRPr lang="fr-FR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785926"/>
            <a:ext cx="6915150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6207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Cardinalités d’association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24</a:t>
            </a:fld>
            <a:endParaRPr lang="fr-FR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928802"/>
            <a:ext cx="8143932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5515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25</a:t>
            </a:fld>
            <a:endParaRPr lang="fr-FR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714488"/>
            <a:ext cx="648652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285852" y="5000636"/>
            <a:ext cx="6286544" cy="12858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Les cardinalités sont inversées par rapport au MCD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482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26</a:t>
            </a:fld>
            <a:endParaRPr lang="fr-FR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785926"/>
            <a:ext cx="6324600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6686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types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27</a:t>
            </a:fld>
            <a:endParaRPr lang="fr-FR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000240"/>
            <a:ext cx="5629275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5517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28</a:t>
            </a:fld>
            <a:endParaRPr lang="fr-FR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000240"/>
            <a:ext cx="691515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5795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Attributs et méthodes de classes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29</a:t>
            </a:fld>
            <a:endParaRPr lang="fr-FR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1643050"/>
            <a:ext cx="5857916" cy="2682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0298" y="4929198"/>
            <a:ext cx="40386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8675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MA" dirty="0" smtClean="0"/>
              <a:t>Activité 1 Identifier les classes et associations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30</a:t>
            </a:fld>
            <a:endParaRPr lang="fr-F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2000240"/>
            <a:ext cx="8001056" cy="301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1461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solution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31</a:t>
            </a:fld>
            <a:endParaRPr lang="fr-FR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1785926"/>
            <a:ext cx="7610520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3389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Utiliser le logiciel </a:t>
            </a:r>
            <a:r>
              <a:rPr lang="fr-CA" dirty="0" err="1" smtClean="0"/>
              <a:t>StarUML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32</a:t>
            </a:fld>
            <a:endParaRPr lang="fr-F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56792"/>
            <a:ext cx="7515225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438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MA" dirty="0" smtClean="0"/>
              <a:t>un système de transport aérien utilise le diagramme de classes incomplet suivant:</a:t>
            </a:r>
          </a:p>
          <a:p>
            <a:endParaRPr lang="fr-MA" dirty="0" smtClean="0"/>
          </a:p>
          <a:p>
            <a:r>
              <a:rPr lang="fr-MA" dirty="0" smtClean="0"/>
              <a:t> Une compagnie emploie plusieurs pilotes et un pilote travail chez une seule compagnie </a:t>
            </a:r>
          </a:p>
          <a:p>
            <a:r>
              <a:rPr lang="fr-MA" dirty="0" smtClean="0"/>
              <a:t>Un vol correspond à une seule compagnie et assuré par un seule pilote</a:t>
            </a:r>
          </a:p>
          <a:p>
            <a:r>
              <a:rPr lang="fr-MA" dirty="0" smtClean="0"/>
              <a:t>  Un pilote assure plusieurs vols</a:t>
            </a:r>
          </a:p>
          <a:p>
            <a:r>
              <a:rPr lang="fr-MA" dirty="0" smtClean="0"/>
              <a:t>  Un vol utilise un seul avion et un avion peut assurer plusieurs vols </a:t>
            </a:r>
          </a:p>
          <a:p>
            <a:r>
              <a:rPr lang="fr-MA" dirty="0" smtClean="0"/>
              <a:t> Un billet est relatif à un vol unique et un passager unique </a:t>
            </a:r>
          </a:p>
          <a:p>
            <a:r>
              <a:rPr lang="fr-MA" dirty="0" smtClean="0"/>
              <a:t>Un billet correspond à un seul siège </a:t>
            </a:r>
          </a:p>
        </p:txBody>
      </p:sp>
    </p:spTree>
    <p:extLst>
      <p:ext uri="{BB962C8B-B14F-4D97-AF65-F5344CB8AC3E}">
        <p14:creationId xmlns:p14="http://schemas.microsoft.com/office/powerpoint/2010/main" val="40623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MA" sz="2000" dirty="0" smtClean="0"/>
              <a:t>Compléter ce diagramme de classes en ajoutant les multiplicités des associations</a:t>
            </a:r>
            <a:endParaRPr lang="fr-FR" sz="20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34</a:t>
            </a:fld>
            <a:endParaRPr lang="fr-FR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571612"/>
            <a:ext cx="6200775" cy="498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7298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Solution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35</a:t>
            </a:fld>
            <a:endParaRPr lang="fr-FR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643050"/>
            <a:ext cx="5495925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6751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36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1692274"/>
            <a:ext cx="6870700" cy="4184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865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37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831974"/>
            <a:ext cx="7129983" cy="4045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813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38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090738"/>
            <a:ext cx="8353425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3" y="4869160"/>
            <a:ext cx="7496175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378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39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643050"/>
            <a:ext cx="8466117" cy="4272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95897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40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320" y="1052736"/>
            <a:ext cx="8136904" cy="4608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663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 </a:t>
            </a:r>
            <a:r>
              <a:rPr lang="fr-FR" dirty="0" err="1"/>
              <a:t>driven</a:t>
            </a:r>
            <a:r>
              <a:rPr lang="fr-FR" dirty="0"/>
              <a:t> architecture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Exemple : génération des class (PHP)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58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 smtClean="0"/>
              <a:t>TD_Diagramme</a:t>
            </a:r>
            <a:r>
              <a:rPr lang="fr-CA" dirty="0" smtClean="0"/>
              <a:t> </a:t>
            </a:r>
            <a:r>
              <a:rPr lang="fr-CA" dirty="0"/>
              <a:t>de class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69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diagrammes dynamiques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43</a:t>
            </a:fld>
            <a:endParaRPr lang="fr-FR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071678"/>
            <a:ext cx="671512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44</a:t>
            </a:fld>
            <a:endParaRPr lang="fr-FR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571472" y="2357430"/>
            <a:ext cx="7915276" cy="1928818"/>
          </a:xfrm>
          <a:prstGeom prst="rect">
            <a:avLst/>
          </a:prstGeom>
        </p:spPr>
        <p:txBody>
          <a:bodyPr bIns="91440" anchor="b" anchorCtr="0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II-Diagramme des cas d’utilisation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sz="40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(use case)</a:t>
            </a:r>
            <a:endParaRPr kumimoji="0" lang="fr-FR" sz="4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5101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Diagramme des cas d’utilisation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45</a:t>
            </a:fld>
            <a:endParaRPr lang="fr-F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15616" y="2019051"/>
            <a:ext cx="7143799" cy="378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5805264"/>
            <a:ext cx="623887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46</a:t>
            </a:fld>
            <a:endParaRPr lang="fr-FR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7224" y="1857364"/>
            <a:ext cx="7215238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Acteur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47</a:t>
            </a:fld>
            <a:endParaRPr lang="fr-FR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1928802"/>
            <a:ext cx="7929617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Acteur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48</a:t>
            </a:fld>
            <a:endParaRPr lang="fr-FR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9188" y="1785926"/>
            <a:ext cx="6905625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Cas d’utilisation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49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1733550"/>
            <a:ext cx="7667625" cy="339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Relation entre acteurs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50</a:t>
            </a:fld>
            <a:endParaRPr lang="fr-FR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2000240"/>
            <a:ext cx="7286676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Relation entre cas d’utilisation (</a:t>
            </a:r>
            <a:r>
              <a:rPr lang="fr-FR" sz="3200" dirty="0" err="1" smtClean="0"/>
              <a:t>include</a:t>
            </a:r>
            <a:r>
              <a:rPr lang="fr-FR" sz="3200" dirty="0" smtClean="0"/>
              <a:t>)</a:t>
            </a:r>
            <a:endParaRPr lang="fr-FR" sz="32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51</a:t>
            </a:fld>
            <a:endParaRPr lang="fr-F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928802"/>
            <a:ext cx="7929618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Relation entre cas d’utilisation (</a:t>
            </a:r>
            <a:r>
              <a:rPr lang="fr-FR" dirty="0" err="1" smtClean="0"/>
              <a:t>extend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52</a:t>
            </a:fld>
            <a:endParaRPr lang="fr-FR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1928802"/>
            <a:ext cx="7858179" cy="4214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 smtClean="0"/>
              <a:t>Relation entre cas d’utilisation(généralisation)</a:t>
            </a:r>
            <a:endParaRPr lang="fr-FR" sz="28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53</a:t>
            </a:fld>
            <a:endParaRPr lang="fr-FR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857364"/>
            <a:ext cx="6929486" cy="267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54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05000"/>
            <a:ext cx="8064896" cy="3684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394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 smtClean="0"/>
              <a:t>Actors</a:t>
            </a:r>
            <a:r>
              <a:rPr lang="fr-CA" dirty="0" smtClean="0"/>
              <a:t>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 dirty="0" smtClean="0"/>
          </a:p>
          <a:p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348880"/>
            <a:ext cx="7902218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7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56</a:t>
            </a:fld>
            <a:endParaRPr lang="fr-F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7624" y="1484784"/>
            <a:ext cx="7405717" cy="5105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TD3_Diagramme use case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54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58</a:t>
            </a:fld>
            <a:endParaRPr lang="fr-FR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571472" y="2357430"/>
            <a:ext cx="7915276" cy="1928818"/>
          </a:xfrm>
          <a:prstGeom prst="rect">
            <a:avLst/>
          </a:prstGeom>
        </p:spPr>
        <p:txBody>
          <a:bodyPr bIns="91440" anchor="b" anchorCtr="0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III-Diagramme de séquences</a:t>
            </a:r>
            <a:endParaRPr kumimoji="0" lang="fr-FR" sz="4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7321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Diagramme de séquences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59</a:t>
            </a:fld>
            <a:endParaRPr lang="fr-FR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857364"/>
            <a:ext cx="7858179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Diagramme de séquences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60</a:t>
            </a:fld>
            <a:endParaRPr lang="fr-FR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428868"/>
            <a:ext cx="7348543" cy="1671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Diagramme de séquence(Ligne de vie)</a:t>
            </a:r>
            <a:endParaRPr lang="fr-FR" sz="32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61</a:t>
            </a:fld>
            <a:endParaRPr lang="fr-FR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143116"/>
            <a:ext cx="65246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 smtClean="0"/>
              <a:t>Diagramme de séquence(message simple)</a:t>
            </a:r>
            <a:endParaRPr lang="fr-FR" sz="28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62</a:t>
            </a:fld>
            <a:endParaRPr lang="fr-FR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000240"/>
            <a:ext cx="7976145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Diagramme de séquence(messages élaborés)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63</a:t>
            </a:fld>
            <a:endParaRPr lang="fr-FR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071678"/>
            <a:ext cx="7802250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Diagramme de séquence(message réflexif)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64</a:t>
            </a:fld>
            <a:endParaRPr lang="fr-FR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571744"/>
            <a:ext cx="8761998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Diagramme de séquence(message création ou suppression d’objet)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65</a:t>
            </a:fld>
            <a:endParaRPr lang="fr-FR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500174"/>
            <a:ext cx="6715172" cy="4745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Fragment -</a:t>
            </a:r>
            <a:r>
              <a:rPr lang="fr-FR" dirty="0" err="1" smtClean="0"/>
              <a:t>Ref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66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844824"/>
            <a:ext cx="59436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Fragment -</a:t>
            </a:r>
            <a:r>
              <a:rPr lang="fr-FR" dirty="0" err="1" smtClean="0"/>
              <a:t>alt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67</a:t>
            </a:fld>
            <a:endParaRPr lang="fr-FR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571612"/>
            <a:ext cx="7038975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Fragment -</a:t>
            </a:r>
            <a:r>
              <a:rPr lang="fr-FR" dirty="0" err="1" smtClean="0"/>
              <a:t>Loop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68</a:t>
            </a:fld>
            <a:endParaRPr lang="fr-FR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500174"/>
            <a:ext cx="7029450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Fragment -</a:t>
            </a:r>
            <a:r>
              <a:rPr lang="fr-FR" dirty="0" err="1" smtClean="0"/>
              <a:t>opt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69</a:t>
            </a:fld>
            <a:endParaRPr lang="fr-FR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643050"/>
            <a:ext cx="7786742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Fragment -par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70</a:t>
            </a:fld>
            <a:endParaRPr lang="fr-FR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714488"/>
            <a:ext cx="7500990" cy="4250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Diagramme de communication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71</a:t>
            </a:fld>
            <a:endParaRPr lang="fr-FR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857364"/>
            <a:ext cx="7800905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Exemple: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72</a:t>
            </a:fld>
            <a:endParaRPr lang="fr-FR"/>
          </a:p>
        </p:txBody>
      </p:sp>
      <p:pic>
        <p:nvPicPr>
          <p:cNvPr id="5" name="Imag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600" y="1988840"/>
            <a:ext cx="662473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0399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1-Réservation de vol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1-il faut d’abord déterminer les </a:t>
            </a:r>
            <a:r>
              <a:rPr lang="fr-FR" dirty="0" smtClean="0"/>
              <a:t>objets(participants) </a:t>
            </a:r>
            <a:r>
              <a:rPr lang="fr-FR" dirty="0"/>
              <a:t> </a:t>
            </a:r>
            <a:r>
              <a:rPr lang="fr-FR" dirty="0" smtClean="0"/>
              <a:t>:</a:t>
            </a:r>
          </a:p>
          <a:p>
            <a:endParaRPr lang="fr-CA" dirty="0" smtClean="0"/>
          </a:p>
          <a:p>
            <a:pPr marL="0" indent="0">
              <a:buNone/>
            </a:pPr>
            <a:r>
              <a:rPr lang="fr-FR" dirty="0" smtClean="0"/>
              <a:t>       Client </a:t>
            </a:r>
            <a:r>
              <a:rPr lang="fr-FR" dirty="0"/>
              <a:t>– Vol – </a:t>
            </a:r>
            <a:r>
              <a:rPr lang="fr-FR" dirty="0" smtClean="0"/>
              <a:t>Réservation</a:t>
            </a:r>
            <a:endParaRPr lang="fr-FR" dirty="0"/>
          </a:p>
          <a:p>
            <a:endParaRPr lang="fr-FR" dirty="0"/>
          </a:p>
          <a:p>
            <a:r>
              <a:rPr lang="fr-FR" dirty="0"/>
              <a:t>2-déterminer les messages : </a:t>
            </a:r>
          </a:p>
          <a:p>
            <a:endParaRPr lang="fr-CA" dirty="0" smtClean="0"/>
          </a:p>
          <a:p>
            <a:pPr marL="0" indent="0">
              <a:buNone/>
            </a:pPr>
            <a:r>
              <a:rPr lang="fr-FR" dirty="0" smtClean="0"/>
              <a:t>     </a:t>
            </a:r>
            <a:r>
              <a:rPr lang="fr-FR" dirty="0" err="1" smtClean="0"/>
              <a:t>Selectionne</a:t>
            </a:r>
            <a:r>
              <a:rPr lang="fr-FR" dirty="0" smtClean="0"/>
              <a:t> </a:t>
            </a:r>
            <a:r>
              <a:rPr lang="fr-FR" dirty="0"/>
              <a:t>–validation de nombre de places –création de </a:t>
            </a:r>
            <a:r>
              <a:rPr lang="fr-FR" dirty="0" err="1"/>
              <a:t>reservation</a:t>
            </a:r>
            <a:r>
              <a:rPr lang="fr-FR" dirty="0"/>
              <a:t> (</a:t>
            </a:r>
            <a:r>
              <a:rPr lang="fr-FR" dirty="0" err="1"/>
              <a:t>messaage</a:t>
            </a:r>
            <a:r>
              <a:rPr lang="fr-FR" dirty="0"/>
              <a:t> </a:t>
            </a:r>
            <a:r>
              <a:rPr lang="fr-FR" dirty="0" err="1"/>
              <a:t>create</a:t>
            </a:r>
            <a:r>
              <a:rPr lang="fr-FR" dirty="0"/>
              <a:t>) –afficher erreur</a:t>
            </a:r>
          </a:p>
        </p:txBody>
      </p:sp>
    </p:spTree>
    <p:extLst>
      <p:ext uri="{BB962C8B-B14F-4D97-AF65-F5344CB8AC3E}">
        <p14:creationId xmlns:p14="http://schemas.microsoft.com/office/powerpoint/2010/main" val="328804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Les objets participants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74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132856"/>
            <a:ext cx="7677150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169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Les messages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75</a:t>
            </a:fld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16832"/>
            <a:ext cx="7610475" cy="404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590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2-Création du vol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76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340768"/>
            <a:ext cx="6552728" cy="5202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525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TD4_Diagramme de séquences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Reprendre le cas </a:t>
            </a:r>
            <a:r>
              <a:rPr lang="fr-FR" dirty="0"/>
              <a:t>Caisse </a:t>
            </a:r>
            <a:r>
              <a:rPr lang="fr-FR" dirty="0" smtClean="0"/>
              <a:t>enregistreuse.</a:t>
            </a:r>
          </a:p>
          <a:p>
            <a:endParaRPr lang="fr-CA" dirty="0"/>
          </a:p>
          <a:p>
            <a:r>
              <a:rPr lang="fr-CA" dirty="0" smtClean="0"/>
              <a:t>Élaborer le diagramme de séquences  relatif  à l’action du  paiement.</a:t>
            </a:r>
            <a:endParaRPr lang="fr-FR" dirty="0" smtClean="0"/>
          </a:p>
          <a:p>
            <a:endParaRPr lang="fr-CA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664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78</a:t>
            </a:fld>
            <a:endParaRPr lang="fr-FR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571472" y="2357430"/>
            <a:ext cx="7915276" cy="1928818"/>
          </a:xfrm>
          <a:prstGeom prst="rect">
            <a:avLst/>
          </a:prstGeom>
        </p:spPr>
        <p:txBody>
          <a:bodyPr bIns="91440" anchor="b" anchorCtr="0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IV-Diagramme d’</a:t>
            </a:r>
            <a:r>
              <a:rPr lang="fr-MA" sz="4000" noProof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états-</a:t>
            </a:r>
            <a:r>
              <a:rPr kumimoji="0" lang="fr-MA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transitions</a:t>
            </a:r>
            <a:br>
              <a:rPr kumimoji="0" lang="fr-MA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fr-FR" sz="4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7620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Diagramme </a:t>
            </a:r>
            <a:r>
              <a:rPr lang="fr-FR" dirty="0" smtClean="0"/>
              <a:t>état-transition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79</a:t>
            </a:fld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1259632" y="1683340"/>
            <a:ext cx="734481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dirty="0"/>
              <a:t>Le </a:t>
            </a:r>
            <a:r>
              <a:rPr lang="fr-CA" b="1" dirty="0"/>
              <a:t>diagramme d’état-transition</a:t>
            </a:r>
            <a:r>
              <a:rPr lang="fr-CA" dirty="0"/>
              <a:t> représente </a:t>
            </a:r>
            <a:r>
              <a:rPr lang="fr-CA" b="1" dirty="0"/>
              <a:t>le cycle de vie d’un objet</a:t>
            </a:r>
            <a:r>
              <a:rPr lang="fr-CA" dirty="0"/>
              <a:t> dans le système.</a:t>
            </a:r>
          </a:p>
          <a:p>
            <a:r>
              <a:rPr lang="fr-CA" dirty="0"/>
              <a:t>Il montre :</a:t>
            </a:r>
          </a:p>
          <a:p>
            <a:r>
              <a:rPr lang="fr-CA" b="1" dirty="0"/>
              <a:t>les états</a:t>
            </a:r>
            <a:r>
              <a:rPr lang="fr-CA" dirty="0"/>
              <a:t> : situations stables de l’objet </a:t>
            </a:r>
          </a:p>
          <a:p>
            <a:endParaRPr lang="fr-CA" dirty="0"/>
          </a:p>
          <a:p>
            <a:r>
              <a:rPr lang="fr-CA" b="1" dirty="0"/>
              <a:t>les transitions</a:t>
            </a:r>
            <a:r>
              <a:rPr lang="fr-CA" dirty="0"/>
              <a:t> : passages d’un état à un autre </a:t>
            </a:r>
          </a:p>
          <a:p>
            <a:endParaRPr lang="fr-CA" dirty="0"/>
          </a:p>
          <a:p>
            <a:r>
              <a:rPr lang="fr-CA" b="1" dirty="0"/>
              <a:t>les événements (triggers)</a:t>
            </a:r>
            <a:r>
              <a:rPr lang="fr-CA" dirty="0"/>
              <a:t> qui provoquent ces </a:t>
            </a:r>
            <a:r>
              <a:rPr lang="fr-CA" dirty="0" smtClean="0"/>
              <a:t>transitions</a:t>
            </a:r>
          </a:p>
          <a:p>
            <a:r>
              <a:rPr lang="fr-CA" dirty="0"/>
              <a:t> </a:t>
            </a:r>
            <a:r>
              <a:rPr lang="fr-CA" dirty="0" smtClean="0"/>
              <a:t> ( Réception d’un signal   /  </a:t>
            </a:r>
            <a:r>
              <a:rPr lang="fr-CA" dirty="0" err="1" smtClean="0"/>
              <a:t>Element</a:t>
            </a:r>
            <a:r>
              <a:rPr lang="fr-CA" dirty="0" smtClean="0"/>
              <a:t> temporel)</a:t>
            </a:r>
            <a:endParaRPr lang="fr-C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3573016"/>
            <a:ext cx="12954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cycles de vie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80</a:t>
            </a:fld>
            <a:endParaRPr lang="fr-F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500174"/>
            <a:ext cx="7499656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81</a:t>
            </a:fld>
            <a:endParaRPr lang="fr-F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652463"/>
            <a:ext cx="8648700" cy="555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82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88640"/>
            <a:ext cx="8424935" cy="6264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Diagramme de temps (exemple)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83</a:t>
            </a:fld>
            <a:endParaRPr lang="fr-FR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000240"/>
            <a:ext cx="6272239" cy="3737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84</a:t>
            </a:fld>
            <a:endParaRPr lang="fr-FR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571472" y="2357430"/>
            <a:ext cx="7915276" cy="1928818"/>
          </a:xfrm>
          <a:prstGeom prst="rect">
            <a:avLst/>
          </a:prstGeom>
        </p:spPr>
        <p:txBody>
          <a:bodyPr bIns="91440" anchor="b" anchorCtr="0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V-Diagramme des activités</a:t>
            </a:r>
            <a:br>
              <a:rPr kumimoji="0" lang="fr-MA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fr-FR" sz="4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2405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Diagramme des activités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b="1" dirty="0" smtClean="0"/>
              <a:t>Diagramme </a:t>
            </a:r>
            <a:r>
              <a:rPr lang="fr-CA" b="1" dirty="0"/>
              <a:t>d’activités :</a:t>
            </a:r>
            <a:r>
              <a:rPr lang="fr-CA" dirty="0"/>
              <a:t> il représente le </a:t>
            </a:r>
            <a:r>
              <a:rPr lang="fr-CA" b="1" dirty="0" err="1"/>
              <a:t>workflow</a:t>
            </a:r>
            <a:r>
              <a:rPr lang="fr-CA" b="1" dirty="0"/>
              <a:t> </a:t>
            </a:r>
            <a:r>
              <a:rPr lang="fr-CA" b="1" dirty="0" smtClean="0"/>
              <a:t>(s</a:t>
            </a:r>
            <a:r>
              <a:rPr lang="fr-CA" dirty="0" smtClean="0"/>
              <a:t>uite </a:t>
            </a:r>
            <a:r>
              <a:rPr lang="fr-CA" dirty="0"/>
              <a:t>des étapes à </a:t>
            </a:r>
            <a:r>
              <a:rPr lang="fr-CA" dirty="0" smtClean="0"/>
              <a:t>suivre</a:t>
            </a:r>
            <a:r>
              <a:rPr lang="fr-CA" b="1" dirty="0" smtClean="0"/>
              <a:t>)d’une </a:t>
            </a:r>
            <a:r>
              <a:rPr lang="fr-CA" b="1" dirty="0"/>
              <a:t>fonctionnalité ou d’un processus</a:t>
            </a:r>
            <a:r>
              <a:rPr lang="fr-CA" dirty="0"/>
              <a:t>, c’est-à-dire </a:t>
            </a:r>
            <a:r>
              <a:rPr lang="fr-CA" b="1" dirty="0"/>
              <a:t>les tâches, leur ordre, les </a:t>
            </a:r>
            <a:r>
              <a:rPr lang="fr-CA" b="1" dirty="0" smtClean="0"/>
              <a:t>acteurs</a:t>
            </a:r>
            <a:r>
              <a:rPr lang="fr-CA" dirty="0" smtClean="0"/>
              <a:t>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b="1" dirty="0"/>
              <a:t>Diagramme d’activités = Qui fait quoi, et dans quel ordre ?</a:t>
            </a:r>
            <a:endParaRPr lang="fr-CA" dirty="0"/>
          </a:p>
          <a:p>
            <a:r>
              <a:rPr lang="fr-CA" b="1" dirty="0"/>
              <a:t>Acteurs</a:t>
            </a:r>
            <a:r>
              <a:rPr lang="fr-CA" dirty="0"/>
              <a:t> → </a:t>
            </a:r>
            <a:r>
              <a:rPr lang="fr-CA" i="1" dirty="0"/>
              <a:t>Qui ?</a:t>
            </a:r>
            <a:r>
              <a:rPr lang="fr-CA" dirty="0"/>
              <a:t> </a:t>
            </a:r>
          </a:p>
          <a:p>
            <a:r>
              <a:rPr lang="fr-CA" b="1" dirty="0"/>
              <a:t>Actions</a:t>
            </a:r>
            <a:r>
              <a:rPr lang="fr-CA" dirty="0"/>
              <a:t> → </a:t>
            </a:r>
            <a:r>
              <a:rPr lang="fr-CA" i="1" dirty="0"/>
              <a:t>Quoi ?</a:t>
            </a:r>
            <a:r>
              <a:rPr lang="fr-CA" dirty="0"/>
              <a:t> </a:t>
            </a:r>
          </a:p>
          <a:p>
            <a:r>
              <a:rPr lang="fr-CA" b="1" dirty="0"/>
              <a:t>Flux / transitions</a:t>
            </a:r>
            <a:r>
              <a:rPr lang="fr-CA" dirty="0"/>
              <a:t> → </a:t>
            </a:r>
            <a:r>
              <a:rPr lang="fr-CA" i="1" dirty="0"/>
              <a:t>Dans quel ordre ?</a:t>
            </a:r>
            <a:r>
              <a:rPr lang="fr-CA" dirty="0"/>
              <a:t> </a:t>
            </a:r>
          </a:p>
          <a:p>
            <a:r>
              <a:rPr lang="fr-CA" b="1" dirty="0"/>
              <a:t>Décisions</a:t>
            </a:r>
            <a:r>
              <a:rPr lang="fr-CA" dirty="0"/>
              <a:t> → </a:t>
            </a:r>
            <a:r>
              <a:rPr lang="fr-CA" i="1" dirty="0"/>
              <a:t>Quelle alternative ?</a:t>
            </a:r>
            <a:r>
              <a:rPr lang="fr-CA" dirty="0"/>
              <a:t> </a:t>
            </a:r>
          </a:p>
          <a:p>
            <a:r>
              <a:rPr lang="fr-CA" b="1" dirty="0" err="1"/>
              <a:t>Fork</a:t>
            </a:r>
            <a:r>
              <a:rPr lang="fr-CA" b="1" dirty="0"/>
              <a:t> / </a:t>
            </a:r>
            <a:r>
              <a:rPr lang="fr-CA" b="1" dirty="0" err="1"/>
              <a:t>Join</a:t>
            </a:r>
            <a:r>
              <a:rPr lang="fr-CA" dirty="0"/>
              <a:t> → </a:t>
            </a:r>
            <a:r>
              <a:rPr lang="fr-CA" i="1" dirty="0"/>
              <a:t>Quelles activités en parallèle ?</a:t>
            </a:r>
            <a:endParaRPr lang="fr-CA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62597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processus de traitement d'une commande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3" y="2228850"/>
            <a:ext cx="7191375" cy="3072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247639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Exemple: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88</a:t>
            </a:fld>
            <a:endParaRPr lang="fr-F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214422"/>
            <a:ext cx="7000924" cy="5396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 smtClean="0"/>
              <a:t>Diag</a:t>
            </a:r>
            <a:r>
              <a:rPr lang="fr-FR" dirty="0" smtClean="0"/>
              <a:t> de séquences VS </a:t>
            </a:r>
            <a:r>
              <a:rPr lang="fr-FR" dirty="0" err="1" smtClean="0"/>
              <a:t>diagr</a:t>
            </a:r>
            <a:r>
              <a:rPr lang="fr-FR" dirty="0" smtClean="0"/>
              <a:t> d’activités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89</a:t>
            </a:fld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00808"/>
            <a:ext cx="7416824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79512" y="515719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À retenir :</a:t>
            </a: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Séquence = Qui communique avec qui ?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Activités = Qui fait quoi et dans quel ordre ?</a:t>
            </a: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03159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90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8096770" cy="4322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751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91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27050"/>
            <a:ext cx="8064896" cy="6070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4491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92</a:t>
            </a:fld>
            <a:endParaRPr lang="fr-F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530225"/>
            <a:ext cx="7346950" cy="579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765628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TD5_Diagramme d’activités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smtClean="0"/>
              <a:t>Reprendre le cas </a:t>
            </a:r>
            <a:r>
              <a:rPr lang="fr-FR" dirty="0"/>
              <a:t>Caisse </a:t>
            </a:r>
            <a:r>
              <a:rPr lang="fr-FR" dirty="0" smtClean="0"/>
              <a:t>enregistreuse.</a:t>
            </a:r>
          </a:p>
          <a:p>
            <a:endParaRPr lang="fr-CA" dirty="0"/>
          </a:p>
          <a:p>
            <a:r>
              <a:rPr lang="fr-CA" dirty="0"/>
              <a:t>Élaborer le diagramme d’activités relatif  au processus du passage du client à la caisse pour payer ses achats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907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Étude de cas complet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827584" y="2708920"/>
            <a:ext cx="7776864" cy="2304256"/>
          </a:xfrm>
        </p:spPr>
        <p:txBody>
          <a:bodyPr>
            <a:normAutofit/>
          </a:bodyPr>
          <a:lstStyle/>
          <a:p>
            <a:r>
              <a:rPr lang="fr-CA" sz="6000" dirty="0" smtClean="0"/>
              <a:t>Application de gestion d’une société immobilière 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191151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95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060848"/>
            <a:ext cx="8244408" cy="3637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245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96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72816"/>
            <a:ext cx="8460432" cy="219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64" y="3967548"/>
            <a:ext cx="8753872" cy="1790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222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97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72591"/>
            <a:ext cx="8496944" cy="239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1255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98</a:t>
            </a:fld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772816"/>
            <a:ext cx="7346950" cy="450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736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99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84784"/>
            <a:ext cx="7480300" cy="484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08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use case détaillé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100</a:t>
            </a:fld>
            <a:endParaRPr lang="fr-F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84784"/>
            <a:ext cx="7181850" cy="485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390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Use case général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101</a:t>
            </a:fld>
            <a:endParaRPr lang="fr-F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629472"/>
            <a:ext cx="3997622" cy="4995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330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Diagramme de classes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102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1628800"/>
            <a:ext cx="8528050" cy="488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184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Diagramme de séquences « achat appartement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103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340768"/>
            <a:ext cx="6840760" cy="5156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858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Diagramme des états-transitions « objet appartement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104</a:t>
            </a:fld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87" y="1309835"/>
            <a:ext cx="7963569" cy="5548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0616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Diagramme des activités « processus désistement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105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5" y="1340768"/>
            <a:ext cx="6965950" cy="509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4759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70686</TotalTime>
  <Words>785</Words>
  <Application>Microsoft Office PowerPoint</Application>
  <PresentationFormat>Affichage à l'écran (4:3)</PresentationFormat>
  <Paragraphs>253</Paragraphs>
  <Slides>105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105</vt:i4>
      </vt:variant>
    </vt:vector>
  </HeadingPairs>
  <TitlesOfParts>
    <vt:vector size="106" baseType="lpstr">
      <vt:lpstr>Capitaux</vt:lpstr>
      <vt:lpstr>UML</vt:lpstr>
      <vt:lpstr>Evolution des langages de programmation  </vt:lpstr>
      <vt:lpstr>La programmation impérative</vt:lpstr>
      <vt:lpstr>Exemple:</vt:lpstr>
      <vt:lpstr>Programmation structurée</vt:lpstr>
      <vt:lpstr>Exemple:</vt:lpstr>
      <vt:lpstr>Programmation procédurale</vt:lpstr>
      <vt:lpstr>Exemple:</vt:lpstr>
      <vt:lpstr>Programmation orientée objet</vt:lpstr>
      <vt:lpstr>UML</vt:lpstr>
      <vt:lpstr>UML</vt:lpstr>
      <vt:lpstr>Présentation PowerPoint</vt:lpstr>
      <vt:lpstr>Représentation d’une class</vt:lpstr>
      <vt:lpstr>Visibilité</vt:lpstr>
      <vt:lpstr>Logiciel : (StarUml)</vt:lpstr>
      <vt:lpstr>Exemple :</vt:lpstr>
      <vt:lpstr>Objet:</vt:lpstr>
      <vt:lpstr>Héritage</vt:lpstr>
      <vt:lpstr>Exemple:</vt:lpstr>
      <vt:lpstr>Exemple voiture</vt:lpstr>
      <vt:lpstr>Présentation PowerPoint</vt:lpstr>
      <vt:lpstr>Composition et Agrégation</vt:lpstr>
      <vt:lpstr>Association</vt:lpstr>
      <vt:lpstr>Cardinalités d’association</vt:lpstr>
      <vt:lpstr>Exemple </vt:lpstr>
      <vt:lpstr>Exemple:</vt:lpstr>
      <vt:lpstr>Les types</vt:lpstr>
      <vt:lpstr>Exemple</vt:lpstr>
      <vt:lpstr>Attributs et méthodes de classes</vt:lpstr>
      <vt:lpstr>Activité 1 Identifier les classes et associations</vt:lpstr>
      <vt:lpstr>solution</vt:lpstr>
      <vt:lpstr>Utiliser le logiciel StarUML</vt:lpstr>
      <vt:lpstr>Présentation PowerPoint</vt:lpstr>
      <vt:lpstr>Compléter ce diagramme de classes en ajoutant les multiplicités des associations</vt:lpstr>
      <vt:lpstr>Solution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Model driven architecture</vt:lpstr>
      <vt:lpstr>TD_Diagramme de class</vt:lpstr>
      <vt:lpstr>Les diagrammes dynamiques</vt:lpstr>
      <vt:lpstr>Présentation PowerPoint</vt:lpstr>
      <vt:lpstr>Diagramme des cas d’utilisation</vt:lpstr>
      <vt:lpstr>Présentation PowerPoint</vt:lpstr>
      <vt:lpstr>Acteur</vt:lpstr>
      <vt:lpstr>Acteur</vt:lpstr>
      <vt:lpstr>Cas d’utilisation</vt:lpstr>
      <vt:lpstr>Relation entre acteurs</vt:lpstr>
      <vt:lpstr>Relation entre cas d’utilisation (include)</vt:lpstr>
      <vt:lpstr>Relation entre cas d’utilisation (extend)</vt:lpstr>
      <vt:lpstr>Relation entre cas d’utilisation(généralisation)</vt:lpstr>
      <vt:lpstr>Présentation PowerPoint</vt:lpstr>
      <vt:lpstr>Actors:</vt:lpstr>
      <vt:lpstr>Exemple</vt:lpstr>
      <vt:lpstr>TD3_Diagramme use case</vt:lpstr>
      <vt:lpstr>Présentation PowerPoint</vt:lpstr>
      <vt:lpstr>Diagramme de séquences</vt:lpstr>
      <vt:lpstr>Diagramme de séquences</vt:lpstr>
      <vt:lpstr>Diagramme de séquence(Ligne de vie)</vt:lpstr>
      <vt:lpstr>Diagramme de séquence(message simple)</vt:lpstr>
      <vt:lpstr>Diagramme de séquence(messages élaborés)</vt:lpstr>
      <vt:lpstr>Diagramme de séquence(message réflexif)</vt:lpstr>
      <vt:lpstr>Diagramme de séquence(message création ou suppression d’objet)</vt:lpstr>
      <vt:lpstr>Fragment -Ref</vt:lpstr>
      <vt:lpstr>Fragment -alt</vt:lpstr>
      <vt:lpstr>Fragment -Loop</vt:lpstr>
      <vt:lpstr>Fragment -opt</vt:lpstr>
      <vt:lpstr>Fragment -par</vt:lpstr>
      <vt:lpstr>Diagramme de communication</vt:lpstr>
      <vt:lpstr>Exemple:</vt:lpstr>
      <vt:lpstr>1-Réservation de vol</vt:lpstr>
      <vt:lpstr>Les objets participants</vt:lpstr>
      <vt:lpstr>Les messages</vt:lpstr>
      <vt:lpstr>2-Création du vol</vt:lpstr>
      <vt:lpstr>TD4_Diagramme de séquences</vt:lpstr>
      <vt:lpstr>Présentation PowerPoint</vt:lpstr>
      <vt:lpstr>Diagramme état-transition</vt:lpstr>
      <vt:lpstr>Les cycles de vie</vt:lpstr>
      <vt:lpstr>Présentation PowerPoint</vt:lpstr>
      <vt:lpstr>Présentation PowerPoint</vt:lpstr>
      <vt:lpstr>Diagramme de temps (exemple)</vt:lpstr>
      <vt:lpstr>Présentation PowerPoint</vt:lpstr>
      <vt:lpstr>Diagramme des activités</vt:lpstr>
      <vt:lpstr>Présentation PowerPoint</vt:lpstr>
      <vt:lpstr>processus de traitement d'une commande</vt:lpstr>
      <vt:lpstr>Exemple:</vt:lpstr>
      <vt:lpstr>Diag de séquences VS diagr d’activités</vt:lpstr>
      <vt:lpstr>Présentation PowerPoint</vt:lpstr>
      <vt:lpstr>Présentation PowerPoint</vt:lpstr>
      <vt:lpstr>Présentation PowerPoint</vt:lpstr>
      <vt:lpstr>TD5_Diagramme d’activités</vt:lpstr>
      <vt:lpstr>Étude de cas complet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use case détaillé</vt:lpstr>
      <vt:lpstr>Use case général</vt:lpstr>
      <vt:lpstr>Diagramme de classes</vt:lpstr>
      <vt:lpstr>Diagramme de séquences « achat appartement »</vt:lpstr>
      <vt:lpstr>Diagramme des états-transitions « objet appartement »</vt:lpstr>
      <vt:lpstr>Diagramme des activités « processus désistement »</vt:lpstr>
    </vt:vector>
  </TitlesOfParts>
  <Company>ofppt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Programmation des sites web dynamiques (PHP MySQL)</dc:title>
  <dc:creator>karim</dc:creator>
  <cp:lastModifiedBy>Admin</cp:lastModifiedBy>
  <cp:revision>967</cp:revision>
  <dcterms:created xsi:type="dcterms:W3CDTF">2010-10-12T17:17:41Z</dcterms:created>
  <dcterms:modified xsi:type="dcterms:W3CDTF">2026-09-15T13:30:04Z</dcterms:modified>
</cp:coreProperties>
</file>