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theme/themeOverride2.xml" ContentType="application/vnd.openxmlformats-officedocument.themeOverride+xml"/>
  <Override PartName="/ppt/theme/themeOverride3.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Lst>
  <p:notesMasterIdLst>
    <p:notesMasterId r:id="rId197"/>
  </p:notesMasterIdLst>
  <p:handoutMasterIdLst>
    <p:handoutMasterId r:id="rId198"/>
  </p:handoutMasterIdLst>
  <p:sldIdLst>
    <p:sldId id="256" r:id="rId2"/>
    <p:sldId id="257" r:id="rId3"/>
    <p:sldId id="258" r:id="rId4"/>
    <p:sldId id="388" r:id="rId5"/>
    <p:sldId id="389" r:id="rId6"/>
    <p:sldId id="390" r:id="rId7"/>
    <p:sldId id="391" r:id="rId8"/>
    <p:sldId id="392" r:id="rId9"/>
    <p:sldId id="259" r:id="rId10"/>
    <p:sldId id="261" r:id="rId11"/>
    <p:sldId id="260" r:id="rId12"/>
    <p:sldId id="393" r:id="rId13"/>
    <p:sldId id="394" r:id="rId14"/>
    <p:sldId id="395" r:id="rId15"/>
    <p:sldId id="396" r:id="rId16"/>
    <p:sldId id="397" r:id="rId17"/>
    <p:sldId id="263" r:id="rId18"/>
    <p:sldId id="264" r:id="rId19"/>
    <p:sldId id="265" r:id="rId20"/>
    <p:sldId id="266" r:id="rId21"/>
    <p:sldId id="268" r:id="rId22"/>
    <p:sldId id="439" r:id="rId23"/>
    <p:sldId id="401" r:id="rId24"/>
    <p:sldId id="402" r:id="rId25"/>
    <p:sldId id="270" r:id="rId26"/>
    <p:sldId id="280" r:id="rId27"/>
    <p:sldId id="399" r:id="rId28"/>
    <p:sldId id="436" r:id="rId29"/>
    <p:sldId id="400" r:id="rId30"/>
    <p:sldId id="437" r:id="rId31"/>
    <p:sldId id="398" r:id="rId32"/>
    <p:sldId id="273" r:id="rId33"/>
    <p:sldId id="274" r:id="rId34"/>
    <p:sldId id="275" r:id="rId35"/>
    <p:sldId id="276" r:id="rId36"/>
    <p:sldId id="279" r:id="rId37"/>
    <p:sldId id="438" r:id="rId38"/>
    <p:sldId id="440" r:id="rId39"/>
    <p:sldId id="441" r:id="rId40"/>
    <p:sldId id="442" r:id="rId41"/>
    <p:sldId id="443" r:id="rId42"/>
    <p:sldId id="444" r:id="rId43"/>
    <p:sldId id="445" r:id="rId44"/>
    <p:sldId id="277" r:id="rId45"/>
    <p:sldId id="278" r:id="rId46"/>
    <p:sldId id="491" r:id="rId47"/>
    <p:sldId id="283" r:id="rId48"/>
    <p:sldId id="344" r:id="rId49"/>
    <p:sldId id="492" r:id="rId50"/>
    <p:sldId id="284" r:id="rId51"/>
    <p:sldId id="285" r:id="rId52"/>
    <p:sldId id="286" r:id="rId53"/>
    <p:sldId id="287" r:id="rId54"/>
    <p:sldId id="288" r:id="rId55"/>
    <p:sldId id="414" r:id="rId56"/>
    <p:sldId id="289" r:id="rId57"/>
    <p:sldId id="365" r:id="rId58"/>
    <p:sldId id="413" r:id="rId59"/>
    <p:sldId id="290" r:id="rId60"/>
    <p:sldId id="465" r:id="rId61"/>
    <p:sldId id="470" r:id="rId62"/>
    <p:sldId id="466" r:id="rId63"/>
    <p:sldId id="467" r:id="rId64"/>
    <p:sldId id="468" r:id="rId65"/>
    <p:sldId id="469" r:id="rId66"/>
    <p:sldId id="291" r:id="rId67"/>
    <p:sldId id="446" r:id="rId68"/>
    <p:sldId id="447" r:id="rId69"/>
    <p:sldId id="448" r:id="rId70"/>
    <p:sldId id="449" r:id="rId71"/>
    <p:sldId id="450" r:id="rId72"/>
    <p:sldId id="451" r:id="rId73"/>
    <p:sldId id="477" r:id="rId74"/>
    <p:sldId id="452" r:id="rId75"/>
    <p:sldId id="453" r:id="rId76"/>
    <p:sldId id="455" r:id="rId77"/>
    <p:sldId id="456" r:id="rId78"/>
    <p:sldId id="474" r:id="rId79"/>
    <p:sldId id="475" r:id="rId80"/>
    <p:sldId id="457" r:id="rId81"/>
    <p:sldId id="458" r:id="rId82"/>
    <p:sldId id="459" r:id="rId83"/>
    <p:sldId id="460" r:id="rId84"/>
    <p:sldId id="461" r:id="rId85"/>
    <p:sldId id="462" r:id="rId86"/>
    <p:sldId id="292" r:id="rId87"/>
    <p:sldId id="471" r:id="rId88"/>
    <p:sldId id="476" r:id="rId89"/>
    <p:sldId id="472" r:id="rId90"/>
    <p:sldId id="463" r:id="rId91"/>
    <p:sldId id="407" r:id="rId92"/>
    <p:sldId id="308" r:id="rId93"/>
    <p:sldId id="478" r:id="rId94"/>
    <p:sldId id="479" r:id="rId95"/>
    <p:sldId id="480" r:id="rId96"/>
    <p:sldId id="481" r:id="rId97"/>
    <p:sldId id="482" r:id="rId98"/>
    <p:sldId id="483" r:id="rId99"/>
    <p:sldId id="484" r:id="rId100"/>
    <p:sldId id="485" r:id="rId101"/>
    <p:sldId id="488" r:id="rId102"/>
    <p:sldId id="486" r:id="rId103"/>
    <p:sldId id="489" r:id="rId104"/>
    <p:sldId id="490" r:id="rId105"/>
    <p:sldId id="487" r:id="rId106"/>
    <p:sldId id="316" r:id="rId107"/>
    <p:sldId id="317" r:id="rId108"/>
    <p:sldId id="318" r:id="rId109"/>
    <p:sldId id="319" r:id="rId110"/>
    <p:sldId id="320" r:id="rId111"/>
    <p:sldId id="321" r:id="rId112"/>
    <p:sldId id="322" r:id="rId113"/>
    <p:sldId id="323" r:id="rId114"/>
    <p:sldId id="324" r:id="rId115"/>
    <p:sldId id="325" r:id="rId116"/>
    <p:sldId id="326" r:id="rId117"/>
    <p:sldId id="327" r:id="rId118"/>
    <p:sldId id="328" r:id="rId119"/>
    <p:sldId id="329" r:id="rId120"/>
    <p:sldId id="330" r:id="rId121"/>
    <p:sldId id="331" r:id="rId122"/>
    <p:sldId id="332" r:id="rId123"/>
    <p:sldId id="333" r:id="rId124"/>
    <p:sldId id="334" r:id="rId125"/>
    <p:sldId id="335" r:id="rId126"/>
    <p:sldId id="336" r:id="rId127"/>
    <p:sldId id="337" r:id="rId128"/>
    <p:sldId id="338" r:id="rId129"/>
    <p:sldId id="339" r:id="rId130"/>
    <p:sldId id="340" r:id="rId131"/>
    <p:sldId id="341" r:id="rId132"/>
    <p:sldId id="345" r:id="rId133"/>
    <p:sldId id="346" r:id="rId134"/>
    <p:sldId id="499" r:id="rId135"/>
    <p:sldId id="347" r:id="rId136"/>
    <p:sldId id="348" r:id="rId137"/>
    <p:sldId id="498" r:id="rId138"/>
    <p:sldId id="496" r:id="rId139"/>
    <p:sldId id="497" r:id="rId140"/>
    <p:sldId id="494" r:id="rId141"/>
    <p:sldId id="349" r:id="rId142"/>
    <p:sldId id="495" r:id="rId143"/>
    <p:sldId id="500" r:id="rId144"/>
    <p:sldId id="350" r:id="rId145"/>
    <p:sldId id="351" r:id="rId146"/>
    <p:sldId id="512" r:id="rId147"/>
    <p:sldId id="501" r:id="rId148"/>
    <p:sldId id="506" r:id="rId149"/>
    <p:sldId id="357" r:id="rId150"/>
    <p:sldId id="358" r:id="rId151"/>
    <p:sldId id="409" r:id="rId152"/>
    <p:sldId id="410" r:id="rId153"/>
    <p:sldId id="411" r:id="rId154"/>
    <p:sldId id="359" r:id="rId155"/>
    <p:sldId id="361" r:id="rId156"/>
    <p:sldId id="367" r:id="rId157"/>
    <p:sldId id="368" r:id="rId158"/>
    <p:sldId id="362" r:id="rId159"/>
    <p:sldId id="369" r:id="rId160"/>
    <p:sldId id="509" r:id="rId161"/>
    <p:sldId id="412" r:id="rId162"/>
    <p:sldId id="510" r:id="rId163"/>
    <p:sldId id="507" r:id="rId164"/>
    <p:sldId id="502" r:id="rId165"/>
    <p:sldId id="503" r:id="rId166"/>
    <p:sldId id="417" r:id="rId167"/>
    <p:sldId id="504" r:id="rId168"/>
    <p:sldId id="505" r:id="rId169"/>
    <p:sldId id="378" r:id="rId170"/>
    <p:sldId id="418" r:id="rId171"/>
    <p:sldId id="419" r:id="rId172"/>
    <p:sldId id="420" r:id="rId173"/>
    <p:sldId id="421" r:id="rId174"/>
    <p:sldId id="422" r:id="rId175"/>
    <p:sldId id="423" r:id="rId176"/>
    <p:sldId id="511" r:id="rId177"/>
    <p:sldId id="377" r:id="rId178"/>
    <p:sldId id="435" r:id="rId179"/>
    <p:sldId id="424" r:id="rId180"/>
    <p:sldId id="425" r:id="rId181"/>
    <p:sldId id="426" r:id="rId182"/>
    <p:sldId id="371" r:id="rId183"/>
    <p:sldId id="372" r:id="rId184"/>
    <p:sldId id="376" r:id="rId185"/>
    <p:sldId id="379" r:id="rId186"/>
    <p:sldId id="380" r:id="rId187"/>
    <p:sldId id="381" r:id="rId188"/>
    <p:sldId id="427" r:id="rId189"/>
    <p:sldId id="428" r:id="rId190"/>
    <p:sldId id="429" r:id="rId191"/>
    <p:sldId id="430" r:id="rId192"/>
    <p:sldId id="431" r:id="rId193"/>
    <p:sldId id="432" r:id="rId194"/>
    <p:sldId id="433" r:id="rId195"/>
    <p:sldId id="434" r:id="rId196"/>
  </p:sldIdLst>
  <p:sldSz cx="9144000" cy="6858000" type="screen4x3"/>
  <p:notesSz cx="6858000" cy="9144000"/>
  <p:defaultTextStyle>
    <a:defPPr>
      <a:defRPr lang="fr-FR"/>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128" autoAdjust="0"/>
  </p:normalViewPr>
  <p:slideViewPr>
    <p:cSldViewPr>
      <p:cViewPr>
        <p:scale>
          <a:sx n="86" d="100"/>
          <a:sy n="86" d="100"/>
        </p:scale>
        <p:origin x="-58" y="-58"/>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196" Type="http://schemas.openxmlformats.org/officeDocument/2006/relationships/slide" Target="slides/slide195.xml"/><Relationship Id="rId200" Type="http://schemas.openxmlformats.org/officeDocument/2006/relationships/viewProps" Target="view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181" Type="http://schemas.openxmlformats.org/officeDocument/2006/relationships/slide" Target="slides/slide180.xml"/><Relationship Id="rId186" Type="http://schemas.openxmlformats.org/officeDocument/2006/relationships/slide" Target="slides/slide185.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slide" Target="slides/slide170.xml"/><Relationship Id="rId176" Type="http://schemas.openxmlformats.org/officeDocument/2006/relationships/slide" Target="slides/slide175.xml"/><Relationship Id="rId192" Type="http://schemas.openxmlformats.org/officeDocument/2006/relationships/slide" Target="slides/slide191.xml"/><Relationship Id="rId197" Type="http://schemas.openxmlformats.org/officeDocument/2006/relationships/notesMaster" Target="notesMasters/notesMaster1.xml"/><Relationship Id="rId201" Type="http://schemas.openxmlformats.org/officeDocument/2006/relationships/theme" Target="theme/theme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slide" Target="slides/slide186.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handoutMaster" Target="handoutMasters/handoutMaster1.xml"/><Relationship Id="rId172" Type="http://schemas.openxmlformats.org/officeDocument/2006/relationships/slide" Target="slides/slide171.xml"/><Relationship Id="rId193" Type="http://schemas.openxmlformats.org/officeDocument/2006/relationships/slide" Target="slides/slide192.xml"/><Relationship Id="rId202"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190" Type="http://schemas.openxmlformats.org/officeDocument/2006/relationships/slide" Target="slides/slide189.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Espace réservé de l'en-tête 1">
            <a:extLst>
              <a:ext uri="{FF2B5EF4-FFF2-40B4-BE49-F238E27FC236}">
                <a16:creationId xmlns="" xmlns:a16="http://schemas.microsoft.com/office/drawing/2014/main" id="{74CCCA1D-52DD-64A0-97EB-D1B061651CB8}"/>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defRPr>
            </a:lvl1pPr>
          </a:lstStyle>
          <a:p>
            <a:pPr>
              <a:defRPr/>
            </a:pPr>
            <a:endParaRPr lang="fr-FR"/>
          </a:p>
        </p:txBody>
      </p:sp>
      <p:sp>
        <p:nvSpPr>
          <p:cNvPr id="3" name="Espace réservé de la date 2">
            <a:extLst>
              <a:ext uri="{FF2B5EF4-FFF2-40B4-BE49-F238E27FC236}">
                <a16:creationId xmlns="" xmlns:a16="http://schemas.microsoft.com/office/drawing/2014/main" id="{78243AB9-4CFB-688F-C872-8F59AB3FD92A}"/>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defRPr>
            </a:lvl1pPr>
          </a:lstStyle>
          <a:p>
            <a:pPr>
              <a:defRPr/>
            </a:pPr>
            <a:fld id="{960C2C9A-C3FA-466F-8769-A5BFDCE78353}" type="datetimeFigureOut">
              <a:rPr lang="fr-FR"/>
              <a:pPr>
                <a:defRPr/>
              </a:pPr>
              <a:t>21/10/2026</a:t>
            </a:fld>
            <a:endParaRPr lang="fr-FR"/>
          </a:p>
        </p:txBody>
      </p:sp>
      <p:sp>
        <p:nvSpPr>
          <p:cNvPr id="4" name="Espace réservé du pied de page 3">
            <a:extLst>
              <a:ext uri="{FF2B5EF4-FFF2-40B4-BE49-F238E27FC236}">
                <a16:creationId xmlns="" xmlns:a16="http://schemas.microsoft.com/office/drawing/2014/main" id="{E447591D-94AA-64F6-DCDC-FBA92531EBC1}"/>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defRPr>
            </a:lvl1pPr>
          </a:lstStyle>
          <a:p>
            <a:pPr>
              <a:defRPr/>
            </a:pPr>
            <a:endParaRPr lang="fr-FR"/>
          </a:p>
        </p:txBody>
      </p:sp>
      <p:sp>
        <p:nvSpPr>
          <p:cNvPr id="5" name="Espace réservé du numéro de diapositive 4">
            <a:extLst>
              <a:ext uri="{FF2B5EF4-FFF2-40B4-BE49-F238E27FC236}">
                <a16:creationId xmlns="" xmlns:a16="http://schemas.microsoft.com/office/drawing/2014/main" id="{C07F3311-51CD-A070-E86B-EE0E3D826F15}"/>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62FC9F5C-2899-4831-9094-27A477E7EDF8}" type="slidenum">
              <a:rPr lang="fr-FR" altLang="fr-FR"/>
              <a:pPr>
                <a:defRPr/>
              </a:pPr>
              <a:t>‹N°›</a:t>
            </a:fld>
            <a:endParaRPr lang="fr-FR" altLang="fr-FR"/>
          </a:p>
        </p:txBody>
      </p:sp>
    </p:spTree>
    <p:extLst>
      <p:ext uri="{BB962C8B-B14F-4D97-AF65-F5344CB8AC3E}">
        <p14:creationId xmlns:p14="http://schemas.microsoft.com/office/powerpoint/2010/main" val="351370810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a:extLst>
              <a:ext uri="{FF2B5EF4-FFF2-40B4-BE49-F238E27FC236}">
                <a16:creationId xmlns="" xmlns:a16="http://schemas.microsoft.com/office/drawing/2014/main" id="{DA65C49D-C5A2-F960-E97A-15451559BFE9}"/>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a:latin typeface="Arial" pitchFamily="34" charset="0"/>
              </a:defRPr>
            </a:lvl1pPr>
          </a:lstStyle>
          <a:p>
            <a:pPr>
              <a:defRPr/>
            </a:pPr>
            <a:endParaRPr lang="fr-FR"/>
          </a:p>
        </p:txBody>
      </p:sp>
      <p:sp>
        <p:nvSpPr>
          <p:cNvPr id="25603" name="Rectangle 3">
            <a:extLst>
              <a:ext uri="{FF2B5EF4-FFF2-40B4-BE49-F238E27FC236}">
                <a16:creationId xmlns="" xmlns:a16="http://schemas.microsoft.com/office/drawing/2014/main" id="{7583A4F9-B251-1238-DEF2-295196F1ED8E}"/>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latin typeface="Arial" pitchFamily="34" charset="0"/>
              </a:defRPr>
            </a:lvl1pPr>
          </a:lstStyle>
          <a:p>
            <a:pPr>
              <a:defRPr/>
            </a:pPr>
            <a:endParaRPr lang="fr-FR"/>
          </a:p>
        </p:txBody>
      </p:sp>
      <p:sp>
        <p:nvSpPr>
          <p:cNvPr id="6148" name="Rectangle 4">
            <a:extLst>
              <a:ext uri="{FF2B5EF4-FFF2-40B4-BE49-F238E27FC236}">
                <a16:creationId xmlns="" xmlns:a16="http://schemas.microsoft.com/office/drawing/2014/main" id="{76808CAD-496A-37C7-37BD-0460B9AF8A53}"/>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5" name="Rectangle 5">
            <a:extLst>
              <a:ext uri="{FF2B5EF4-FFF2-40B4-BE49-F238E27FC236}">
                <a16:creationId xmlns="" xmlns:a16="http://schemas.microsoft.com/office/drawing/2014/main" id="{542FFB9A-D7CF-A282-8375-45FB8CDC94B2}"/>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25606" name="Rectangle 6">
            <a:extLst>
              <a:ext uri="{FF2B5EF4-FFF2-40B4-BE49-F238E27FC236}">
                <a16:creationId xmlns="" xmlns:a16="http://schemas.microsoft.com/office/drawing/2014/main" id="{80F158F4-245C-47D3-961C-5A9314E3D9A1}"/>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a:latin typeface="Arial" pitchFamily="34" charset="0"/>
              </a:defRPr>
            </a:lvl1pPr>
          </a:lstStyle>
          <a:p>
            <a:pPr>
              <a:defRPr/>
            </a:pPr>
            <a:endParaRPr lang="fr-FR"/>
          </a:p>
        </p:txBody>
      </p:sp>
      <p:sp>
        <p:nvSpPr>
          <p:cNvPr id="25607" name="Rectangle 7">
            <a:extLst>
              <a:ext uri="{FF2B5EF4-FFF2-40B4-BE49-F238E27FC236}">
                <a16:creationId xmlns="" xmlns:a16="http://schemas.microsoft.com/office/drawing/2014/main" id="{C5A4DCC5-834B-5684-87F9-3E72D0F7923C}"/>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smtClean="0"/>
            </a:lvl1pPr>
          </a:lstStyle>
          <a:p>
            <a:pPr>
              <a:defRPr/>
            </a:pPr>
            <a:fld id="{C1D6FD1D-571A-404C-BDC2-E43526986781}" type="slidenum">
              <a:rPr lang="fr-FR" altLang="fr-FR"/>
              <a:pPr>
                <a:defRPr/>
              </a:pPr>
              <a:t>‹N°›</a:t>
            </a:fld>
            <a:endParaRPr lang="fr-FR" altLang="fr-FR"/>
          </a:p>
        </p:txBody>
      </p:sp>
    </p:spTree>
    <p:extLst>
      <p:ext uri="{BB962C8B-B14F-4D97-AF65-F5344CB8AC3E}">
        <p14:creationId xmlns:p14="http://schemas.microsoft.com/office/powerpoint/2010/main" val="30443475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cxnSp>
        <p:nvCxnSpPr>
          <p:cNvPr id="4" name="Straight Connector 7">
            <a:extLst>
              <a:ext uri="{FF2B5EF4-FFF2-40B4-BE49-F238E27FC236}">
                <a16:creationId xmlns="" xmlns:a16="http://schemas.microsoft.com/office/drawing/2014/main" id="{9BCD31DA-CE48-33C3-0B94-1A43EC43FED4}"/>
              </a:ext>
            </a:extLst>
          </p:cNvPr>
          <p:cNvCxnSpPr/>
          <p:nvPr/>
        </p:nvCxnSpPr>
        <p:spPr>
          <a:xfrm>
            <a:off x="685800" y="3398838"/>
            <a:ext cx="7848600" cy="1587"/>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685800" y="1371600"/>
            <a:ext cx="7848600" cy="1927225"/>
          </a:xfrm>
        </p:spPr>
        <p:txBody>
          <a:bodyPr anchor="b">
            <a:noAutofit/>
          </a:bodyPr>
          <a:lstStyle>
            <a:lvl1pPr>
              <a:defRPr sz="5400" cap="all" baseline="0"/>
            </a:lvl1pPr>
          </a:lstStyle>
          <a:p>
            <a:r>
              <a:rPr lang="fr-FR"/>
              <a:t>Modifiez le style du titre</a:t>
            </a:r>
            <a:endParaRPr lang="en-US" dirty="0"/>
          </a:p>
        </p:txBody>
      </p:sp>
      <p:sp>
        <p:nvSpPr>
          <p:cNvPr id="3" name="Subtitle 2"/>
          <p:cNvSpPr>
            <a:spLocks noGrp="1"/>
          </p:cNvSpPr>
          <p:nvPr>
            <p:ph type="subTitle" idx="1"/>
          </p:nvPr>
        </p:nvSpPr>
        <p:spPr>
          <a:xfrm>
            <a:off x="685800" y="3505200"/>
            <a:ext cx="64008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5" name="Date Placeholder 3">
            <a:extLst>
              <a:ext uri="{FF2B5EF4-FFF2-40B4-BE49-F238E27FC236}">
                <a16:creationId xmlns="" xmlns:a16="http://schemas.microsoft.com/office/drawing/2014/main" id="{A72FA205-E37C-E2D0-733E-FCA7467F04F7}"/>
              </a:ext>
            </a:extLst>
          </p:cNvPr>
          <p:cNvSpPr>
            <a:spLocks noGrp="1"/>
          </p:cNvSpPr>
          <p:nvPr>
            <p:ph type="dt" sz="half" idx="10"/>
          </p:nvPr>
        </p:nvSpPr>
        <p:spPr/>
        <p:txBody>
          <a:bodyPr/>
          <a:lstStyle>
            <a:lvl1pPr>
              <a:defRPr/>
            </a:lvl1pPr>
          </a:lstStyle>
          <a:p>
            <a:pPr>
              <a:defRPr/>
            </a:pPr>
            <a:endParaRPr lang="fr-FR"/>
          </a:p>
        </p:txBody>
      </p:sp>
      <p:sp>
        <p:nvSpPr>
          <p:cNvPr id="6" name="Footer Placeholder 4">
            <a:extLst>
              <a:ext uri="{FF2B5EF4-FFF2-40B4-BE49-F238E27FC236}">
                <a16:creationId xmlns="" xmlns:a16="http://schemas.microsoft.com/office/drawing/2014/main" id="{A262F9CE-EF57-CB67-A9E5-1F7A3ABBBE21}"/>
              </a:ext>
            </a:extLst>
          </p:cNvPr>
          <p:cNvSpPr>
            <a:spLocks noGrp="1"/>
          </p:cNvSpPr>
          <p:nvPr>
            <p:ph type="ftr" sz="quarter" idx="11"/>
          </p:nvPr>
        </p:nvSpPr>
        <p:spPr/>
        <p:txBody>
          <a:bodyPr/>
          <a:lstStyle>
            <a:lvl1pPr>
              <a:defRPr/>
            </a:lvl1pPr>
          </a:lstStyle>
          <a:p>
            <a:pPr>
              <a:defRPr/>
            </a:pPr>
            <a:endParaRPr lang="fr-FR"/>
          </a:p>
        </p:txBody>
      </p:sp>
      <p:sp>
        <p:nvSpPr>
          <p:cNvPr id="7" name="Slide Number Placeholder 5">
            <a:extLst>
              <a:ext uri="{FF2B5EF4-FFF2-40B4-BE49-F238E27FC236}">
                <a16:creationId xmlns="" xmlns:a16="http://schemas.microsoft.com/office/drawing/2014/main" id="{26C6D0D6-A39A-8C66-B7F6-26BB09859810}"/>
              </a:ext>
            </a:extLst>
          </p:cNvPr>
          <p:cNvSpPr>
            <a:spLocks noGrp="1"/>
          </p:cNvSpPr>
          <p:nvPr>
            <p:ph type="sldNum" sz="quarter" idx="12"/>
          </p:nvPr>
        </p:nvSpPr>
        <p:spPr/>
        <p:txBody>
          <a:bodyPr/>
          <a:lstStyle>
            <a:lvl1pPr>
              <a:defRPr smtClean="0"/>
            </a:lvl1pPr>
          </a:lstStyle>
          <a:p>
            <a:pPr>
              <a:defRPr/>
            </a:pPr>
            <a:fld id="{A719DC74-994E-4DE7-B79A-1972452C6D55}" type="slidenum">
              <a:rPr lang="fr-FR" altLang="fr-FR"/>
              <a:pPr>
                <a:defRPr/>
              </a:pPr>
              <a:t>‹N°›</a:t>
            </a:fld>
            <a:endParaRPr lang="fr-FR" altLang="fr-FR"/>
          </a:p>
        </p:txBody>
      </p:sp>
    </p:spTree>
    <p:extLst>
      <p:ext uri="{BB962C8B-B14F-4D97-AF65-F5344CB8AC3E}">
        <p14:creationId xmlns:p14="http://schemas.microsoft.com/office/powerpoint/2010/main" val="25794746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a:extLst>
              <a:ext uri="{FF2B5EF4-FFF2-40B4-BE49-F238E27FC236}">
                <a16:creationId xmlns="" xmlns:a16="http://schemas.microsoft.com/office/drawing/2014/main" id="{2A0F1D8D-CA01-8036-AD41-7D69B68B5D90}"/>
              </a:ext>
            </a:extLst>
          </p:cNvPr>
          <p:cNvSpPr>
            <a:spLocks noGrp="1"/>
          </p:cNvSpPr>
          <p:nvPr>
            <p:ph type="dt" sz="half" idx="10"/>
          </p:nvPr>
        </p:nvSpPr>
        <p:spPr/>
        <p:txBody>
          <a:bodyPr/>
          <a:lstStyle>
            <a:lvl1pPr>
              <a:defRPr/>
            </a:lvl1pPr>
          </a:lstStyle>
          <a:p>
            <a:pPr>
              <a:defRPr/>
            </a:pPr>
            <a:endParaRPr lang="fr-FR"/>
          </a:p>
        </p:txBody>
      </p:sp>
      <p:sp>
        <p:nvSpPr>
          <p:cNvPr id="5" name="Footer Placeholder 4">
            <a:extLst>
              <a:ext uri="{FF2B5EF4-FFF2-40B4-BE49-F238E27FC236}">
                <a16:creationId xmlns="" xmlns:a16="http://schemas.microsoft.com/office/drawing/2014/main" id="{458459BE-982A-8F0A-3221-ED798B9E6B0D}"/>
              </a:ext>
            </a:extLst>
          </p:cNvPr>
          <p:cNvSpPr>
            <a:spLocks noGrp="1"/>
          </p:cNvSpPr>
          <p:nvPr>
            <p:ph type="ftr" sz="quarter" idx="11"/>
          </p:nvPr>
        </p:nvSpPr>
        <p:spPr/>
        <p:txBody>
          <a:bodyPr/>
          <a:lstStyle>
            <a:lvl1pPr>
              <a:defRPr/>
            </a:lvl1pPr>
          </a:lstStyle>
          <a:p>
            <a:pPr>
              <a:defRPr/>
            </a:pPr>
            <a:endParaRPr lang="fr-FR"/>
          </a:p>
        </p:txBody>
      </p:sp>
      <p:sp>
        <p:nvSpPr>
          <p:cNvPr id="6" name="Slide Number Placeholder 5">
            <a:extLst>
              <a:ext uri="{FF2B5EF4-FFF2-40B4-BE49-F238E27FC236}">
                <a16:creationId xmlns="" xmlns:a16="http://schemas.microsoft.com/office/drawing/2014/main" id="{A1ADA363-5B82-37FC-5B8D-E57D9A434587}"/>
              </a:ext>
            </a:extLst>
          </p:cNvPr>
          <p:cNvSpPr>
            <a:spLocks noGrp="1"/>
          </p:cNvSpPr>
          <p:nvPr>
            <p:ph type="sldNum" sz="quarter" idx="12"/>
          </p:nvPr>
        </p:nvSpPr>
        <p:spPr/>
        <p:txBody>
          <a:bodyPr/>
          <a:lstStyle>
            <a:lvl1pPr>
              <a:defRPr/>
            </a:lvl1pPr>
          </a:lstStyle>
          <a:p>
            <a:pPr>
              <a:defRPr/>
            </a:pPr>
            <a:fld id="{5AADBDEC-170C-4FD0-9153-539311C0A87E}" type="slidenum">
              <a:rPr lang="fr-FR" altLang="fr-FR"/>
              <a:pPr>
                <a:defRPr/>
              </a:pPr>
              <a:t>‹N°›</a:t>
            </a:fld>
            <a:endParaRPr lang="fr-FR" altLang="fr-FR"/>
          </a:p>
        </p:txBody>
      </p:sp>
    </p:spTree>
    <p:extLst>
      <p:ext uri="{BB962C8B-B14F-4D97-AF65-F5344CB8AC3E}">
        <p14:creationId xmlns:p14="http://schemas.microsoft.com/office/powerpoint/2010/main" val="11167703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bg>
      <p:bgPr>
        <a:solidFill>
          <a:schemeClr val="bg2"/>
        </a:solidFill>
        <a:effectLst/>
      </p:bgPr>
    </p:bg>
    <p:spTree>
      <p:nvGrpSpPr>
        <p:cNvPr id="1" name=""/>
        <p:cNvGrpSpPr/>
        <p:nvPr/>
      </p:nvGrpSpPr>
      <p:grpSpPr>
        <a:xfrm>
          <a:off x="0" y="0"/>
          <a:ext cx="0" cy="0"/>
          <a:chOff x="0" y="0"/>
          <a:chExt cx="0" cy="0"/>
        </a:xfrm>
      </p:grpSpPr>
      <p:cxnSp>
        <p:nvCxnSpPr>
          <p:cNvPr id="4" name="Straight Connector 6">
            <a:extLst>
              <a:ext uri="{FF2B5EF4-FFF2-40B4-BE49-F238E27FC236}">
                <a16:creationId xmlns="" xmlns:a16="http://schemas.microsoft.com/office/drawing/2014/main" id="{A5D64D50-C3FE-C759-34C0-09F377F20F86}"/>
              </a:ext>
            </a:extLst>
          </p:cNvPr>
          <p:cNvCxnSpPr/>
          <p:nvPr/>
        </p:nvCxnSpPr>
        <p:spPr>
          <a:xfrm>
            <a:off x="731838" y="4598988"/>
            <a:ext cx="7848600" cy="1587"/>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722313" y="2362200"/>
            <a:ext cx="7772400" cy="2200275"/>
          </a:xfrm>
        </p:spPr>
        <p:txBody>
          <a:bodyPr anchor="b"/>
          <a:lstStyle>
            <a:lvl1pPr algn="l">
              <a:defRPr sz="4800" b="0" cap="all"/>
            </a:lvl1pPr>
          </a:lstStyle>
          <a:p>
            <a:r>
              <a:rPr lang="fr-FR"/>
              <a:t>Modifiez le style du titre</a:t>
            </a:r>
            <a:endParaRPr lang="en-US" dirty="0"/>
          </a:p>
        </p:txBody>
      </p:sp>
      <p:sp>
        <p:nvSpPr>
          <p:cNvPr id="3" name="Text Placeholder 2"/>
          <p:cNvSpPr>
            <a:spLocks noGrp="1"/>
          </p:cNvSpPr>
          <p:nvPr>
            <p:ph type="body" idx="1"/>
          </p:nvPr>
        </p:nvSpPr>
        <p:spPr>
          <a:xfrm>
            <a:off x="722313" y="4626864"/>
            <a:ext cx="7772400" cy="1500187"/>
          </a:xfrm>
        </p:spPr>
        <p:txBody>
          <a:bodyPr>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Modifiez les styles du texte du masque</a:t>
            </a:r>
          </a:p>
        </p:txBody>
      </p:sp>
      <p:sp>
        <p:nvSpPr>
          <p:cNvPr id="5" name="Date Placeholder 3">
            <a:extLst>
              <a:ext uri="{FF2B5EF4-FFF2-40B4-BE49-F238E27FC236}">
                <a16:creationId xmlns="" xmlns:a16="http://schemas.microsoft.com/office/drawing/2014/main" id="{A2426F3D-5259-0E3E-FD8B-1921952C84F1}"/>
              </a:ext>
            </a:extLst>
          </p:cNvPr>
          <p:cNvSpPr>
            <a:spLocks noGrp="1"/>
          </p:cNvSpPr>
          <p:nvPr>
            <p:ph type="dt" sz="half" idx="10"/>
          </p:nvPr>
        </p:nvSpPr>
        <p:spPr/>
        <p:txBody>
          <a:bodyPr/>
          <a:lstStyle>
            <a:lvl1pPr>
              <a:defRPr/>
            </a:lvl1pPr>
          </a:lstStyle>
          <a:p>
            <a:pPr>
              <a:defRPr/>
            </a:pPr>
            <a:endParaRPr lang="fr-FR"/>
          </a:p>
        </p:txBody>
      </p:sp>
      <p:sp>
        <p:nvSpPr>
          <p:cNvPr id="6" name="Footer Placeholder 4">
            <a:extLst>
              <a:ext uri="{FF2B5EF4-FFF2-40B4-BE49-F238E27FC236}">
                <a16:creationId xmlns="" xmlns:a16="http://schemas.microsoft.com/office/drawing/2014/main" id="{F1F4EBC3-2C72-420D-44C2-CF82735B7043}"/>
              </a:ext>
            </a:extLst>
          </p:cNvPr>
          <p:cNvSpPr>
            <a:spLocks noGrp="1"/>
          </p:cNvSpPr>
          <p:nvPr>
            <p:ph type="ftr" sz="quarter" idx="11"/>
          </p:nvPr>
        </p:nvSpPr>
        <p:spPr/>
        <p:txBody>
          <a:bodyPr/>
          <a:lstStyle>
            <a:lvl1pPr>
              <a:defRPr/>
            </a:lvl1pPr>
          </a:lstStyle>
          <a:p>
            <a:pPr>
              <a:defRPr/>
            </a:pPr>
            <a:endParaRPr lang="fr-FR"/>
          </a:p>
        </p:txBody>
      </p:sp>
      <p:sp>
        <p:nvSpPr>
          <p:cNvPr id="7" name="Slide Number Placeholder 5">
            <a:extLst>
              <a:ext uri="{FF2B5EF4-FFF2-40B4-BE49-F238E27FC236}">
                <a16:creationId xmlns="" xmlns:a16="http://schemas.microsoft.com/office/drawing/2014/main" id="{D650FF61-6F42-8310-EB8B-38F569089F06}"/>
              </a:ext>
            </a:extLst>
          </p:cNvPr>
          <p:cNvSpPr>
            <a:spLocks noGrp="1"/>
          </p:cNvSpPr>
          <p:nvPr>
            <p:ph type="sldNum" sz="quarter" idx="12"/>
          </p:nvPr>
        </p:nvSpPr>
        <p:spPr/>
        <p:txBody>
          <a:bodyPr/>
          <a:lstStyle>
            <a:lvl1pPr>
              <a:defRPr smtClean="0"/>
            </a:lvl1pPr>
          </a:lstStyle>
          <a:p>
            <a:pPr>
              <a:defRPr/>
            </a:pPr>
            <a:fld id="{F8A94C87-B20B-4146-9789-6C320A662C53}" type="slidenum">
              <a:rPr lang="fr-FR" altLang="fr-FR"/>
              <a:pPr>
                <a:defRPr/>
              </a:pPr>
              <a:t>‹N°›</a:t>
            </a:fld>
            <a:endParaRPr lang="fr-FR" altLang="fr-FR"/>
          </a:p>
        </p:txBody>
      </p:sp>
    </p:spTree>
    <p:extLst>
      <p:ext uri="{BB962C8B-B14F-4D97-AF65-F5344CB8AC3E}">
        <p14:creationId xmlns:p14="http://schemas.microsoft.com/office/powerpoint/2010/main" val="314726788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Content Placeholder 2"/>
          <p:cNvSpPr>
            <a:spLocks noGrp="1"/>
          </p:cNvSpPr>
          <p:nvPr>
            <p:ph sz="half" idx="1"/>
          </p:nvPr>
        </p:nvSpPr>
        <p:spPr>
          <a:xfrm>
            <a:off x="457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4648200" y="1673352"/>
            <a:ext cx="40386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3">
            <a:extLst>
              <a:ext uri="{FF2B5EF4-FFF2-40B4-BE49-F238E27FC236}">
                <a16:creationId xmlns="" xmlns:a16="http://schemas.microsoft.com/office/drawing/2014/main" id="{541F3897-D855-68B0-483B-95A6F46A4E1F}"/>
              </a:ext>
            </a:extLst>
          </p:cNvPr>
          <p:cNvSpPr>
            <a:spLocks noGrp="1"/>
          </p:cNvSpPr>
          <p:nvPr>
            <p:ph type="dt" sz="half" idx="10"/>
          </p:nvPr>
        </p:nvSpPr>
        <p:spPr/>
        <p:txBody>
          <a:bodyPr/>
          <a:lstStyle>
            <a:lvl1pPr>
              <a:defRPr/>
            </a:lvl1pPr>
          </a:lstStyle>
          <a:p>
            <a:pPr>
              <a:defRPr/>
            </a:pPr>
            <a:endParaRPr lang="fr-FR"/>
          </a:p>
        </p:txBody>
      </p:sp>
      <p:sp>
        <p:nvSpPr>
          <p:cNvPr id="6" name="Footer Placeholder 4">
            <a:extLst>
              <a:ext uri="{FF2B5EF4-FFF2-40B4-BE49-F238E27FC236}">
                <a16:creationId xmlns="" xmlns:a16="http://schemas.microsoft.com/office/drawing/2014/main" id="{F4E96D54-54B9-20CD-24AA-849D530A1DFD}"/>
              </a:ext>
            </a:extLst>
          </p:cNvPr>
          <p:cNvSpPr>
            <a:spLocks noGrp="1"/>
          </p:cNvSpPr>
          <p:nvPr>
            <p:ph type="ftr" sz="quarter" idx="11"/>
          </p:nvPr>
        </p:nvSpPr>
        <p:spPr/>
        <p:txBody>
          <a:bodyPr/>
          <a:lstStyle>
            <a:lvl1pPr>
              <a:defRPr/>
            </a:lvl1pPr>
          </a:lstStyle>
          <a:p>
            <a:pPr>
              <a:defRPr/>
            </a:pPr>
            <a:endParaRPr lang="fr-FR"/>
          </a:p>
        </p:txBody>
      </p:sp>
      <p:sp>
        <p:nvSpPr>
          <p:cNvPr id="7" name="Slide Number Placeholder 5">
            <a:extLst>
              <a:ext uri="{FF2B5EF4-FFF2-40B4-BE49-F238E27FC236}">
                <a16:creationId xmlns="" xmlns:a16="http://schemas.microsoft.com/office/drawing/2014/main" id="{1CC50757-D9A7-CC02-04CE-83866A867089}"/>
              </a:ext>
            </a:extLst>
          </p:cNvPr>
          <p:cNvSpPr>
            <a:spLocks noGrp="1"/>
          </p:cNvSpPr>
          <p:nvPr>
            <p:ph type="sldNum" sz="quarter" idx="12"/>
          </p:nvPr>
        </p:nvSpPr>
        <p:spPr/>
        <p:txBody>
          <a:bodyPr/>
          <a:lstStyle>
            <a:lvl1pPr>
              <a:defRPr/>
            </a:lvl1pPr>
          </a:lstStyle>
          <a:p>
            <a:pPr>
              <a:defRPr/>
            </a:pPr>
            <a:fld id="{7897468C-B8B6-4B43-BD02-3269E91D26A3}" type="slidenum">
              <a:rPr lang="fr-FR" altLang="fr-FR"/>
              <a:pPr>
                <a:defRPr/>
              </a:pPr>
              <a:t>‹N°›</a:t>
            </a:fld>
            <a:endParaRPr lang="fr-FR" altLang="fr-FR"/>
          </a:p>
        </p:txBody>
      </p:sp>
    </p:spTree>
    <p:extLst>
      <p:ext uri="{BB962C8B-B14F-4D97-AF65-F5344CB8AC3E}">
        <p14:creationId xmlns:p14="http://schemas.microsoft.com/office/powerpoint/2010/main" val="30242086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cxnSp>
        <p:nvCxnSpPr>
          <p:cNvPr id="7" name="Straight Connector 10">
            <a:extLst>
              <a:ext uri="{FF2B5EF4-FFF2-40B4-BE49-F238E27FC236}">
                <a16:creationId xmlns="" xmlns:a16="http://schemas.microsoft.com/office/drawing/2014/main" id="{3B417D47-1904-2710-C72E-7E908E3C7E12}"/>
              </a:ext>
            </a:extLst>
          </p:cNvPr>
          <p:cNvCxnSpPr/>
          <p:nvPr/>
        </p:nvCxnSpPr>
        <p:spPr>
          <a:xfrm rot="5400000">
            <a:off x="2218531" y="4045744"/>
            <a:ext cx="4708525"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45720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Content Placeholder 3"/>
          <p:cNvSpPr>
            <a:spLocks noGrp="1"/>
          </p:cNvSpPr>
          <p:nvPr>
            <p:ph sz="half" idx="2"/>
          </p:nvPr>
        </p:nvSpPr>
        <p:spPr>
          <a:xfrm>
            <a:off x="45720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4754880" y="1676400"/>
            <a:ext cx="393192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Content Placeholder 5"/>
          <p:cNvSpPr>
            <a:spLocks noGrp="1"/>
          </p:cNvSpPr>
          <p:nvPr>
            <p:ph sz="quarter" idx="4"/>
          </p:nvPr>
        </p:nvSpPr>
        <p:spPr>
          <a:xfrm>
            <a:off x="4754880" y="2438400"/>
            <a:ext cx="39319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Date Placeholder 6">
            <a:extLst>
              <a:ext uri="{FF2B5EF4-FFF2-40B4-BE49-F238E27FC236}">
                <a16:creationId xmlns="" xmlns:a16="http://schemas.microsoft.com/office/drawing/2014/main" id="{BB899912-630E-0560-AFD1-89712AE83C79}"/>
              </a:ext>
            </a:extLst>
          </p:cNvPr>
          <p:cNvSpPr>
            <a:spLocks noGrp="1"/>
          </p:cNvSpPr>
          <p:nvPr>
            <p:ph type="dt" sz="half" idx="10"/>
          </p:nvPr>
        </p:nvSpPr>
        <p:spPr/>
        <p:txBody>
          <a:bodyPr/>
          <a:lstStyle>
            <a:lvl1pPr>
              <a:defRPr/>
            </a:lvl1pPr>
          </a:lstStyle>
          <a:p>
            <a:pPr>
              <a:defRPr/>
            </a:pPr>
            <a:endParaRPr lang="fr-FR"/>
          </a:p>
        </p:txBody>
      </p:sp>
      <p:sp>
        <p:nvSpPr>
          <p:cNvPr id="9" name="Footer Placeholder 7">
            <a:extLst>
              <a:ext uri="{FF2B5EF4-FFF2-40B4-BE49-F238E27FC236}">
                <a16:creationId xmlns="" xmlns:a16="http://schemas.microsoft.com/office/drawing/2014/main" id="{3E3623BC-F812-5D0D-7D08-34A000CBBCD1}"/>
              </a:ext>
            </a:extLst>
          </p:cNvPr>
          <p:cNvSpPr>
            <a:spLocks noGrp="1"/>
          </p:cNvSpPr>
          <p:nvPr>
            <p:ph type="ftr" sz="quarter" idx="11"/>
          </p:nvPr>
        </p:nvSpPr>
        <p:spPr/>
        <p:txBody>
          <a:bodyPr/>
          <a:lstStyle>
            <a:lvl1pPr>
              <a:defRPr/>
            </a:lvl1pPr>
          </a:lstStyle>
          <a:p>
            <a:pPr>
              <a:defRPr/>
            </a:pPr>
            <a:endParaRPr lang="fr-FR"/>
          </a:p>
        </p:txBody>
      </p:sp>
      <p:sp>
        <p:nvSpPr>
          <p:cNvPr id="10" name="Slide Number Placeholder 8">
            <a:extLst>
              <a:ext uri="{FF2B5EF4-FFF2-40B4-BE49-F238E27FC236}">
                <a16:creationId xmlns="" xmlns:a16="http://schemas.microsoft.com/office/drawing/2014/main" id="{57B04095-45D3-0BF5-9490-5826096A4382}"/>
              </a:ext>
            </a:extLst>
          </p:cNvPr>
          <p:cNvSpPr>
            <a:spLocks noGrp="1"/>
          </p:cNvSpPr>
          <p:nvPr>
            <p:ph type="sldNum" sz="quarter" idx="12"/>
          </p:nvPr>
        </p:nvSpPr>
        <p:spPr/>
        <p:txBody>
          <a:bodyPr/>
          <a:lstStyle>
            <a:lvl1pPr>
              <a:defRPr smtClean="0"/>
            </a:lvl1pPr>
          </a:lstStyle>
          <a:p>
            <a:pPr>
              <a:defRPr/>
            </a:pPr>
            <a:fld id="{2D30836F-B16E-4B0A-A5AC-646E2995E90E}" type="slidenum">
              <a:rPr lang="fr-FR" altLang="fr-FR"/>
              <a:pPr>
                <a:defRPr/>
              </a:pPr>
              <a:t>‹N°›</a:t>
            </a:fld>
            <a:endParaRPr lang="fr-FR" altLang="fr-FR"/>
          </a:p>
        </p:txBody>
      </p:sp>
    </p:spTree>
    <p:extLst>
      <p:ext uri="{BB962C8B-B14F-4D97-AF65-F5344CB8AC3E}">
        <p14:creationId xmlns:p14="http://schemas.microsoft.com/office/powerpoint/2010/main" val="22275640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Date Placeholder 3">
            <a:extLst>
              <a:ext uri="{FF2B5EF4-FFF2-40B4-BE49-F238E27FC236}">
                <a16:creationId xmlns="" xmlns:a16="http://schemas.microsoft.com/office/drawing/2014/main" id="{A89F523F-2524-2689-EB1E-983EACE58987}"/>
              </a:ext>
            </a:extLst>
          </p:cNvPr>
          <p:cNvSpPr>
            <a:spLocks noGrp="1"/>
          </p:cNvSpPr>
          <p:nvPr>
            <p:ph type="dt" sz="half" idx="10"/>
          </p:nvPr>
        </p:nvSpPr>
        <p:spPr/>
        <p:txBody>
          <a:bodyPr/>
          <a:lstStyle>
            <a:lvl1pPr>
              <a:defRPr/>
            </a:lvl1pPr>
          </a:lstStyle>
          <a:p>
            <a:pPr>
              <a:defRPr/>
            </a:pPr>
            <a:endParaRPr lang="fr-FR"/>
          </a:p>
        </p:txBody>
      </p:sp>
      <p:sp>
        <p:nvSpPr>
          <p:cNvPr id="4" name="Footer Placeholder 4">
            <a:extLst>
              <a:ext uri="{FF2B5EF4-FFF2-40B4-BE49-F238E27FC236}">
                <a16:creationId xmlns="" xmlns:a16="http://schemas.microsoft.com/office/drawing/2014/main" id="{BCCACB4F-06C9-8255-F04F-70FA0867DB33}"/>
              </a:ext>
            </a:extLst>
          </p:cNvPr>
          <p:cNvSpPr>
            <a:spLocks noGrp="1"/>
          </p:cNvSpPr>
          <p:nvPr>
            <p:ph type="ftr" sz="quarter" idx="11"/>
          </p:nvPr>
        </p:nvSpPr>
        <p:spPr/>
        <p:txBody>
          <a:bodyPr/>
          <a:lstStyle>
            <a:lvl1pPr>
              <a:defRPr/>
            </a:lvl1pPr>
          </a:lstStyle>
          <a:p>
            <a:pPr>
              <a:defRPr/>
            </a:pPr>
            <a:endParaRPr lang="fr-FR"/>
          </a:p>
        </p:txBody>
      </p:sp>
      <p:sp>
        <p:nvSpPr>
          <p:cNvPr id="5" name="Slide Number Placeholder 5">
            <a:extLst>
              <a:ext uri="{FF2B5EF4-FFF2-40B4-BE49-F238E27FC236}">
                <a16:creationId xmlns="" xmlns:a16="http://schemas.microsoft.com/office/drawing/2014/main" id="{915DA38C-871D-7B98-A4FE-75AAA3D40F95}"/>
              </a:ext>
            </a:extLst>
          </p:cNvPr>
          <p:cNvSpPr>
            <a:spLocks noGrp="1"/>
          </p:cNvSpPr>
          <p:nvPr>
            <p:ph type="sldNum" sz="quarter" idx="12"/>
          </p:nvPr>
        </p:nvSpPr>
        <p:spPr/>
        <p:txBody>
          <a:bodyPr/>
          <a:lstStyle>
            <a:lvl1pPr>
              <a:defRPr/>
            </a:lvl1pPr>
          </a:lstStyle>
          <a:p>
            <a:pPr>
              <a:defRPr/>
            </a:pPr>
            <a:fld id="{3D600BEA-E881-4B14-BC1A-BE3C369C2DFD}" type="slidenum">
              <a:rPr lang="fr-FR" altLang="fr-FR"/>
              <a:pPr>
                <a:defRPr/>
              </a:pPr>
              <a:t>‹N°›</a:t>
            </a:fld>
            <a:endParaRPr lang="fr-FR" altLang="fr-FR"/>
          </a:p>
        </p:txBody>
      </p:sp>
    </p:spTree>
    <p:extLst>
      <p:ext uri="{BB962C8B-B14F-4D97-AF65-F5344CB8AC3E}">
        <p14:creationId xmlns:p14="http://schemas.microsoft.com/office/powerpoint/2010/main" val="21535959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3">
            <a:extLst>
              <a:ext uri="{FF2B5EF4-FFF2-40B4-BE49-F238E27FC236}">
                <a16:creationId xmlns="" xmlns:a16="http://schemas.microsoft.com/office/drawing/2014/main" id="{4474ACF6-99BF-B95E-DEE9-D33FB1CA0763}"/>
              </a:ext>
            </a:extLst>
          </p:cNvPr>
          <p:cNvSpPr>
            <a:spLocks noGrp="1"/>
          </p:cNvSpPr>
          <p:nvPr>
            <p:ph type="dt" sz="half" idx="10"/>
          </p:nvPr>
        </p:nvSpPr>
        <p:spPr/>
        <p:txBody>
          <a:bodyPr/>
          <a:lstStyle>
            <a:lvl1pPr>
              <a:defRPr/>
            </a:lvl1pPr>
          </a:lstStyle>
          <a:p>
            <a:pPr>
              <a:defRPr/>
            </a:pPr>
            <a:endParaRPr lang="fr-FR"/>
          </a:p>
        </p:txBody>
      </p:sp>
      <p:sp>
        <p:nvSpPr>
          <p:cNvPr id="3" name="Footer Placeholder 4">
            <a:extLst>
              <a:ext uri="{FF2B5EF4-FFF2-40B4-BE49-F238E27FC236}">
                <a16:creationId xmlns="" xmlns:a16="http://schemas.microsoft.com/office/drawing/2014/main" id="{960960D8-A446-CD6B-4E37-F2BB1AFB8FAC}"/>
              </a:ext>
            </a:extLst>
          </p:cNvPr>
          <p:cNvSpPr>
            <a:spLocks noGrp="1"/>
          </p:cNvSpPr>
          <p:nvPr>
            <p:ph type="ftr" sz="quarter" idx="11"/>
          </p:nvPr>
        </p:nvSpPr>
        <p:spPr/>
        <p:txBody>
          <a:bodyPr/>
          <a:lstStyle>
            <a:lvl1pPr>
              <a:defRPr/>
            </a:lvl1pPr>
          </a:lstStyle>
          <a:p>
            <a:pPr>
              <a:defRPr/>
            </a:pPr>
            <a:endParaRPr lang="fr-FR"/>
          </a:p>
        </p:txBody>
      </p:sp>
      <p:sp>
        <p:nvSpPr>
          <p:cNvPr id="4" name="Slide Number Placeholder 5">
            <a:extLst>
              <a:ext uri="{FF2B5EF4-FFF2-40B4-BE49-F238E27FC236}">
                <a16:creationId xmlns="" xmlns:a16="http://schemas.microsoft.com/office/drawing/2014/main" id="{24960CD3-A1CF-2AEB-9737-0848C96CC1E7}"/>
              </a:ext>
            </a:extLst>
          </p:cNvPr>
          <p:cNvSpPr>
            <a:spLocks noGrp="1"/>
          </p:cNvSpPr>
          <p:nvPr>
            <p:ph type="sldNum" sz="quarter" idx="12"/>
          </p:nvPr>
        </p:nvSpPr>
        <p:spPr/>
        <p:txBody>
          <a:bodyPr/>
          <a:lstStyle>
            <a:lvl1pPr>
              <a:defRPr/>
            </a:lvl1pPr>
          </a:lstStyle>
          <a:p>
            <a:pPr>
              <a:defRPr/>
            </a:pPr>
            <a:fld id="{D616547A-430C-4DF1-B73C-D4A5AF0DC8BF}" type="slidenum">
              <a:rPr lang="fr-FR" altLang="fr-FR"/>
              <a:pPr>
                <a:defRPr/>
              </a:pPr>
              <a:t>‹N°›</a:t>
            </a:fld>
            <a:endParaRPr lang="fr-FR" altLang="fr-FR"/>
          </a:p>
        </p:txBody>
      </p:sp>
    </p:spTree>
    <p:extLst>
      <p:ext uri="{BB962C8B-B14F-4D97-AF65-F5344CB8AC3E}">
        <p14:creationId xmlns:p14="http://schemas.microsoft.com/office/powerpoint/2010/main" val="35803837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cxnSp>
        <p:nvCxnSpPr>
          <p:cNvPr id="5" name="Straight Connector 8">
            <a:extLst>
              <a:ext uri="{FF2B5EF4-FFF2-40B4-BE49-F238E27FC236}">
                <a16:creationId xmlns="" xmlns:a16="http://schemas.microsoft.com/office/drawing/2014/main" id="{BA5A9C3C-75C6-039C-92F4-4FE686FB40DB}"/>
              </a:ext>
            </a:extLst>
          </p:cNvPr>
          <p:cNvCxnSpPr/>
          <p:nvPr/>
        </p:nvCxnSpPr>
        <p:spPr>
          <a:xfrm rot="5400000">
            <a:off x="-13494" y="3580607"/>
            <a:ext cx="5578475"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457200" y="792080"/>
            <a:ext cx="2139696" cy="1261872"/>
          </a:xfrm>
        </p:spPr>
        <p:txBody>
          <a:bodyPr anchor="b">
            <a:noAutofit/>
          </a:bodyPr>
          <a:lstStyle>
            <a:lvl1pPr algn="l">
              <a:defRPr sz="2400" b="0"/>
            </a:lvl1pPr>
          </a:lstStyle>
          <a:p>
            <a:r>
              <a:rPr lang="fr-FR"/>
              <a:t>Modifiez le style du titre</a:t>
            </a:r>
            <a:endParaRPr lang="en-US" dirty="0"/>
          </a:p>
        </p:txBody>
      </p:sp>
      <p:sp>
        <p:nvSpPr>
          <p:cNvPr id="3" name="Content Placeholder 2"/>
          <p:cNvSpPr>
            <a:spLocks noGrp="1"/>
          </p:cNvSpPr>
          <p:nvPr>
            <p:ph idx="1"/>
          </p:nvPr>
        </p:nvSpPr>
        <p:spPr>
          <a:xfrm>
            <a:off x="2971800" y="792080"/>
            <a:ext cx="5715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457201" y="2130552"/>
            <a:ext cx="2139696"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6" name="Date Placeholder 4">
            <a:extLst>
              <a:ext uri="{FF2B5EF4-FFF2-40B4-BE49-F238E27FC236}">
                <a16:creationId xmlns="" xmlns:a16="http://schemas.microsoft.com/office/drawing/2014/main" id="{1EC927F0-9C01-9A28-61C0-59D3F4F821CB}"/>
              </a:ext>
            </a:extLst>
          </p:cNvPr>
          <p:cNvSpPr>
            <a:spLocks noGrp="1"/>
          </p:cNvSpPr>
          <p:nvPr>
            <p:ph type="dt" sz="half" idx="10"/>
          </p:nvPr>
        </p:nvSpPr>
        <p:spPr/>
        <p:txBody>
          <a:bodyPr/>
          <a:lstStyle>
            <a:lvl1pPr>
              <a:defRPr/>
            </a:lvl1pPr>
          </a:lstStyle>
          <a:p>
            <a:pPr>
              <a:defRPr/>
            </a:pPr>
            <a:endParaRPr lang="fr-FR"/>
          </a:p>
        </p:txBody>
      </p:sp>
      <p:sp>
        <p:nvSpPr>
          <p:cNvPr id="7" name="Footer Placeholder 5">
            <a:extLst>
              <a:ext uri="{FF2B5EF4-FFF2-40B4-BE49-F238E27FC236}">
                <a16:creationId xmlns="" xmlns:a16="http://schemas.microsoft.com/office/drawing/2014/main" id="{5615B1AB-831D-E99F-B99F-DF85F332CA38}"/>
              </a:ext>
            </a:extLst>
          </p:cNvPr>
          <p:cNvSpPr>
            <a:spLocks noGrp="1"/>
          </p:cNvSpPr>
          <p:nvPr>
            <p:ph type="ftr" sz="quarter" idx="11"/>
          </p:nvPr>
        </p:nvSpPr>
        <p:spPr/>
        <p:txBody>
          <a:bodyPr/>
          <a:lstStyle>
            <a:lvl1pPr>
              <a:defRPr/>
            </a:lvl1pPr>
          </a:lstStyle>
          <a:p>
            <a:pPr>
              <a:defRPr/>
            </a:pPr>
            <a:endParaRPr lang="fr-FR"/>
          </a:p>
        </p:txBody>
      </p:sp>
      <p:sp>
        <p:nvSpPr>
          <p:cNvPr id="8" name="Slide Number Placeholder 6">
            <a:extLst>
              <a:ext uri="{FF2B5EF4-FFF2-40B4-BE49-F238E27FC236}">
                <a16:creationId xmlns="" xmlns:a16="http://schemas.microsoft.com/office/drawing/2014/main" id="{101B1F59-D914-3A48-2140-D8A3A9DFA9AE}"/>
              </a:ext>
            </a:extLst>
          </p:cNvPr>
          <p:cNvSpPr>
            <a:spLocks noGrp="1"/>
          </p:cNvSpPr>
          <p:nvPr>
            <p:ph type="sldNum" sz="quarter" idx="12"/>
          </p:nvPr>
        </p:nvSpPr>
        <p:spPr/>
        <p:txBody>
          <a:bodyPr/>
          <a:lstStyle>
            <a:lvl1pPr>
              <a:defRPr smtClean="0"/>
            </a:lvl1pPr>
          </a:lstStyle>
          <a:p>
            <a:pPr>
              <a:defRPr/>
            </a:pPr>
            <a:fld id="{05A810BD-FF6E-4F8F-8512-9DF72245334E}" type="slidenum">
              <a:rPr lang="fr-FR" altLang="fr-FR"/>
              <a:pPr>
                <a:defRPr/>
              </a:pPr>
              <a:t>‹N°›</a:t>
            </a:fld>
            <a:endParaRPr lang="fr-FR" altLang="fr-FR"/>
          </a:p>
        </p:txBody>
      </p:sp>
    </p:spTree>
    <p:extLst>
      <p:ext uri="{BB962C8B-B14F-4D97-AF65-F5344CB8AC3E}">
        <p14:creationId xmlns:p14="http://schemas.microsoft.com/office/powerpoint/2010/main" val="29759574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457200" y="792480"/>
            <a:ext cx="2142680" cy="1264920"/>
          </a:xfrm>
        </p:spPr>
        <p:txBody>
          <a:bodyPr anchor="b"/>
          <a:lstStyle>
            <a:lvl1pPr algn="l">
              <a:defRPr sz="2400" b="0"/>
            </a:lvl1pPr>
          </a:lstStyle>
          <a:p>
            <a:r>
              <a:rPr lang="fr-FR"/>
              <a:t>Modifiez le style du titre</a:t>
            </a:r>
            <a:endParaRPr lang="en-US" dirty="0"/>
          </a:p>
        </p:txBody>
      </p:sp>
      <p:sp>
        <p:nvSpPr>
          <p:cNvPr id="3" name="Picture Placeholder 2"/>
          <p:cNvSpPr>
            <a:spLocks noGrp="1"/>
          </p:cNvSpPr>
          <p:nvPr>
            <p:ph type="pic" idx="1"/>
          </p:nvPr>
        </p:nvSpPr>
        <p:spPr>
          <a:xfrm>
            <a:off x="2858610" y="838201"/>
            <a:ext cx="590439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fr-FR" noProof="0"/>
              <a:t>Cliquez sur l'icône pour ajouter une image</a:t>
            </a:r>
            <a:endParaRPr lang="en-US" noProof="0" dirty="0"/>
          </a:p>
        </p:txBody>
      </p:sp>
      <p:sp>
        <p:nvSpPr>
          <p:cNvPr id="4" name="Text Placeholder 3"/>
          <p:cNvSpPr>
            <a:spLocks noGrp="1"/>
          </p:cNvSpPr>
          <p:nvPr>
            <p:ph type="body" sz="half" idx="2"/>
          </p:nvPr>
        </p:nvSpPr>
        <p:spPr>
          <a:xfrm>
            <a:off x="457200" y="2133600"/>
            <a:ext cx="2139696"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Modifiez les styles du texte du masque</a:t>
            </a:r>
          </a:p>
        </p:txBody>
      </p:sp>
      <p:sp>
        <p:nvSpPr>
          <p:cNvPr id="5" name="Date Placeholder 3">
            <a:extLst>
              <a:ext uri="{FF2B5EF4-FFF2-40B4-BE49-F238E27FC236}">
                <a16:creationId xmlns="" xmlns:a16="http://schemas.microsoft.com/office/drawing/2014/main" id="{482DE6DF-B12A-BEAD-78FF-21CE46BC3D21}"/>
              </a:ext>
            </a:extLst>
          </p:cNvPr>
          <p:cNvSpPr>
            <a:spLocks noGrp="1"/>
          </p:cNvSpPr>
          <p:nvPr>
            <p:ph type="dt" sz="half" idx="10"/>
          </p:nvPr>
        </p:nvSpPr>
        <p:spPr/>
        <p:txBody>
          <a:bodyPr/>
          <a:lstStyle>
            <a:lvl1pPr>
              <a:defRPr/>
            </a:lvl1pPr>
          </a:lstStyle>
          <a:p>
            <a:pPr>
              <a:defRPr/>
            </a:pPr>
            <a:endParaRPr lang="fr-FR"/>
          </a:p>
        </p:txBody>
      </p:sp>
      <p:sp>
        <p:nvSpPr>
          <p:cNvPr id="6" name="Footer Placeholder 4">
            <a:extLst>
              <a:ext uri="{FF2B5EF4-FFF2-40B4-BE49-F238E27FC236}">
                <a16:creationId xmlns="" xmlns:a16="http://schemas.microsoft.com/office/drawing/2014/main" id="{CFD8486D-03A1-73A4-9F1F-AC5405E6FD54}"/>
              </a:ext>
            </a:extLst>
          </p:cNvPr>
          <p:cNvSpPr>
            <a:spLocks noGrp="1"/>
          </p:cNvSpPr>
          <p:nvPr>
            <p:ph type="ftr" sz="quarter" idx="11"/>
          </p:nvPr>
        </p:nvSpPr>
        <p:spPr/>
        <p:txBody>
          <a:bodyPr/>
          <a:lstStyle>
            <a:lvl1pPr>
              <a:defRPr/>
            </a:lvl1pPr>
          </a:lstStyle>
          <a:p>
            <a:pPr>
              <a:defRPr/>
            </a:pPr>
            <a:endParaRPr lang="fr-FR"/>
          </a:p>
        </p:txBody>
      </p:sp>
      <p:sp>
        <p:nvSpPr>
          <p:cNvPr id="7" name="Slide Number Placeholder 5">
            <a:extLst>
              <a:ext uri="{FF2B5EF4-FFF2-40B4-BE49-F238E27FC236}">
                <a16:creationId xmlns="" xmlns:a16="http://schemas.microsoft.com/office/drawing/2014/main" id="{FD5F052F-999B-FA6B-403F-FF932EA4977D}"/>
              </a:ext>
            </a:extLst>
          </p:cNvPr>
          <p:cNvSpPr>
            <a:spLocks noGrp="1"/>
          </p:cNvSpPr>
          <p:nvPr>
            <p:ph type="sldNum" sz="quarter" idx="12"/>
          </p:nvPr>
        </p:nvSpPr>
        <p:spPr/>
        <p:txBody>
          <a:bodyPr/>
          <a:lstStyle>
            <a:lvl1pPr>
              <a:defRPr/>
            </a:lvl1pPr>
          </a:lstStyle>
          <a:p>
            <a:pPr>
              <a:defRPr/>
            </a:pPr>
            <a:fld id="{85250995-DE97-4BE5-AF51-B359F07A1CC0}" type="slidenum">
              <a:rPr lang="fr-FR" altLang="fr-FR"/>
              <a:pPr>
                <a:defRPr/>
              </a:pPr>
              <a:t>‹N°›</a:t>
            </a:fld>
            <a:endParaRPr lang="fr-FR" altLang="fr-FR"/>
          </a:p>
        </p:txBody>
      </p:sp>
    </p:spTree>
    <p:extLst>
      <p:ext uri="{BB962C8B-B14F-4D97-AF65-F5344CB8AC3E}">
        <p14:creationId xmlns:p14="http://schemas.microsoft.com/office/powerpoint/2010/main" val="4421686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a:p>
        </p:txBody>
      </p:sp>
      <p:sp>
        <p:nvSpPr>
          <p:cNvPr id="3" name="Vertical Text Placeholder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a:extLst>
              <a:ext uri="{FF2B5EF4-FFF2-40B4-BE49-F238E27FC236}">
                <a16:creationId xmlns="" xmlns:a16="http://schemas.microsoft.com/office/drawing/2014/main" id="{64974853-B6A8-CEA9-D558-C5A38C97F9AA}"/>
              </a:ext>
            </a:extLst>
          </p:cNvPr>
          <p:cNvSpPr>
            <a:spLocks noGrp="1"/>
          </p:cNvSpPr>
          <p:nvPr>
            <p:ph type="dt" sz="half" idx="10"/>
          </p:nvPr>
        </p:nvSpPr>
        <p:spPr/>
        <p:txBody>
          <a:bodyPr/>
          <a:lstStyle>
            <a:lvl1pPr>
              <a:defRPr/>
            </a:lvl1pPr>
          </a:lstStyle>
          <a:p>
            <a:pPr>
              <a:defRPr/>
            </a:pPr>
            <a:endParaRPr lang="fr-FR"/>
          </a:p>
        </p:txBody>
      </p:sp>
      <p:sp>
        <p:nvSpPr>
          <p:cNvPr id="5" name="Footer Placeholder 4">
            <a:extLst>
              <a:ext uri="{FF2B5EF4-FFF2-40B4-BE49-F238E27FC236}">
                <a16:creationId xmlns="" xmlns:a16="http://schemas.microsoft.com/office/drawing/2014/main" id="{4B512F72-55D7-ED52-83DC-F0FC7E3EE6F4}"/>
              </a:ext>
            </a:extLst>
          </p:cNvPr>
          <p:cNvSpPr>
            <a:spLocks noGrp="1"/>
          </p:cNvSpPr>
          <p:nvPr>
            <p:ph type="ftr" sz="quarter" idx="11"/>
          </p:nvPr>
        </p:nvSpPr>
        <p:spPr/>
        <p:txBody>
          <a:bodyPr/>
          <a:lstStyle>
            <a:lvl1pPr>
              <a:defRPr/>
            </a:lvl1pPr>
          </a:lstStyle>
          <a:p>
            <a:pPr>
              <a:defRPr/>
            </a:pPr>
            <a:endParaRPr lang="fr-FR"/>
          </a:p>
        </p:txBody>
      </p:sp>
      <p:sp>
        <p:nvSpPr>
          <p:cNvPr id="6" name="Slide Number Placeholder 5">
            <a:extLst>
              <a:ext uri="{FF2B5EF4-FFF2-40B4-BE49-F238E27FC236}">
                <a16:creationId xmlns="" xmlns:a16="http://schemas.microsoft.com/office/drawing/2014/main" id="{596CE989-6006-1C25-4119-6A44C662DD39}"/>
              </a:ext>
            </a:extLst>
          </p:cNvPr>
          <p:cNvSpPr>
            <a:spLocks noGrp="1"/>
          </p:cNvSpPr>
          <p:nvPr>
            <p:ph type="sldNum" sz="quarter" idx="12"/>
          </p:nvPr>
        </p:nvSpPr>
        <p:spPr/>
        <p:txBody>
          <a:bodyPr/>
          <a:lstStyle>
            <a:lvl1pPr>
              <a:defRPr/>
            </a:lvl1pPr>
          </a:lstStyle>
          <a:p>
            <a:pPr>
              <a:defRPr/>
            </a:pPr>
            <a:fld id="{6B734C06-14B0-4300-A897-CD536F9AB27B}" type="slidenum">
              <a:rPr lang="fr-FR" altLang="fr-FR"/>
              <a:pPr>
                <a:defRPr/>
              </a:pPr>
              <a:t>‹N°›</a:t>
            </a:fld>
            <a:endParaRPr lang="fr-FR" altLang="fr-FR"/>
          </a:p>
        </p:txBody>
      </p:sp>
    </p:spTree>
    <p:extLst>
      <p:ext uri="{BB962C8B-B14F-4D97-AF65-F5344CB8AC3E}">
        <p14:creationId xmlns:p14="http://schemas.microsoft.com/office/powerpoint/2010/main" val="41697442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609600"/>
            <a:ext cx="2057400" cy="5867400"/>
          </a:xfrm>
        </p:spPr>
        <p:txBody>
          <a:bodyPr vert="eaVert" anchor="b"/>
          <a:lstStyle/>
          <a:p>
            <a:r>
              <a:rPr lang="fr-FR"/>
              <a:t>Modifiez le style du titre</a:t>
            </a:r>
            <a:endParaRPr lang="en-US" dirty="0"/>
          </a:p>
        </p:txBody>
      </p:sp>
      <p:sp>
        <p:nvSpPr>
          <p:cNvPr id="3" name="Vertical Text Placeholder 2"/>
          <p:cNvSpPr>
            <a:spLocks noGrp="1"/>
          </p:cNvSpPr>
          <p:nvPr>
            <p:ph type="body" orient="vert" idx="1"/>
          </p:nvPr>
        </p:nvSpPr>
        <p:spPr>
          <a:xfrm>
            <a:off x="457200" y="609600"/>
            <a:ext cx="6019800" cy="5867400"/>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a:extLst>
              <a:ext uri="{FF2B5EF4-FFF2-40B4-BE49-F238E27FC236}">
                <a16:creationId xmlns="" xmlns:a16="http://schemas.microsoft.com/office/drawing/2014/main" id="{5DFDC73B-9FF3-B620-ABD5-B35FB49AFF44}"/>
              </a:ext>
            </a:extLst>
          </p:cNvPr>
          <p:cNvSpPr>
            <a:spLocks noGrp="1"/>
          </p:cNvSpPr>
          <p:nvPr>
            <p:ph type="dt" sz="half" idx="10"/>
          </p:nvPr>
        </p:nvSpPr>
        <p:spPr/>
        <p:txBody>
          <a:bodyPr/>
          <a:lstStyle>
            <a:lvl1pPr>
              <a:defRPr/>
            </a:lvl1pPr>
          </a:lstStyle>
          <a:p>
            <a:pPr>
              <a:defRPr/>
            </a:pPr>
            <a:endParaRPr lang="fr-FR"/>
          </a:p>
        </p:txBody>
      </p:sp>
      <p:sp>
        <p:nvSpPr>
          <p:cNvPr id="5" name="Footer Placeholder 4">
            <a:extLst>
              <a:ext uri="{FF2B5EF4-FFF2-40B4-BE49-F238E27FC236}">
                <a16:creationId xmlns="" xmlns:a16="http://schemas.microsoft.com/office/drawing/2014/main" id="{C9B73D1C-FD8D-BBBE-79CB-F01CCC6E9A42}"/>
              </a:ext>
            </a:extLst>
          </p:cNvPr>
          <p:cNvSpPr>
            <a:spLocks noGrp="1"/>
          </p:cNvSpPr>
          <p:nvPr>
            <p:ph type="ftr" sz="quarter" idx="11"/>
          </p:nvPr>
        </p:nvSpPr>
        <p:spPr/>
        <p:txBody>
          <a:bodyPr/>
          <a:lstStyle>
            <a:lvl1pPr>
              <a:defRPr/>
            </a:lvl1pPr>
          </a:lstStyle>
          <a:p>
            <a:pPr>
              <a:defRPr/>
            </a:pPr>
            <a:endParaRPr lang="fr-FR"/>
          </a:p>
        </p:txBody>
      </p:sp>
      <p:sp>
        <p:nvSpPr>
          <p:cNvPr id="6" name="Slide Number Placeholder 5">
            <a:extLst>
              <a:ext uri="{FF2B5EF4-FFF2-40B4-BE49-F238E27FC236}">
                <a16:creationId xmlns="" xmlns:a16="http://schemas.microsoft.com/office/drawing/2014/main" id="{E6210233-945B-27C0-3883-5930333E6CD6}"/>
              </a:ext>
            </a:extLst>
          </p:cNvPr>
          <p:cNvSpPr>
            <a:spLocks noGrp="1"/>
          </p:cNvSpPr>
          <p:nvPr>
            <p:ph type="sldNum" sz="quarter" idx="12"/>
          </p:nvPr>
        </p:nvSpPr>
        <p:spPr/>
        <p:txBody>
          <a:bodyPr/>
          <a:lstStyle>
            <a:lvl1pPr>
              <a:defRPr/>
            </a:lvl1pPr>
          </a:lstStyle>
          <a:p>
            <a:pPr>
              <a:defRPr/>
            </a:pPr>
            <a:fld id="{10EC1C8C-FE48-4734-A2B9-D61EC41F0428}" type="slidenum">
              <a:rPr lang="fr-FR" altLang="fr-FR"/>
              <a:pPr>
                <a:defRPr/>
              </a:pPr>
              <a:t>‹N°›</a:t>
            </a:fld>
            <a:endParaRPr lang="fr-FR" altLang="fr-FR"/>
          </a:p>
        </p:txBody>
      </p:sp>
    </p:spTree>
    <p:extLst>
      <p:ext uri="{BB962C8B-B14F-4D97-AF65-F5344CB8AC3E}">
        <p14:creationId xmlns:p14="http://schemas.microsoft.com/office/powerpoint/2010/main" val="26116305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dgm">
  <p:cSld name="Titre et diagramme ou organigramme">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p>
            <a:r>
              <a:rPr lang="fr-FR"/>
              <a:t>Modifiez le style du titre</a:t>
            </a:r>
          </a:p>
        </p:txBody>
      </p:sp>
      <p:sp>
        <p:nvSpPr>
          <p:cNvPr id="3" name="Espace réservé du graphique SmartArt 2"/>
          <p:cNvSpPr>
            <a:spLocks noGrp="1"/>
          </p:cNvSpPr>
          <p:nvPr>
            <p:ph type="dgm" idx="1"/>
          </p:nvPr>
        </p:nvSpPr>
        <p:spPr>
          <a:xfrm>
            <a:off x="457200" y="1600200"/>
            <a:ext cx="8229600" cy="4525963"/>
          </a:xfrm>
        </p:spPr>
        <p:txBody>
          <a:bodyPr rtlCol="0">
            <a:normAutofit/>
          </a:bodyPr>
          <a:lstStyle/>
          <a:p>
            <a:pPr lvl="0"/>
            <a:endParaRPr lang="fr-FR" noProof="0"/>
          </a:p>
        </p:txBody>
      </p:sp>
      <p:sp>
        <p:nvSpPr>
          <p:cNvPr id="4" name="Date Placeholder 3">
            <a:extLst>
              <a:ext uri="{FF2B5EF4-FFF2-40B4-BE49-F238E27FC236}">
                <a16:creationId xmlns="" xmlns:a16="http://schemas.microsoft.com/office/drawing/2014/main" id="{0BB18B48-26E7-7A7F-B2CF-6FF7D683D681}"/>
              </a:ext>
            </a:extLst>
          </p:cNvPr>
          <p:cNvSpPr>
            <a:spLocks noGrp="1"/>
          </p:cNvSpPr>
          <p:nvPr>
            <p:ph type="dt" sz="half" idx="10"/>
          </p:nvPr>
        </p:nvSpPr>
        <p:spPr/>
        <p:txBody>
          <a:bodyPr/>
          <a:lstStyle>
            <a:lvl1pPr>
              <a:defRPr/>
            </a:lvl1pPr>
          </a:lstStyle>
          <a:p>
            <a:pPr>
              <a:defRPr/>
            </a:pPr>
            <a:endParaRPr lang="fr-FR"/>
          </a:p>
        </p:txBody>
      </p:sp>
      <p:sp>
        <p:nvSpPr>
          <p:cNvPr id="5" name="Footer Placeholder 4">
            <a:extLst>
              <a:ext uri="{FF2B5EF4-FFF2-40B4-BE49-F238E27FC236}">
                <a16:creationId xmlns="" xmlns:a16="http://schemas.microsoft.com/office/drawing/2014/main" id="{8AB5C21D-0DCF-CEA2-3D56-DDB32D32FB01}"/>
              </a:ext>
            </a:extLst>
          </p:cNvPr>
          <p:cNvSpPr>
            <a:spLocks noGrp="1"/>
          </p:cNvSpPr>
          <p:nvPr>
            <p:ph type="ftr" sz="quarter" idx="11"/>
          </p:nvPr>
        </p:nvSpPr>
        <p:spPr/>
        <p:txBody>
          <a:bodyPr/>
          <a:lstStyle>
            <a:lvl1pPr>
              <a:defRPr/>
            </a:lvl1pPr>
          </a:lstStyle>
          <a:p>
            <a:pPr>
              <a:defRPr/>
            </a:pPr>
            <a:endParaRPr lang="fr-FR"/>
          </a:p>
        </p:txBody>
      </p:sp>
      <p:sp>
        <p:nvSpPr>
          <p:cNvPr id="6" name="Slide Number Placeholder 5">
            <a:extLst>
              <a:ext uri="{FF2B5EF4-FFF2-40B4-BE49-F238E27FC236}">
                <a16:creationId xmlns="" xmlns:a16="http://schemas.microsoft.com/office/drawing/2014/main" id="{C43275A0-0273-20E1-C7AF-093398C1EDEE}"/>
              </a:ext>
            </a:extLst>
          </p:cNvPr>
          <p:cNvSpPr>
            <a:spLocks noGrp="1"/>
          </p:cNvSpPr>
          <p:nvPr>
            <p:ph type="sldNum" sz="quarter" idx="12"/>
          </p:nvPr>
        </p:nvSpPr>
        <p:spPr/>
        <p:txBody>
          <a:bodyPr/>
          <a:lstStyle>
            <a:lvl1pPr>
              <a:defRPr/>
            </a:lvl1pPr>
          </a:lstStyle>
          <a:p>
            <a:pPr>
              <a:defRPr/>
            </a:pPr>
            <a:fld id="{1E2BEF61-2465-4ADA-9560-C84B119AE85A}" type="slidenum">
              <a:rPr lang="fr-FR" altLang="fr-FR"/>
              <a:pPr>
                <a:defRPr/>
              </a:pPr>
              <a:t>‹N°›</a:t>
            </a:fld>
            <a:endParaRPr lang="fr-FR" altLang="fr-FR"/>
          </a:p>
        </p:txBody>
      </p:sp>
    </p:spTree>
    <p:extLst>
      <p:ext uri="{BB962C8B-B14F-4D97-AF65-F5344CB8AC3E}">
        <p14:creationId xmlns:p14="http://schemas.microsoft.com/office/powerpoint/2010/main" val="14123196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 xmlns:a16="http://schemas.microsoft.com/office/drawing/2014/main" id="{67007B05-25CD-BE9E-C2D7-7EA1E66A8ECB}"/>
              </a:ext>
            </a:extLst>
          </p:cNvPr>
          <p:cNvSpPr/>
          <p:nvPr/>
        </p:nvSpPr>
        <p:spPr>
          <a:xfrm>
            <a:off x="0" y="220663"/>
            <a:ext cx="9144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 name="Title Placeholder 1">
            <a:extLst>
              <a:ext uri="{FF2B5EF4-FFF2-40B4-BE49-F238E27FC236}">
                <a16:creationId xmlns="" xmlns:a16="http://schemas.microsoft.com/office/drawing/2014/main" id="{C124F811-8A7E-3396-530A-2E3659081876}"/>
              </a:ext>
            </a:extLst>
          </p:cNvPr>
          <p:cNvSpPr>
            <a:spLocks noGrp="1"/>
          </p:cNvSpPr>
          <p:nvPr>
            <p:ph type="title"/>
          </p:nvPr>
        </p:nvSpPr>
        <p:spPr>
          <a:xfrm>
            <a:off x="457200" y="533400"/>
            <a:ext cx="8229600" cy="990600"/>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1028" name="Text Placeholder 2">
            <a:extLst>
              <a:ext uri="{FF2B5EF4-FFF2-40B4-BE49-F238E27FC236}">
                <a16:creationId xmlns="" xmlns:a16="http://schemas.microsoft.com/office/drawing/2014/main" id="{45265E84-2063-6CBC-9072-42C85FFDC9F0}"/>
              </a:ext>
            </a:extLst>
          </p:cNvPr>
          <p:cNvSpPr>
            <a:spLocks noGrp="1"/>
          </p:cNvSpPr>
          <p:nvPr>
            <p:ph type="body" idx="1"/>
          </p:nvPr>
        </p:nvSpPr>
        <p:spPr bwMode="auto">
          <a:xfrm>
            <a:off x="457200" y="1600200"/>
            <a:ext cx="82296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a:t>Modifiez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endParaRPr lang="en-US" altLang="fr-FR"/>
          </a:p>
        </p:txBody>
      </p:sp>
      <p:sp>
        <p:nvSpPr>
          <p:cNvPr id="7" name="Rectangle 6">
            <a:extLst>
              <a:ext uri="{FF2B5EF4-FFF2-40B4-BE49-F238E27FC236}">
                <a16:creationId xmlns="" xmlns:a16="http://schemas.microsoft.com/office/drawing/2014/main" id="{20A7D00F-2EBC-0E64-0F91-3BC7F519DD60}"/>
              </a:ext>
            </a:extLst>
          </p:cNvPr>
          <p:cNvSpPr/>
          <p:nvPr/>
        </p:nvSpPr>
        <p:spPr>
          <a:xfrm>
            <a:off x="0" y="0"/>
            <a:ext cx="9144000" cy="3651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4" name="Date Placeholder 3">
            <a:extLst>
              <a:ext uri="{FF2B5EF4-FFF2-40B4-BE49-F238E27FC236}">
                <a16:creationId xmlns="" xmlns:a16="http://schemas.microsoft.com/office/drawing/2014/main" id="{2005B3BB-2324-80D6-2DB3-F9E353CFC16A}"/>
              </a:ext>
            </a:extLst>
          </p:cNvPr>
          <p:cNvSpPr>
            <a:spLocks noGrp="1"/>
          </p:cNvSpPr>
          <p:nvPr>
            <p:ph type="dt" sz="half" idx="2"/>
          </p:nvPr>
        </p:nvSpPr>
        <p:spPr>
          <a:xfrm>
            <a:off x="457200" y="19050"/>
            <a:ext cx="2895600" cy="328613"/>
          </a:xfrm>
          <a:prstGeom prst="rect">
            <a:avLst/>
          </a:prstGeom>
        </p:spPr>
        <p:txBody>
          <a:bodyPr vert="horz" lIns="91440" tIns="45720" rIns="91440" bIns="45720" rtlCol="0" anchor="ctr"/>
          <a:lstStyle>
            <a:lvl1pPr algn="l" eaLnBrk="1" hangingPunct="1">
              <a:defRPr sz="1200">
                <a:solidFill>
                  <a:srgbClr val="FFFFFF"/>
                </a:solidFill>
                <a:latin typeface="Arial" charset="0"/>
              </a:defRPr>
            </a:lvl1pPr>
          </a:lstStyle>
          <a:p>
            <a:pPr>
              <a:defRPr/>
            </a:pPr>
            <a:endParaRPr lang="fr-FR"/>
          </a:p>
        </p:txBody>
      </p:sp>
      <p:sp>
        <p:nvSpPr>
          <p:cNvPr id="5" name="Footer Placeholder 4">
            <a:extLst>
              <a:ext uri="{FF2B5EF4-FFF2-40B4-BE49-F238E27FC236}">
                <a16:creationId xmlns="" xmlns:a16="http://schemas.microsoft.com/office/drawing/2014/main" id="{D672B7D1-6AF1-A2D6-5B06-D94A862017C2}"/>
              </a:ext>
            </a:extLst>
          </p:cNvPr>
          <p:cNvSpPr>
            <a:spLocks noGrp="1"/>
          </p:cNvSpPr>
          <p:nvPr>
            <p:ph type="ftr" sz="quarter" idx="3"/>
          </p:nvPr>
        </p:nvSpPr>
        <p:spPr>
          <a:xfrm>
            <a:off x="3429000" y="19050"/>
            <a:ext cx="4114800" cy="328613"/>
          </a:xfrm>
          <a:prstGeom prst="rect">
            <a:avLst/>
          </a:prstGeom>
        </p:spPr>
        <p:txBody>
          <a:bodyPr vert="horz" lIns="91440" tIns="45720" rIns="91440" bIns="45720" rtlCol="0" anchor="ctr"/>
          <a:lstStyle>
            <a:lvl1pPr algn="ctr" eaLnBrk="1" hangingPunct="1">
              <a:defRPr sz="1200">
                <a:solidFill>
                  <a:srgbClr val="FFFFFF"/>
                </a:solidFill>
                <a:latin typeface="Arial" charset="0"/>
              </a:defRPr>
            </a:lvl1pPr>
          </a:lstStyle>
          <a:p>
            <a:pPr>
              <a:defRPr/>
            </a:pPr>
            <a:endParaRPr lang="fr-FR"/>
          </a:p>
        </p:txBody>
      </p:sp>
      <p:sp>
        <p:nvSpPr>
          <p:cNvPr id="6" name="Slide Number Placeholder 5">
            <a:extLst>
              <a:ext uri="{FF2B5EF4-FFF2-40B4-BE49-F238E27FC236}">
                <a16:creationId xmlns="" xmlns:a16="http://schemas.microsoft.com/office/drawing/2014/main" id="{D87B3960-8857-5D0B-67EB-7DEF1B72C4A5}"/>
              </a:ext>
            </a:extLst>
          </p:cNvPr>
          <p:cNvSpPr>
            <a:spLocks noGrp="1"/>
          </p:cNvSpPr>
          <p:nvPr>
            <p:ph type="sldNum" sz="quarter" idx="4"/>
          </p:nvPr>
        </p:nvSpPr>
        <p:spPr>
          <a:xfrm>
            <a:off x="7620000" y="19050"/>
            <a:ext cx="1066800" cy="328613"/>
          </a:xfrm>
          <a:prstGeom prst="rect">
            <a:avLst/>
          </a:prstGeom>
        </p:spPr>
        <p:txBody>
          <a:bodyPr vert="horz" wrap="square" lIns="91440" tIns="45720" rIns="91440" bIns="45720" numCol="1" anchor="ctr" anchorCtr="0" compatLnSpc="1">
            <a:prstTxWarp prst="textNoShape">
              <a:avLst/>
            </a:prstTxWarp>
          </a:bodyPr>
          <a:lstStyle>
            <a:lvl1pPr eaLnBrk="1" hangingPunct="1">
              <a:defRPr sz="1400" b="1" smtClean="0">
                <a:solidFill>
                  <a:srgbClr val="FFFFFF"/>
                </a:solidFill>
              </a:defRPr>
            </a:lvl1pPr>
          </a:lstStyle>
          <a:p>
            <a:pPr>
              <a:defRPr/>
            </a:pPr>
            <a:fld id="{2CEBC62C-E8A1-485A-9DE7-52F6E67605D2}" type="slidenum">
              <a:rPr lang="fr-FR" altLang="fr-FR"/>
              <a:pPr>
                <a:defRPr/>
              </a:pPr>
              <a:t>‹N°›</a:t>
            </a:fld>
            <a:endParaRPr lang="fr-FR" altLang="fr-FR"/>
          </a:p>
        </p:txBody>
      </p:sp>
    </p:spTree>
  </p:cSld>
  <p:clrMap bg1="lt1" tx1="dk1" bg2="lt2" tx2="dk2" accent1="accent1" accent2="accent2" accent3="accent3" accent4="accent4" accent5="accent5" accent6="accent6" hlink="hlink" folHlink="folHlink"/>
  <p:sldLayoutIdLst>
    <p:sldLayoutId id="2147484084" r:id="rId1"/>
    <p:sldLayoutId id="2147484076" r:id="rId2"/>
    <p:sldLayoutId id="2147484085" r:id="rId3"/>
    <p:sldLayoutId id="2147484077" r:id="rId4"/>
    <p:sldLayoutId id="2147484086" r:id="rId5"/>
    <p:sldLayoutId id="2147484078" r:id="rId6"/>
    <p:sldLayoutId id="2147484079" r:id="rId7"/>
    <p:sldLayoutId id="2147484087" r:id="rId8"/>
    <p:sldLayoutId id="2147484080" r:id="rId9"/>
    <p:sldLayoutId id="2147484081" r:id="rId10"/>
    <p:sldLayoutId id="2147484082" r:id="rId11"/>
    <p:sldLayoutId id="2147484083" r:id="rId12"/>
  </p:sldLayoutIdLst>
  <p:hf hdr="0" ftr="0" dt="0"/>
  <p:txStyles>
    <p:titleStyle>
      <a:lvl1pPr algn="l" rtl="0" eaLnBrk="0" fontAlgn="base" hangingPunct="0">
        <a:spcBef>
          <a:spcPct val="0"/>
        </a:spcBef>
        <a:spcAft>
          <a:spcPct val="0"/>
        </a:spcAft>
        <a:defRPr sz="4000" kern="1200" spc="-1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Arial" charset="0"/>
        </a:defRPr>
      </a:lvl2pPr>
      <a:lvl3pPr algn="l" rtl="0" eaLnBrk="0" fontAlgn="base" hangingPunct="0">
        <a:spcBef>
          <a:spcPct val="0"/>
        </a:spcBef>
        <a:spcAft>
          <a:spcPct val="0"/>
        </a:spcAft>
        <a:defRPr sz="4000">
          <a:solidFill>
            <a:schemeClr val="tx2"/>
          </a:solidFill>
          <a:latin typeface="Arial" charset="0"/>
        </a:defRPr>
      </a:lvl3pPr>
      <a:lvl4pPr algn="l" rtl="0" eaLnBrk="0" fontAlgn="base" hangingPunct="0">
        <a:spcBef>
          <a:spcPct val="0"/>
        </a:spcBef>
        <a:spcAft>
          <a:spcPct val="0"/>
        </a:spcAft>
        <a:defRPr sz="4000">
          <a:solidFill>
            <a:schemeClr val="tx2"/>
          </a:solidFill>
          <a:latin typeface="Arial" charset="0"/>
        </a:defRPr>
      </a:lvl4pPr>
      <a:lvl5pPr algn="l" rtl="0" eaLnBrk="0" fontAlgn="base" hangingPunct="0">
        <a:spcBef>
          <a:spcPct val="0"/>
        </a:spcBef>
        <a:spcAft>
          <a:spcPct val="0"/>
        </a:spcAft>
        <a:defRPr sz="4000">
          <a:solidFill>
            <a:schemeClr val="tx2"/>
          </a:solidFill>
          <a:latin typeface="Arial" charset="0"/>
        </a:defRPr>
      </a:lvl5pPr>
      <a:lvl6pPr marL="457200" algn="l" rtl="0" fontAlgn="base">
        <a:spcBef>
          <a:spcPct val="0"/>
        </a:spcBef>
        <a:spcAft>
          <a:spcPct val="0"/>
        </a:spcAft>
        <a:defRPr sz="4000">
          <a:solidFill>
            <a:schemeClr val="tx2"/>
          </a:solidFill>
          <a:latin typeface="Arial" charset="0"/>
        </a:defRPr>
      </a:lvl6pPr>
      <a:lvl7pPr marL="914400" algn="l" rtl="0" fontAlgn="base">
        <a:spcBef>
          <a:spcPct val="0"/>
        </a:spcBef>
        <a:spcAft>
          <a:spcPct val="0"/>
        </a:spcAft>
        <a:defRPr sz="4000">
          <a:solidFill>
            <a:schemeClr val="tx2"/>
          </a:solidFill>
          <a:latin typeface="Arial" charset="0"/>
        </a:defRPr>
      </a:lvl7pPr>
      <a:lvl8pPr marL="1371600" algn="l" rtl="0" fontAlgn="base">
        <a:spcBef>
          <a:spcPct val="0"/>
        </a:spcBef>
        <a:spcAft>
          <a:spcPct val="0"/>
        </a:spcAft>
        <a:defRPr sz="4000">
          <a:solidFill>
            <a:schemeClr val="tx2"/>
          </a:solidFill>
          <a:latin typeface="Arial" charset="0"/>
        </a:defRPr>
      </a:lvl8pPr>
      <a:lvl9pPr marL="1828800" algn="l" rtl="0" fontAlgn="base">
        <a:spcBef>
          <a:spcPct val="0"/>
        </a:spcBef>
        <a:spcAft>
          <a:spcPct val="0"/>
        </a:spcAft>
        <a:defRPr sz="4000">
          <a:solidFill>
            <a:schemeClr val="tx2"/>
          </a:solidFill>
          <a:latin typeface="Arial" charset="0"/>
        </a:defRPr>
      </a:lvl9pPr>
    </p:titleStyle>
    <p:bodyStyle>
      <a:lvl1pPr marL="182563" indent="-182563" algn="l" rtl="0" eaLnBrk="0" fontAlgn="base" hangingPunct="0">
        <a:spcBef>
          <a:spcPct val="20000"/>
        </a:spcBef>
        <a:spcAft>
          <a:spcPct val="0"/>
        </a:spcAft>
        <a:buClr>
          <a:schemeClr val="accent1"/>
        </a:buClr>
        <a:buSzPct val="85000"/>
        <a:buFont typeface="Arial" panose="020B0604020202020204" pitchFamily="34" charset="0"/>
        <a:buChar char="•"/>
        <a:defRPr sz="2400" kern="1200">
          <a:solidFill>
            <a:schemeClr val="tx1"/>
          </a:solidFill>
          <a:latin typeface="+mn-lt"/>
          <a:ea typeface="+mn-ea"/>
          <a:cs typeface="+mn-cs"/>
        </a:defRPr>
      </a:lvl1pPr>
      <a:lvl2pPr marL="457200" indent="-182563" algn="l" rtl="0" eaLnBrk="0" fontAlgn="base" hangingPunct="0">
        <a:spcBef>
          <a:spcPct val="20000"/>
        </a:spcBef>
        <a:spcAft>
          <a:spcPct val="0"/>
        </a:spcAft>
        <a:buClr>
          <a:schemeClr val="accent1"/>
        </a:buClr>
        <a:buSzPct val="85000"/>
        <a:buFont typeface="Arial" panose="020B0604020202020204" pitchFamily="34" charset="0"/>
        <a:buChar char="•"/>
        <a:defRPr sz="2000" kern="1200">
          <a:solidFill>
            <a:schemeClr val="tx1"/>
          </a:solidFill>
          <a:latin typeface="+mn-lt"/>
          <a:ea typeface="+mn-ea"/>
          <a:cs typeface="+mn-cs"/>
        </a:defRPr>
      </a:lvl2pPr>
      <a:lvl3pPr marL="730250" indent="-182563" algn="l" rtl="0" eaLnBrk="0" fontAlgn="base" hangingPunct="0">
        <a:spcBef>
          <a:spcPct val="20000"/>
        </a:spcBef>
        <a:spcAft>
          <a:spcPct val="0"/>
        </a:spcAft>
        <a:buClr>
          <a:schemeClr val="accent1"/>
        </a:buClr>
        <a:buSzPct val="90000"/>
        <a:buFont typeface="Arial" panose="020B0604020202020204" pitchFamily="34" charset="0"/>
        <a:buChar char="•"/>
        <a:defRPr kern="1200">
          <a:solidFill>
            <a:schemeClr val="tx1"/>
          </a:solidFill>
          <a:latin typeface="+mn-lt"/>
          <a:ea typeface="+mn-ea"/>
          <a:cs typeface="+mn-cs"/>
        </a:defRPr>
      </a:lvl3pPr>
      <a:lvl4pPr marL="1004888" indent="-182563" algn="l" rtl="0" eaLnBrk="0" fontAlgn="base" hangingPunct="0">
        <a:spcBef>
          <a:spcPct val="20000"/>
        </a:spcBef>
        <a:spcAft>
          <a:spcPct val="0"/>
        </a:spcAft>
        <a:buClr>
          <a:schemeClr val="accent1"/>
        </a:buClr>
        <a:buFont typeface="Arial" panose="020B0604020202020204" pitchFamily="34" charset="0"/>
        <a:buChar char="•"/>
        <a:defRPr sz="1600" kern="1200">
          <a:solidFill>
            <a:schemeClr val="tx1"/>
          </a:solidFill>
          <a:latin typeface="+mn-lt"/>
          <a:ea typeface="+mn-ea"/>
          <a:cs typeface="+mn-cs"/>
        </a:defRPr>
      </a:lvl4pPr>
      <a:lvl5pPr marL="1187450" indent="-136525" algn="l" rtl="0" eaLnBrk="0" fontAlgn="base" hangingPunct="0">
        <a:spcBef>
          <a:spcPct val="20000"/>
        </a:spcBef>
        <a:spcAft>
          <a:spcPct val="0"/>
        </a:spcAft>
        <a:buClr>
          <a:schemeClr val="accent1"/>
        </a:buClr>
        <a:buSzPct val="100000"/>
        <a:buFont typeface="Arial" panose="020B0604020202020204" pitchFamily="34" charset="0"/>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 Id="rId4" Type="http://schemas.openxmlformats.org/officeDocument/2006/relationships/image" Target="../media/image9.wmf"/></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3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hyperlink" Target="https://fr.wikipedia.org/wiki/Gestion_de_projets" TargetMode="External"/><Relationship Id="rId2" Type="http://schemas.openxmlformats.org/officeDocument/2006/relationships/hyperlink" Target="https://fr.wikipedia.org/wiki/Logiciel_de_suivi_de_probl%C3%A8mes" TargetMode="External"/><Relationship Id="rId1" Type="http://schemas.openxmlformats.org/officeDocument/2006/relationships/slideLayout" Target="../slideLayouts/slideLayout2.xml"/><Relationship Id="rId4" Type="http://schemas.openxmlformats.org/officeDocument/2006/relationships/hyperlink" Target="https://fr.wikipedia.org/wiki/Atlassian" TargetMode="External"/></Relationships>
</file>

<file path=ppt/slides/_rels/slide93.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101.jpe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Layout" Target="../slideLayouts/slideLayout2.xml"/><Relationship Id="rId4" Type="http://schemas.openxmlformats.org/officeDocument/2006/relationships/image" Target="../media/image116.png"/></Relationships>
</file>

<file path=ppt/slides/_rels/slide149.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1.png"/><Relationship Id="rId1" Type="http://schemas.openxmlformats.org/officeDocument/2006/relationships/slideLayout" Target="../slideLayouts/slideLayout2.xml"/><Relationship Id="rId4" Type="http://schemas.openxmlformats.org/officeDocument/2006/relationships/image" Target="../media/image123.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5.png"/><Relationship Id="rId1" Type="http://schemas.openxmlformats.org/officeDocument/2006/relationships/slideLayout" Target="../slideLayouts/slideLayout2.xml"/><Relationship Id="rId4" Type="http://schemas.openxmlformats.org/officeDocument/2006/relationships/image" Target="../media/image123.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image" Target="../media/image132.png"/><Relationship Id="rId1" Type="http://schemas.openxmlformats.org/officeDocument/2006/relationships/slideLayout" Target="../slideLayouts/slideLayout2.xml"/><Relationship Id="rId4" Type="http://schemas.openxmlformats.org/officeDocument/2006/relationships/image" Target="../media/image134.png"/></Relationships>
</file>

<file path=ppt/slides/_rels/slide168.xml.rels><?xml version="1.0" encoding="UTF-8" standalone="yes"?>
<Relationships xmlns="http://schemas.openxmlformats.org/package/2006/relationships"><Relationship Id="rId2" Type="http://schemas.openxmlformats.org/officeDocument/2006/relationships/image" Target="../media/image135.png"/><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175.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image" Target="../media/image137.png"/><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image" Target="../media/image138.png"/><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image" Target="../media/image139.png"/><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image" Target="../media/image143.png"/><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image" Target="../media/image144.png"/><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image" Target="../media/image145.png"/><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image" Target="../media/image146.png"/><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image" Target="../media/image147.png"/><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image" Target="../media/image148.png"/><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2" Type="http://schemas.openxmlformats.org/officeDocument/2006/relationships/image" Target="../media/image149.png"/><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image" Target="../media/image15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a:extLst>
              <a:ext uri="{FF2B5EF4-FFF2-40B4-BE49-F238E27FC236}">
                <a16:creationId xmlns="" xmlns:a16="http://schemas.microsoft.com/office/drawing/2014/main" id="{AC27B8B7-095A-6415-1FA8-207C5266EC68}"/>
              </a:ext>
            </a:extLst>
          </p:cNvPr>
          <p:cNvSpPr>
            <a:spLocks noGrp="1" noChangeArrowheads="1"/>
          </p:cNvSpPr>
          <p:nvPr>
            <p:ph type="ctrTitle"/>
          </p:nvPr>
        </p:nvSpPr>
        <p:spPr>
          <a:xfrm>
            <a:off x="684213" y="549275"/>
            <a:ext cx="7772400" cy="863600"/>
          </a:xfrm>
        </p:spPr>
        <p:txBody>
          <a:bodyPr/>
          <a:lstStyle/>
          <a:p>
            <a:pPr eaLnBrk="1" fontAlgn="auto" hangingPunct="1">
              <a:spcAft>
                <a:spcPts val="0"/>
              </a:spcAft>
              <a:defRPr/>
            </a:pPr>
            <a:r>
              <a:rPr lang="fr-FR"/>
              <a:t>Gestion de projets</a:t>
            </a:r>
          </a:p>
        </p:txBody>
      </p:sp>
      <p:sp>
        <p:nvSpPr>
          <p:cNvPr id="8195" name="Espace réservé du numéro de diapositive 5">
            <a:extLst>
              <a:ext uri="{FF2B5EF4-FFF2-40B4-BE49-F238E27FC236}">
                <a16:creationId xmlns="" xmlns:a16="http://schemas.microsoft.com/office/drawing/2014/main" id="{BED30083-F3B7-EA99-E1A0-C78D3290D3A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24DEB59B-24B0-4670-B1C6-0471CA1A6FDC}" type="slidenum">
              <a:rPr lang="fr-FR" altLang="fr-FR" sz="1400"/>
              <a:pPr>
                <a:spcBef>
                  <a:spcPct val="0"/>
                </a:spcBef>
                <a:buClrTx/>
                <a:buSzTx/>
                <a:buFontTx/>
                <a:buNone/>
              </a:pPr>
              <a:t>1</a:t>
            </a:fld>
            <a:endParaRPr lang="fr-FR" altLang="fr-FR" sz="1400"/>
          </a:p>
        </p:txBody>
      </p:sp>
      <p:sp>
        <p:nvSpPr>
          <p:cNvPr id="8196" name="Rectangle 4">
            <a:extLst>
              <a:ext uri="{FF2B5EF4-FFF2-40B4-BE49-F238E27FC236}">
                <a16:creationId xmlns="" xmlns:a16="http://schemas.microsoft.com/office/drawing/2014/main" id="{FCA8480F-579D-55E5-CE92-AAB36CB5FAD5}"/>
              </a:ext>
            </a:extLst>
          </p:cNvPr>
          <p:cNvSpPr>
            <a:spLocks noChangeArrowheads="1"/>
          </p:cNvSpPr>
          <p:nvPr/>
        </p:nvSpPr>
        <p:spPr bwMode="auto">
          <a:xfrm>
            <a:off x="323515" y="5445224"/>
            <a:ext cx="3024336" cy="864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eaLnBrk="1" hangingPunct="1">
              <a:buClrTx/>
              <a:buSzTx/>
              <a:buFontTx/>
              <a:buNone/>
            </a:pPr>
            <a:r>
              <a:rPr lang="fr-FR" altLang="fr-FR" sz="2000" dirty="0">
                <a:latin typeface="Times New Roman" panose="02020603050405020304" pitchFamily="18" charset="0"/>
              </a:rPr>
              <a:t>Formateur :</a:t>
            </a:r>
          </a:p>
          <a:p>
            <a:pPr eaLnBrk="1" hangingPunct="1">
              <a:buClrTx/>
              <a:buSzTx/>
              <a:buFontTx/>
              <a:buChar char="•"/>
            </a:pPr>
            <a:r>
              <a:rPr lang="fr-FR" altLang="fr-FR" sz="2000" dirty="0">
                <a:latin typeface="Times New Roman" panose="02020603050405020304" pitchFamily="18" charset="0"/>
              </a:rPr>
              <a:t>A.KARIM</a:t>
            </a:r>
          </a:p>
        </p:txBody>
      </p:sp>
      <p:pic>
        <p:nvPicPr>
          <p:cNvPr id="8197" name="Picture 6">
            <a:extLst>
              <a:ext uri="{FF2B5EF4-FFF2-40B4-BE49-F238E27FC236}">
                <a16:creationId xmlns="" xmlns:a16="http://schemas.microsoft.com/office/drawing/2014/main" id="{DB8767E3-6539-8312-5649-BC159CE539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5493" y="1604259"/>
            <a:ext cx="2632279" cy="1482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611560" y="4077072"/>
            <a:ext cx="6048672" cy="1200329"/>
          </a:xfrm>
          <a:prstGeom prst="rect">
            <a:avLst/>
          </a:prstGeom>
        </p:spPr>
        <p:txBody>
          <a:bodyPr wrap="square">
            <a:spAutoFit/>
          </a:bodyPr>
          <a:lstStyle/>
          <a:p>
            <a:pPr algn="ctr"/>
            <a:r>
              <a:rPr lang="fr-CA" b="1" dirty="0" err="1"/>
              <a:t>Waterfall</a:t>
            </a:r>
            <a:r>
              <a:rPr lang="fr-CA" b="1" dirty="0"/>
              <a:t> vs Agile </a:t>
            </a:r>
            <a:r>
              <a:rPr lang="fr-CA" b="1" dirty="0" err="1"/>
              <a:t>Scrum</a:t>
            </a:r>
            <a:endParaRPr lang="fr-CA" b="1" dirty="0"/>
          </a:p>
          <a:p>
            <a:r>
              <a:rPr lang="fr-CA" dirty="0"/>
              <a:t>Choisir la bonne méthodologie est la première étape vers la réussite de tout projet complexe. Cette présentation explore les deux </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39524" y="3477583"/>
            <a:ext cx="2371861" cy="29315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72200" y="1496618"/>
            <a:ext cx="1872707" cy="16981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a:extLst>
              <a:ext uri="{FF2B5EF4-FFF2-40B4-BE49-F238E27FC236}">
                <a16:creationId xmlns="" xmlns:a16="http://schemas.microsoft.com/office/drawing/2014/main" id="{992661E1-7077-44F4-012C-D86866053CC7}"/>
              </a:ext>
            </a:extLst>
          </p:cNvPr>
          <p:cNvSpPr>
            <a:spLocks noGrp="1" noChangeArrowheads="1"/>
          </p:cNvSpPr>
          <p:nvPr>
            <p:ph type="title"/>
          </p:nvPr>
        </p:nvSpPr>
        <p:spPr>
          <a:xfrm>
            <a:off x="457200" y="274638"/>
            <a:ext cx="8229600" cy="922337"/>
          </a:xfrm>
        </p:spPr>
        <p:txBody>
          <a:bodyPr/>
          <a:lstStyle/>
          <a:p>
            <a:pPr eaLnBrk="1" fontAlgn="auto" hangingPunct="1">
              <a:spcAft>
                <a:spcPts val="0"/>
              </a:spcAft>
              <a:defRPr/>
            </a:pPr>
            <a:r>
              <a:rPr lang="fr-FR" b="1"/>
              <a:t>I-Qu'est ce qu'un projet ?</a:t>
            </a:r>
          </a:p>
        </p:txBody>
      </p:sp>
      <p:sp>
        <p:nvSpPr>
          <p:cNvPr id="9219" name="Rectangle 3">
            <a:extLst>
              <a:ext uri="{FF2B5EF4-FFF2-40B4-BE49-F238E27FC236}">
                <a16:creationId xmlns="" xmlns:a16="http://schemas.microsoft.com/office/drawing/2014/main" id="{D16AD5B3-849D-C2DE-564C-2A65CF285FDC}"/>
              </a:ext>
            </a:extLst>
          </p:cNvPr>
          <p:cNvSpPr>
            <a:spLocks noGrp="1"/>
          </p:cNvSpPr>
          <p:nvPr>
            <p:ph idx="1"/>
          </p:nvPr>
        </p:nvSpPr>
        <p:spPr/>
        <p:txBody>
          <a:bodyPr/>
          <a:lstStyle/>
          <a:p>
            <a:pPr lvl="1" eaLnBrk="1" hangingPunct="1">
              <a:spcAft>
                <a:spcPct val="100000"/>
              </a:spcAft>
              <a:buSzPct val="75000"/>
              <a:buFontTx/>
              <a:buNone/>
            </a:pPr>
            <a:r>
              <a:rPr lang="fr-FR" altLang="fr-FR">
                <a:latin typeface="Times New Roman" panose="02020603050405020304" pitchFamily="18" charset="0"/>
              </a:rPr>
              <a:t>Un projet est un ensemble de tâches indissociables permettant de répondre à un besoin exprimé</a:t>
            </a:r>
          </a:p>
          <a:p>
            <a:pPr eaLnBrk="1" hangingPunct="1"/>
            <a:r>
              <a:rPr lang="fr-FR" altLang="fr-FR" sz="2000">
                <a:latin typeface="Times New Roman" panose="02020603050405020304" pitchFamily="18" charset="0"/>
              </a:rPr>
              <a:t>Les résultats attendus du projet sont appelés « </a:t>
            </a:r>
            <a:r>
              <a:rPr lang="fr-FR" altLang="fr-FR" sz="2000" b="1">
                <a:latin typeface="Times New Roman" panose="02020603050405020304" pitchFamily="18" charset="0"/>
              </a:rPr>
              <a:t>livrables </a:t>
            </a:r>
            <a:r>
              <a:rPr lang="fr-FR" altLang="fr-FR" sz="2000">
                <a:latin typeface="Times New Roman" panose="02020603050405020304" pitchFamily="18" charset="0"/>
              </a:rPr>
              <a:t>».</a:t>
            </a:r>
          </a:p>
          <a:p>
            <a:pPr eaLnBrk="1" hangingPunct="1"/>
            <a:r>
              <a:rPr lang="fr-FR" altLang="fr-FR" sz="2000">
                <a:latin typeface="Times New Roman" panose="02020603050405020304" pitchFamily="18" charset="0"/>
              </a:rPr>
              <a:t>On distingue:</a:t>
            </a:r>
          </a:p>
          <a:p>
            <a:pPr eaLnBrk="1" hangingPunct="1"/>
            <a:r>
              <a:rPr lang="fr-FR" altLang="fr-FR" sz="2000">
                <a:latin typeface="Times New Roman" panose="02020603050405020304" pitchFamily="18" charset="0"/>
              </a:rPr>
              <a:t>des « </a:t>
            </a:r>
            <a:r>
              <a:rPr lang="fr-FR" altLang="fr-FR" sz="2000" b="1">
                <a:latin typeface="Times New Roman" panose="02020603050405020304" pitchFamily="18" charset="0"/>
              </a:rPr>
              <a:t>projets-ouvrage</a:t>
            </a:r>
            <a:r>
              <a:rPr lang="fr-FR" altLang="fr-FR" sz="2000">
                <a:latin typeface="Times New Roman" panose="02020603050405020304" pitchFamily="18" charset="0"/>
              </a:rPr>
              <a:t> » dont le résultat est unique (Ex : une Application, le déploiement d’une solution informatique), </a:t>
            </a:r>
          </a:p>
          <a:p>
            <a:pPr eaLnBrk="1" hangingPunct="1"/>
            <a:r>
              <a:rPr lang="fr-FR" altLang="fr-FR" sz="2000">
                <a:latin typeface="Times New Roman" panose="02020603050405020304" pitchFamily="18" charset="0"/>
              </a:rPr>
              <a:t>des « </a:t>
            </a:r>
            <a:r>
              <a:rPr lang="fr-FR" altLang="fr-FR" sz="2000" b="1">
                <a:latin typeface="Times New Roman" panose="02020603050405020304" pitchFamily="18" charset="0"/>
              </a:rPr>
              <a:t>projets-produit</a:t>
            </a:r>
            <a:r>
              <a:rPr lang="fr-FR" altLang="fr-FR" sz="2000">
                <a:latin typeface="Times New Roman" panose="02020603050405020304" pitchFamily="18" charset="0"/>
              </a:rPr>
              <a:t> » (exemple:un Nouveau model de voiture,nouvelle boisson..) dont l'objectif est la mise au point d'un ou d'une gamme de produit(s) ou service(s), qui sera diffusé à plus ou moins grande échelle. </a:t>
            </a:r>
          </a:p>
          <a:p>
            <a:pPr eaLnBrk="1" hangingPunct="1"/>
            <a:endParaRPr lang="fr-FR" altLang="fr-FR" sz="2000"/>
          </a:p>
        </p:txBody>
      </p:sp>
      <p:sp>
        <p:nvSpPr>
          <p:cNvPr id="9220" name="Espace réservé du numéro de diapositive 5">
            <a:extLst>
              <a:ext uri="{FF2B5EF4-FFF2-40B4-BE49-F238E27FC236}">
                <a16:creationId xmlns="" xmlns:a16="http://schemas.microsoft.com/office/drawing/2014/main" id="{3500C0ED-3B1F-DCFE-64FB-1DD0E90A9AD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F26905F9-2F66-41B8-A3CC-48D8D606770C}" type="slidenum">
              <a:rPr lang="fr-FR" altLang="fr-FR" sz="1400"/>
              <a:pPr>
                <a:spcBef>
                  <a:spcPct val="0"/>
                </a:spcBef>
                <a:buClrTx/>
                <a:buSzTx/>
                <a:buFontTx/>
                <a:buNone/>
              </a:pPr>
              <a:t>2</a:t>
            </a:fld>
            <a:endParaRPr lang="fr-FR" altLang="fr-FR" sz="1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a:extLst>
              <a:ext uri="{FF2B5EF4-FFF2-40B4-BE49-F238E27FC236}">
                <a16:creationId xmlns="" xmlns:a16="http://schemas.microsoft.com/office/drawing/2014/main" id="{4FCB4C2C-AB9B-0E0C-AD93-A076B2C78D36}"/>
              </a:ext>
            </a:extLst>
          </p:cNvPr>
          <p:cNvSpPr>
            <a:spLocks noGrp="1" noChangeArrowheads="1"/>
          </p:cNvSpPr>
          <p:nvPr>
            <p:ph type="title"/>
          </p:nvPr>
        </p:nvSpPr>
        <p:spPr/>
        <p:txBody>
          <a:bodyPr/>
          <a:lstStyle/>
          <a:p>
            <a:pPr eaLnBrk="1" fontAlgn="auto" hangingPunct="1">
              <a:spcAft>
                <a:spcPts val="0"/>
              </a:spcAft>
              <a:defRPr/>
            </a:pPr>
            <a:r>
              <a:rPr lang="fr-FR" b="1"/>
              <a:t>Qu'est ce qu'un projet ?</a:t>
            </a:r>
          </a:p>
        </p:txBody>
      </p:sp>
      <p:sp>
        <p:nvSpPr>
          <p:cNvPr id="10243" name="Rectangle 3">
            <a:extLst>
              <a:ext uri="{FF2B5EF4-FFF2-40B4-BE49-F238E27FC236}">
                <a16:creationId xmlns="" xmlns:a16="http://schemas.microsoft.com/office/drawing/2014/main" id="{B1E59EA4-F45B-D578-AABC-5961ACDDEE6E}"/>
              </a:ext>
            </a:extLst>
          </p:cNvPr>
          <p:cNvSpPr>
            <a:spLocks noGrp="1"/>
          </p:cNvSpPr>
          <p:nvPr>
            <p:ph idx="1"/>
          </p:nvPr>
        </p:nvSpPr>
        <p:spPr>
          <a:xfrm>
            <a:off x="457200" y="1600200"/>
            <a:ext cx="8229600" cy="4997450"/>
          </a:xfrm>
        </p:spPr>
        <p:txBody>
          <a:bodyPr/>
          <a:lstStyle/>
          <a:p>
            <a:pPr eaLnBrk="1" hangingPunct="1">
              <a:buFontTx/>
              <a:buNone/>
            </a:pPr>
            <a:r>
              <a:rPr lang="fr-FR" altLang="fr-FR" sz="1800">
                <a:latin typeface="Times New Roman" panose="02020603050405020304" pitchFamily="18" charset="0"/>
              </a:rPr>
              <a:t>              Un projet doit combiner quatre aspects :</a:t>
            </a:r>
          </a:p>
          <a:p>
            <a:pPr eaLnBrk="1" hangingPunct="1">
              <a:buFontTx/>
              <a:buNone/>
            </a:pPr>
            <a:endParaRPr lang="fr-FR" altLang="fr-FR" sz="1800">
              <a:latin typeface="Times New Roman" panose="02020603050405020304" pitchFamily="18" charset="0"/>
            </a:endParaRPr>
          </a:p>
          <a:p>
            <a:pPr eaLnBrk="1" hangingPunct="1"/>
            <a:r>
              <a:rPr lang="fr-FR" altLang="fr-FR" sz="1800">
                <a:latin typeface="Times New Roman" panose="02020603050405020304" pitchFamily="18" charset="0"/>
              </a:rPr>
              <a:t>fonctionnel (réponse à un besoin) </a:t>
            </a:r>
          </a:p>
          <a:p>
            <a:pPr eaLnBrk="1" hangingPunct="1"/>
            <a:r>
              <a:rPr lang="fr-FR" altLang="fr-FR" sz="1800">
                <a:latin typeface="Times New Roman" panose="02020603050405020304" pitchFamily="18" charset="0"/>
              </a:rPr>
              <a:t>technique (respect des spécifications) </a:t>
            </a:r>
          </a:p>
          <a:p>
            <a:pPr eaLnBrk="1" hangingPunct="1"/>
            <a:r>
              <a:rPr lang="fr-FR" altLang="fr-FR" sz="1800">
                <a:latin typeface="Times New Roman" panose="02020603050405020304" pitchFamily="18" charset="0"/>
              </a:rPr>
              <a:t>délais (respect des échéances c’est-à-dire la durée) </a:t>
            </a:r>
          </a:p>
          <a:p>
            <a:pPr eaLnBrk="1" hangingPunct="1"/>
            <a:r>
              <a:rPr lang="fr-FR" altLang="fr-FR" sz="1800">
                <a:latin typeface="Times New Roman" panose="02020603050405020304" pitchFamily="18" charset="0"/>
              </a:rPr>
              <a:t>coûts (respect du budget).</a:t>
            </a:r>
            <a:r>
              <a:rPr lang="fr-FR" altLang="fr-FR" sz="2800">
                <a:latin typeface="Times New Roman" panose="02020603050405020304" pitchFamily="18" charset="0"/>
              </a:rPr>
              <a:t> </a:t>
            </a:r>
          </a:p>
          <a:p>
            <a:pPr eaLnBrk="1" hangingPunct="1">
              <a:buFontTx/>
              <a:buNone/>
            </a:pPr>
            <a:endParaRPr lang="fr-FR" altLang="fr-FR" sz="2800">
              <a:latin typeface="Times New Roman" panose="02020603050405020304" pitchFamily="18" charset="0"/>
            </a:endParaRPr>
          </a:p>
          <a:p>
            <a:pPr eaLnBrk="1" hangingPunct="1"/>
            <a:r>
              <a:rPr lang="fr-FR" altLang="fr-FR" sz="1800" b="1">
                <a:latin typeface="Times New Roman" panose="02020603050405020304" pitchFamily="18" charset="0"/>
              </a:rPr>
              <a:t>La Charte de projet</a:t>
            </a:r>
            <a:r>
              <a:rPr lang="fr-FR" altLang="fr-FR" sz="1800">
                <a:latin typeface="Times New Roman" panose="02020603050405020304" pitchFamily="18" charset="0"/>
              </a:rPr>
              <a:t> :est un document contractuel entre le directeur de projet d’une part et la comité de pilotage du projet d’autre part .</a:t>
            </a:r>
          </a:p>
          <a:p>
            <a:pPr eaLnBrk="1" hangingPunct="1"/>
            <a:r>
              <a:rPr lang="fr-FR" altLang="fr-FR" sz="1800">
                <a:latin typeface="Times New Roman" panose="02020603050405020304" pitchFamily="18" charset="0"/>
              </a:rPr>
              <a:t>Il a pour objectifs d’identifier la documentation de référence et les dispositions spécifiques d’organisation de la phase de développement à venir</a:t>
            </a:r>
            <a:r>
              <a:rPr lang="fr-FR" altLang="fr-FR"/>
              <a:t>.</a:t>
            </a:r>
            <a:endParaRPr lang="fr-FR" altLang="fr-FR" sz="2800">
              <a:latin typeface="Times New Roman" panose="02020603050405020304" pitchFamily="18" charset="0"/>
            </a:endParaRPr>
          </a:p>
          <a:p>
            <a:pPr eaLnBrk="1" hangingPunct="1">
              <a:buFontTx/>
              <a:buNone/>
            </a:pPr>
            <a:endParaRPr lang="fr-FR" altLang="fr-FR" sz="2800"/>
          </a:p>
        </p:txBody>
      </p:sp>
      <p:sp>
        <p:nvSpPr>
          <p:cNvPr id="10244" name="Espace réservé du numéro de diapositive 5">
            <a:extLst>
              <a:ext uri="{FF2B5EF4-FFF2-40B4-BE49-F238E27FC236}">
                <a16:creationId xmlns="" xmlns:a16="http://schemas.microsoft.com/office/drawing/2014/main" id="{CC67E82A-40F9-2FCB-7511-757FE19DF22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BE644987-86D6-4479-8A7C-2DB87E87F017}" type="slidenum">
              <a:rPr lang="fr-FR" altLang="fr-FR" sz="1400"/>
              <a:pPr>
                <a:spcBef>
                  <a:spcPct val="0"/>
                </a:spcBef>
                <a:buClrTx/>
                <a:buSzTx/>
                <a:buFontTx/>
                <a:buNone/>
              </a:pPr>
              <a:t>3</a:t>
            </a:fld>
            <a:endParaRPr lang="fr-FR" altLang="fr-FR" sz="1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48DC58D0-12A8-D693-B20C-B3EEFD28FF5B}"/>
              </a:ext>
            </a:extLst>
          </p:cNvPr>
          <p:cNvSpPr>
            <a:spLocks noGrp="1"/>
          </p:cNvSpPr>
          <p:nvPr>
            <p:ph type="title"/>
          </p:nvPr>
        </p:nvSpPr>
        <p:spPr/>
        <p:txBody>
          <a:bodyPr>
            <a:normAutofit fontScale="90000"/>
          </a:bodyPr>
          <a:lstStyle/>
          <a:p>
            <a:pPr>
              <a:defRPr/>
            </a:pPr>
            <a:r>
              <a:rPr lang="fr-FR" dirty="0"/>
              <a:t>Les axes clés encadrés par la Charte de projet</a:t>
            </a:r>
          </a:p>
        </p:txBody>
      </p:sp>
      <p:sp>
        <p:nvSpPr>
          <p:cNvPr id="11267" name="Espace réservé du numéro de diapositive 3">
            <a:extLst>
              <a:ext uri="{FF2B5EF4-FFF2-40B4-BE49-F238E27FC236}">
                <a16:creationId xmlns="" xmlns:a16="http://schemas.microsoft.com/office/drawing/2014/main" id="{F44EE1B0-AAB4-5230-D9E4-2D1DFA17A2E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D51CD04-F89E-4BFF-A8E3-CAA8B4FA1825}" type="slidenum">
              <a:rPr lang="fr-FR" altLang="fr-FR">
                <a:solidFill>
                  <a:srgbClr val="FFFFFF"/>
                </a:solidFill>
              </a:rPr>
              <a:pPr/>
              <a:t>4</a:t>
            </a:fld>
            <a:endParaRPr lang="fr-FR" altLang="fr-FR">
              <a:solidFill>
                <a:srgbClr val="FFFFFF"/>
              </a:solidFill>
            </a:endParaRPr>
          </a:p>
        </p:txBody>
      </p:sp>
      <p:pic>
        <p:nvPicPr>
          <p:cNvPr id="11268" name="Image 5">
            <a:extLst>
              <a:ext uri="{FF2B5EF4-FFF2-40B4-BE49-F238E27FC236}">
                <a16:creationId xmlns="" xmlns:a16="http://schemas.microsoft.com/office/drawing/2014/main" id="{9F1FE7C9-96C6-45EC-2B62-5EBD5ABFDE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938" y="2205038"/>
            <a:ext cx="7858125" cy="350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07CBF284-BDBE-C957-A870-2BEF084328C0}"/>
              </a:ext>
            </a:extLst>
          </p:cNvPr>
          <p:cNvSpPr>
            <a:spLocks noGrp="1"/>
          </p:cNvSpPr>
          <p:nvPr>
            <p:ph type="title"/>
          </p:nvPr>
        </p:nvSpPr>
        <p:spPr>
          <a:xfrm>
            <a:off x="457200" y="533400"/>
            <a:ext cx="8229600" cy="1066800"/>
          </a:xfrm>
        </p:spPr>
        <p:txBody>
          <a:bodyPr/>
          <a:lstStyle/>
          <a:p>
            <a:pPr>
              <a:defRPr/>
            </a:pPr>
            <a:r>
              <a:rPr lang="fr-FR" sz="3200" dirty="0"/>
              <a:t>Exemple : Développement d’une </a:t>
            </a:r>
            <a:r>
              <a:rPr lang="fr-FR" sz="3200" b="1" dirty="0"/>
              <a:t>application mobile de gestion des transports urbains</a:t>
            </a:r>
            <a:endParaRPr lang="fr-FR" sz="3200" dirty="0"/>
          </a:p>
        </p:txBody>
      </p:sp>
      <p:sp>
        <p:nvSpPr>
          <p:cNvPr id="12291" name="Espace réservé du contenu 2">
            <a:extLst>
              <a:ext uri="{FF2B5EF4-FFF2-40B4-BE49-F238E27FC236}">
                <a16:creationId xmlns="" xmlns:a16="http://schemas.microsoft.com/office/drawing/2014/main" id="{C5697886-274E-2457-4FD9-DEBEF9E444BC}"/>
              </a:ext>
            </a:extLst>
          </p:cNvPr>
          <p:cNvSpPr>
            <a:spLocks noGrp="1"/>
          </p:cNvSpPr>
          <p:nvPr>
            <p:ph idx="1"/>
          </p:nvPr>
        </p:nvSpPr>
        <p:spPr/>
        <p:txBody>
          <a:bodyPr/>
          <a:lstStyle/>
          <a:p>
            <a:r>
              <a:rPr lang="fr-FR" altLang="fr-FR" b="1"/>
              <a:t>1. Aspect fonctionnel (réponse à un besoin)</a:t>
            </a:r>
          </a:p>
          <a:p>
            <a:r>
              <a:rPr lang="fr-FR" altLang="fr-FR"/>
              <a:t>Permettre aux usagers de consulter en temps réel les horaires des bus et métros.</a:t>
            </a:r>
          </a:p>
          <a:p>
            <a:r>
              <a:rPr lang="fr-FR" altLang="fr-FR"/>
              <a:t>Fournir un calculateur d’itinéraire avec estimation du temps de trajet.</a:t>
            </a:r>
          </a:p>
          <a:p>
            <a:r>
              <a:rPr lang="fr-FR" altLang="fr-FR"/>
              <a:t>Envoyer des notifications en cas de retard ou perturbation.</a:t>
            </a:r>
          </a:p>
          <a:p>
            <a:r>
              <a:rPr lang="fr-FR" altLang="fr-FR"/>
              <a:t>Intégrer un système de paiement dématérialisé (achat et validation des tickets via l’application).</a:t>
            </a:r>
            <a:br>
              <a:rPr lang="fr-FR" altLang="fr-FR"/>
            </a:br>
            <a:r>
              <a:rPr lang="fr-FR" altLang="fr-FR"/>
              <a:t>  </a:t>
            </a:r>
            <a:r>
              <a:rPr lang="fr-FR" altLang="fr-FR" b="1"/>
              <a:t>But</a:t>
            </a:r>
            <a:r>
              <a:rPr lang="fr-FR" altLang="fr-FR"/>
              <a:t> : améliorer l’expérience des usagers et réduire les files d’attente aux guichets.</a:t>
            </a:r>
          </a:p>
          <a:p>
            <a:endParaRPr lang="fr-FR" altLang="fr-FR"/>
          </a:p>
        </p:txBody>
      </p:sp>
      <p:sp>
        <p:nvSpPr>
          <p:cNvPr id="12292" name="Espace réservé du numéro de diapositive 3">
            <a:extLst>
              <a:ext uri="{FF2B5EF4-FFF2-40B4-BE49-F238E27FC236}">
                <a16:creationId xmlns="" xmlns:a16="http://schemas.microsoft.com/office/drawing/2014/main" id="{DDBD1373-37AA-1F9C-756A-25313D21180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CA41AA4-ACCB-48B1-AEF5-CA8718028D95}" type="slidenum">
              <a:rPr lang="fr-FR" altLang="fr-FR">
                <a:solidFill>
                  <a:srgbClr val="FFFFFF"/>
                </a:solidFill>
              </a:rPr>
              <a:pPr/>
              <a:t>5</a:t>
            </a:fld>
            <a:endParaRPr lang="fr-FR" altLang="fr-FR">
              <a:solidFill>
                <a:srgbClr val="FFFFFF"/>
              </a:solidFill>
            </a:endParaRPr>
          </a:p>
        </p:txBody>
      </p:sp>
      <p:sp>
        <p:nvSpPr>
          <p:cNvPr id="5" name="Flèche : droite 4">
            <a:extLst>
              <a:ext uri="{FF2B5EF4-FFF2-40B4-BE49-F238E27FC236}">
                <a16:creationId xmlns="" xmlns:a16="http://schemas.microsoft.com/office/drawing/2014/main" id="{6C3539DE-9175-897D-A4A8-8C667CBE7035}"/>
              </a:ext>
            </a:extLst>
          </p:cNvPr>
          <p:cNvSpPr/>
          <p:nvPr/>
        </p:nvSpPr>
        <p:spPr>
          <a:xfrm>
            <a:off x="457200" y="5300663"/>
            <a:ext cx="369888" cy="2889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hangingPunct="1">
              <a:defRPr/>
            </a:pPr>
            <a:endParaRPr lang="fr-F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31AE31FF-8DEC-8BEE-F054-8DD7469BAC36}"/>
              </a:ext>
            </a:extLst>
          </p:cNvPr>
          <p:cNvSpPr>
            <a:spLocks noGrp="1"/>
          </p:cNvSpPr>
          <p:nvPr>
            <p:ph type="title"/>
          </p:nvPr>
        </p:nvSpPr>
        <p:spPr/>
        <p:txBody>
          <a:bodyPr/>
          <a:lstStyle/>
          <a:p>
            <a:pPr>
              <a:defRPr/>
            </a:pPr>
            <a:endParaRPr lang="fr-FR"/>
          </a:p>
        </p:txBody>
      </p:sp>
      <p:sp>
        <p:nvSpPr>
          <p:cNvPr id="13315" name="Espace réservé du contenu 2">
            <a:extLst>
              <a:ext uri="{FF2B5EF4-FFF2-40B4-BE49-F238E27FC236}">
                <a16:creationId xmlns="" xmlns:a16="http://schemas.microsoft.com/office/drawing/2014/main" id="{3DD65FBC-393F-AE23-4335-F8F57BAE0944}"/>
              </a:ext>
            </a:extLst>
          </p:cNvPr>
          <p:cNvSpPr>
            <a:spLocks noGrp="1"/>
          </p:cNvSpPr>
          <p:nvPr>
            <p:ph idx="1"/>
          </p:nvPr>
        </p:nvSpPr>
        <p:spPr/>
        <p:txBody>
          <a:bodyPr/>
          <a:lstStyle/>
          <a:p>
            <a:r>
              <a:rPr lang="fr-FR" altLang="fr-FR" b="1"/>
              <a:t>2. Aspect technique (respect des spécifications)</a:t>
            </a:r>
          </a:p>
          <a:p>
            <a:r>
              <a:rPr lang="fr-FR" altLang="fr-FR"/>
              <a:t>Développement natif (iOS + Android) ou hybride (Flutter, React Native).</a:t>
            </a:r>
          </a:p>
          <a:p>
            <a:r>
              <a:rPr lang="fr-FR" altLang="fr-FR"/>
              <a:t>Système de géolocalisation (GPS) pour le suivi des véhicules.</a:t>
            </a:r>
          </a:p>
          <a:p>
            <a:r>
              <a:rPr lang="fr-FR" altLang="fr-FR"/>
              <a:t>Sécurité : chiffrement des données bancaires, conformité aux normes de paiement.</a:t>
            </a:r>
            <a:br>
              <a:rPr lang="fr-FR" altLang="fr-FR"/>
            </a:br>
            <a:r>
              <a:rPr lang="fr-FR" altLang="fr-FR"/>
              <a:t>  </a:t>
            </a:r>
            <a:r>
              <a:rPr lang="fr-FR" altLang="fr-FR" b="1"/>
              <a:t>But</a:t>
            </a:r>
            <a:r>
              <a:rPr lang="fr-FR" altLang="fr-FR"/>
              <a:t> : assurer la fiabilité, la fluidité et la sécurité de l’application.</a:t>
            </a:r>
          </a:p>
          <a:p>
            <a:endParaRPr lang="fr-FR" altLang="fr-FR"/>
          </a:p>
        </p:txBody>
      </p:sp>
      <p:sp>
        <p:nvSpPr>
          <p:cNvPr id="13316" name="Espace réservé du numéro de diapositive 3">
            <a:extLst>
              <a:ext uri="{FF2B5EF4-FFF2-40B4-BE49-F238E27FC236}">
                <a16:creationId xmlns="" xmlns:a16="http://schemas.microsoft.com/office/drawing/2014/main" id="{ABA21F5C-A1BC-1933-3263-FB83EFF6A3B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31F726E-55CA-4D1D-83B5-7944A7E346D0}" type="slidenum">
              <a:rPr lang="fr-FR" altLang="fr-FR">
                <a:solidFill>
                  <a:srgbClr val="FFFFFF"/>
                </a:solidFill>
              </a:rPr>
              <a:pPr/>
              <a:t>6</a:t>
            </a:fld>
            <a:endParaRPr lang="fr-FR" altLang="fr-FR">
              <a:solidFill>
                <a:srgbClr val="FFFFFF"/>
              </a:solidFill>
            </a:endParaRPr>
          </a:p>
        </p:txBody>
      </p:sp>
      <p:sp>
        <p:nvSpPr>
          <p:cNvPr id="5" name="Flèche : droite 4">
            <a:extLst>
              <a:ext uri="{FF2B5EF4-FFF2-40B4-BE49-F238E27FC236}">
                <a16:creationId xmlns="" xmlns:a16="http://schemas.microsoft.com/office/drawing/2014/main" id="{D3E6D688-BF57-D905-8E89-34F00F921D0E}"/>
              </a:ext>
            </a:extLst>
          </p:cNvPr>
          <p:cNvSpPr/>
          <p:nvPr/>
        </p:nvSpPr>
        <p:spPr>
          <a:xfrm>
            <a:off x="457200" y="4508500"/>
            <a:ext cx="369888" cy="2889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eaLnBrk="1" hangingPunct="1">
              <a:defRPr/>
            </a:pPr>
            <a:endParaRPr lang="fr-F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49B79CD4-930C-A1C0-6C55-FD4ACC59351E}"/>
              </a:ext>
            </a:extLst>
          </p:cNvPr>
          <p:cNvSpPr>
            <a:spLocks noGrp="1"/>
          </p:cNvSpPr>
          <p:nvPr>
            <p:ph type="title"/>
          </p:nvPr>
        </p:nvSpPr>
        <p:spPr/>
        <p:txBody>
          <a:bodyPr/>
          <a:lstStyle/>
          <a:p>
            <a:pPr>
              <a:defRPr/>
            </a:pPr>
            <a:endParaRPr lang="fr-FR"/>
          </a:p>
        </p:txBody>
      </p:sp>
      <p:sp>
        <p:nvSpPr>
          <p:cNvPr id="14339" name="Espace réservé du contenu 2">
            <a:extLst>
              <a:ext uri="{FF2B5EF4-FFF2-40B4-BE49-F238E27FC236}">
                <a16:creationId xmlns="" xmlns:a16="http://schemas.microsoft.com/office/drawing/2014/main" id="{FB178089-DDBC-334B-34A8-067405615287}"/>
              </a:ext>
            </a:extLst>
          </p:cNvPr>
          <p:cNvSpPr>
            <a:spLocks noGrp="1"/>
          </p:cNvSpPr>
          <p:nvPr>
            <p:ph idx="1"/>
          </p:nvPr>
        </p:nvSpPr>
        <p:spPr/>
        <p:txBody>
          <a:bodyPr/>
          <a:lstStyle/>
          <a:p>
            <a:r>
              <a:rPr lang="fr-FR" altLang="fr-FR" b="1"/>
              <a:t>3. Aspect délais (respect du calendrier)</a:t>
            </a:r>
          </a:p>
          <a:p>
            <a:r>
              <a:rPr lang="fr-FR" altLang="fr-FR"/>
              <a:t>Planification type :</a:t>
            </a:r>
          </a:p>
          <a:p>
            <a:r>
              <a:rPr lang="fr-FR" altLang="fr-FR"/>
              <a:t>Étude et cadrage du projet : </a:t>
            </a:r>
            <a:r>
              <a:rPr lang="fr-FR" altLang="fr-FR" b="1"/>
              <a:t>1,5 mois</a:t>
            </a:r>
            <a:r>
              <a:rPr lang="fr-FR" altLang="fr-FR"/>
              <a:t>.</a:t>
            </a:r>
          </a:p>
          <a:p>
            <a:r>
              <a:rPr lang="fr-FR" altLang="fr-FR"/>
              <a:t>Développement d’un prototype (MVP) : </a:t>
            </a:r>
            <a:r>
              <a:rPr lang="fr-FR" altLang="fr-FR" b="1"/>
              <a:t>3 mois</a:t>
            </a:r>
            <a:r>
              <a:rPr lang="fr-FR" altLang="fr-FR"/>
              <a:t>.</a:t>
            </a:r>
          </a:p>
          <a:p>
            <a:r>
              <a:rPr lang="fr-FR" altLang="fr-FR"/>
              <a:t>Tests avec un groupe  : </a:t>
            </a:r>
            <a:r>
              <a:rPr lang="fr-FR" altLang="fr-FR" b="1"/>
              <a:t>1 mois</a:t>
            </a:r>
            <a:r>
              <a:rPr lang="fr-FR" altLang="fr-FR"/>
              <a:t>.</a:t>
            </a:r>
          </a:p>
          <a:p>
            <a:r>
              <a:rPr lang="fr-FR" altLang="fr-FR"/>
              <a:t>Déploiement progressif auprès du public : </a:t>
            </a:r>
            <a:r>
              <a:rPr lang="fr-FR" altLang="fr-FR" b="1"/>
              <a:t>6 mois au total</a:t>
            </a:r>
            <a:r>
              <a:rPr lang="fr-FR" altLang="fr-FR"/>
              <a:t>.</a:t>
            </a:r>
            <a:br>
              <a:rPr lang="fr-FR" altLang="fr-FR"/>
            </a:br>
            <a:r>
              <a:rPr lang="fr-FR" altLang="fr-FR"/>
              <a:t> </a:t>
            </a:r>
            <a:r>
              <a:rPr lang="fr-FR" altLang="fr-FR" b="1"/>
              <a:t>But</a:t>
            </a:r>
            <a:r>
              <a:rPr lang="fr-FR" altLang="fr-FR"/>
              <a:t> : lancer l’application avant l’ouverture d’un grand événement (ex. : Coupe du Monde, JO, etc.).</a:t>
            </a:r>
          </a:p>
          <a:p>
            <a:endParaRPr lang="fr-FR" altLang="fr-FR"/>
          </a:p>
        </p:txBody>
      </p:sp>
      <p:sp>
        <p:nvSpPr>
          <p:cNvPr id="14340" name="Espace réservé du numéro de diapositive 3">
            <a:extLst>
              <a:ext uri="{FF2B5EF4-FFF2-40B4-BE49-F238E27FC236}">
                <a16:creationId xmlns="" xmlns:a16="http://schemas.microsoft.com/office/drawing/2014/main" id="{1844C9BB-615E-E8EC-37DE-EB748C08C8A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E1DF26B-4BBB-4B52-A5FE-3E599DCDEBBF}" type="slidenum">
              <a:rPr lang="fr-FR" altLang="fr-FR">
                <a:solidFill>
                  <a:srgbClr val="FFFFFF"/>
                </a:solidFill>
              </a:rPr>
              <a:pPr/>
              <a:t>7</a:t>
            </a:fld>
            <a:endParaRPr lang="fr-FR" altLang="fr-FR">
              <a:solidFill>
                <a:srgbClr val="FFFFFF"/>
              </a:solidFill>
            </a:endParaRPr>
          </a:p>
        </p:txBody>
      </p:sp>
      <p:pic>
        <p:nvPicPr>
          <p:cNvPr id="14341" name="Image 5">
            <a:extLst>
              <a:ext uri="{FF2B5EF4-FFF2-40B4-BE49-F238E27FC236}">
                <a16:creationId xmlns="" xmlns:a16="http://schemas.microsoft.com/office/drawing/2014/main" id="{60A90338-E651-179D-3131-FB6A96A6EF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4581525"/>
            <a:ext cx="409575"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2AA32457-00C6-CD2F-87AF-AFC628887F9A}"/>
              </a:ext>
            </a:extLst>
          </p:cNvPr>
          <p:cNvSpPr>
            <a:spLocks noGrp="1"/>
          </p:cNvSpPr>
          <p:nvPr>
            <p:ph type="title"/>
          </p:nvPr>
        </p:nvSpPr>
        <p:spPr/>
        <p:txBody>
          <a:bodyPr/>
          <a:lstStyle/>
          <a:p>
            <a:pPr>
              <a:defRPr/>
            </a:pPr>
            <a:endParaRPr lang="fr-FR"/>
          </a:p>
        </p:txBody>
      </p:sp>
      <p:sp>
        <p:nvSpPr>
          <p:cNvPr id="15363" name="Espace réservé du contenu 2">
            <a:extLst>
              <a:ext uri="{FF2B5EF4-FFF2-40B4-BE49-F238E27FC236}">
                <a16:creationId xmlns="" xmlns:a16="http://schemas.microsoft.com/office/drawing/2014/main" id="{BDE5FD98-E57C-C16C-472C-963C540BEE49}"/>
              </a:ext>
            </a:extLst>
          </p:cNvPr>
          <p:cNvSpPr>
            <a:spLocks noGrp="1"/>
          </p:cNvSpPr>
          <p:nvPr>
            <p:ph idx="1"/>
          </p:nvPr>
        </p:nvSpPr>
        <p:spPr/>
        <p:txBody>
          <a:bodyPr/>
          <a:lstStyle/>
          <a:p>
            <a:r>
              <a:rPr lang="fr-FR" altLang="fr-FR" b="1"/>
              <a:t>4. Aspect coûts (respect du budget)</a:t>
            </a:r>
          </a:p>
          <a:p>
            <a:r>
              <a:rPr lang="fr-FR" altLang="fr-FR"/>
              <a:t>Développement et design de l’application : </a:t>
            </a:r>
            <a:r>
              <a:rPr lang="fr-FR" altLang="fr-FR" b="1"/>
              <a:t>120 000 DH</a:t>
            </a:r>
            <a:endParaRPr lang="fr-FR" altLang="fr-FR"/>
          </a:p>
          <a:p>
            <a:r>
              <a:rPr lang="fr-FR" altLang="fr-FR"/>
              <a:t>Infrastructure cloud et serveurs : </a:t>
            </a:r>
            <a:r>
              <a:rPr lang="fr-FR" altLang="fr-FR" b="1"/>
              <a:t>30 000 DH/an</a:t>
            </a:r>
            <a:r>
              <a:rPr lang="fr-FR" altLang="fr-FR"/>
              <a:t>.</a:t>
            </a:r>
          </a:p>
          <a:p>
            <a:r>
              <a:rPr lang="fr-FR" altLang="fr-FR"/>
              <a:t>Maintenance et support technique : </a:t>
            </a:r>
            <a:r>
              <a:rPr lang="fr-FR" altLang="fr-FR" b="1"/>
              <a:t>30 000 DH/an</a:t>
            </a:r>
            <a:r>
              <a:rPr lang="fr-FR" altLang="fr-FR"/>
              <a:t>.</a:t>
            </a:r>
          </a:p>
          <a:p>
            <a:r>
              <a:rPr lang="fr-FR" altLang="fr-FR"/>
              <a:t>Communication et sensibilisation (campagnes d’information) : </a:t>
            </a:r>
            <a:r>
              <a:rPr lang="fr-FR" altLang="fr-FR" b="1"/>
              <a:t>20 000 DH</a:t>
            </a:r>
            <a:r>
              <a:rPr lang="fr-FR" altLang="fr-FR"/>
              <a:t>.</a:t>
            </a:r>
            <a:br>
              <a:rPr lang="fr-FR" altLang="fr-FR"/>
            </a:br>
            <a:r>
              <a:rPr lang="fr-FR" altLang="fr-FR"/>
              <a:t> </a:t>
            </a:r>
            <a:r>
              <a:rPr lang="fr-FR" altLang="fr-FR" b="1"/>
              <a:t>Budget initial : environ 200 000 DH</a:t>
            </a:r>
            <a:endParaRPr lang="fr-FR" altLang="fr-FR"/>
          </a:p>
          <a:p>
            <a:endParaRPr lang="fr-FR" altLang="fr-FR"/>
          </a:p>
        </p:txBody>
      </p:sp>
      <p:sp>
        <p:nvSpPr>
          <p:cNvPr id="15364" name="Espace réservé du numéro de diapositive 3">
            <a:extLst>
              <a:ext uri="{FF2B5EF4-FFF2-40B4-BE49-F238E27FC236}">
                <a16:creationId xmlns="" xmlns:a16="http://schemas.microsoft.com/office/drawing/2014/main" id="{15645514-C0D8-E6BF-8563-85F8BE8E6E5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D42D403-1A62-4866-994B-08F55AAF4ED5}" type="slidenum">
              <a:rPr lang="fr-FR" altLang="fr-FR">
                <a:solidFill>
                  <a:srgbClr val="FFFFFF"/>
                </a:solidFill>
              </a:rPr>
              <a:pPr/>
              <a:t>8</a:t>
            </a:fld>
            <a:endParaRPr lang="fr-FR" altLang="fr-FR">
              <a:solidFill>
                <a:srgbClr val="FFFFFF"/>
              </a:solidFill>
            </a:endParaRPr>
          </a:p>
        </p:txBody>
      </p:sp>
      <p:pic>
        <p:nvPicPr>
          <p:cNvPr id="15365" name="Image 5">
            <a:extLst>
              <a:ext uri="{FF2B5EF4-FFF2-40B4-BE49-F238E27FC236}">
                <a16:creationId xmlns="" xmlns:a16="http://schemas.microsoft.com/office/drawing/2014/main" id="{F3CDA1C2-56C2-6475-3439-D972BB12C5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413" y="4149725"/>
            <a:ext cx="409575"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a:extLst>
              <a:ext uri="{FF2B5EF4-FFF2-40B4-BE49-F238E27FC236}">
                <a16:creationId xmlns="" xmlns:a16="http://schemas.microsoft.com/office/drawing/2014/main" id="{457E728C-7CD9-1745-31DF-F3ECA98BD457}"/>
              </a:ext>
            </a:extLst>
          </p:cNvPr>
          <p:cNvSpPr>
            <a:spLocks noGrp="1" noChangeArrowheads="1"/>
          </p:cNvSpPr>
          <p:nvPr>
            <p:ph type="title"/>
          </p:nvPr>
        </p:nvSpPr>
        <p:spPr/>
        <p:txBody>
          <a:bodyPr/>
          <a:lstStyle/>
          <a:p>
            <a:pPr eaLnBrk="1" fontAlgn="auto" hangingPunct="1">
              <a:spcAft>
                <a:spcPts val="0"/>
              </a:spcAft>
              <a:defRPr/>
            </a:pPr>
            <a:r>
              <a:rPr lang="fr-FR" b="1"/>
              <a:t>	II-La Gestion de projets.</a:t>
            </a:r>
          </a:p>
        </p:txBody>
      </p:sp>
      <p:sp>
        <p:nvSpPr>
          <p:cNvPr id="16387" name="Rectangle 3">
            <a:extLst>
              <a:ext uri="{FF2B5EF4-FFF2-40B4-BE49-F238E27FC236}">
                <a16:creationId xmlns="" xmlns:a16="http://schemas.microsoft.com/office/drawing/2014/main" id="{3640ED68-B059-8C15-FBFC-DE21C8B96D43}"/>
              </a:ext>
            </a:extLst>
          </p:cNvPr>
          <p:cNvSpPr>
            <a:spLocks noGrp="1"/>
          </p:cNvSpPr>
          <p:nvPr>
            <p:ph idx="1"/>
          </p:nvPr>
        </p:nvSpPr>
        <p:spPr/>
        <p:txBody>
          <a:bodyPr/>
          <a:lstStyle/>
          <a:p>
            <a:pPr eaLnBrk="1" hangingPunct="1"/>
            <a:r>
              <a:rPr lang="fr-FR" altLang="fr-FR" sz="2000">
                <a:latin typeface="Times New Roman" panose="02020603050405020304" pitchFamily="18" charset="0"/>
              </a:rPr>
              <a:t>La gestion de projet est une démarche visant à structurer, assurer et optimiser le bon déroulement d'un projet,</a:t>
            </a:r>
          </a:p>
          <a:p>
            <a:pPr eaLnBrk="1" hangingPunct="1"/>
            <a:r>
              <a:rPr lang="fr-FR" altLang="fr-FR" sz="2000">
                <a:latin typeface="Times New Roman" panose="02020603050405020304" pitchFamily="18" charset="0"/>
              </a:rPr>
              <a:t>L'objectif est d'obtenir un résultat conforme à des normes de qualité et de performances prédéfinies, pour le moindre coût et dans le meilleur délai possible.</a:t>
            </a:r>
          </a:p>
          <a:p>
            <a:pPr eaLnBrk="1" hangingPunct="1"/>
            <a:endParaRPr lang="fr-FR" altLang="fr-FR" sz="2000">
              <a:latin typeface="Times New Roman" panose="02020603050405020304" pitchFamily="18" charset="0"/>
            </a:endParaRPr>
          </a:p>
          <a:p>
            <a:pPr eaLnBrk="1" hangingPunct="1"/>
            <a:endParaRPr lang="fr-FR" altLang="fr-FR">
              <a:latin typeface="Times New Roman" panose="02020603050405020304" pitchFamily="18" charset="0"/>
            </a:endParaRPr>
          </a:p>
        </p:txBody>
      </p:sp>
      <p:sp>
        <p:nvSpPr>
          <p:cNvPr id="16388" name="Espace réservé du numéro de diapositive 5">
            <a:extLst>
              <a:ext uri="{FF2B5EF4-FFF2-40B4-BE49-F238E27FC236}">
                <a16:creationId xmlns="" xmlns:a16="http://schemas.microsoft.com/office/drawing/2014/main" id="{B2237790-9954-1563-7223-21CCF0DE3AB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D2CC4469-702C-48FC-A846-20F416494589}" type="slidenum">
              <a:rPr lang="fr-FR" altLang="fr-FR" sz="1400"/>
              <a:pPr>
                <a:spcBef>
                  <a:spcPct val="0"/>
                </a:spcBef>
                <a:buClrTx/>
                <a:buSzTx/>
                <a:buFontTx/>
                <a:buNone/>
              </a:pPr>
              <a:t>9</a:t>
            </a:fld>
            <a:endParaRPr lang="fr-FR" altLang="fr-FR" sz="1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a:extLst>
              <a:ext uri="{FF2B5EF4-FFF2-40B4-BE49-F238E27FC236}">
                <a16:creationId xmlns="" xmlns:a16="http://schemas.microsoft.com/office/drawing/2014/main" id="{E3419BE4-6564-7FB7-3555-7DBC566AF9D5}"/>
              </a:ext>
            </a:extLst>
          </p:cNvPr>
          <p:cNvSpPr>
            <a:spLocks noGrp="1" noChangeArrowheads="1"/>
          </p:cNvSpPr>
          <p:nvPr>
            <p:ph type="title"/>
          </p:nvPr>
        </p:nvSpPr>
        <p:spPr/>
        <p:txBody>
          <a:bodyPr>
            <a:normAutofit fontScale="90000"/>
          </a:bodyPr>
          <a:lstStyle/>
          <a:p>
            <a:pPr eaLnBrk="1" fontAlgn="auto" hangingPunct="1">
              <a:spcAft>
                <a:spcPts val="0"/>
              </a:spcAft>
              <a:defRPr/>
            </a:pPr>
            <a:r>
              <a:rPr lang="fr-FR"/>
              <a:t>Contraintes</a:t>
            </a:r>
            <a:r>
              <a:rPr lang="fr-CA"/>
              <a:t> dans la gestion d’un projet </a:t>
            </a:r>
            <a:r>
              <a:rPr lang="fr-FR"/>
              <a:t> </a:t>
            </a:r>
          </a:p>
        </p:txBody>
      </p:sp>
      <p:sp>
        <p:nvSpPr>
          <p:cNvPr id="17411" name="Rectangle 3">
            <a:extLst>
              <a:ext uri="{FF2B5EF4-FFF2-40B4-BE49-F238E27FC236}">
                <a16:creationId xmlns="" xmlns:a16="http://schemas.microsoft.com/office/drawing/2014/main" id="{1B35709F-41E3-E764-BBE9-D1A67C2FFF1B}"/>
              </a:ext>
            </a:extLst>
          </p:cNvPr>
          <p:cNvSpPr>
            <a:spLocks noGrp="1"/>
          </p:cNvSpPr>
          <p:nvPr>
            <p:ph idx="1"/>
          </p:nvPr>
        </p:nvSpPr>
        <p:spPr>
          <a:xfrm>
            <a:off x="684213" y="2273300"/>
            <a:ext cx="6562725" cy="3849688"/>
          </a:xfrm>
        </p:spPr>
        <p:txBody>
          <a:bodyPr/>
          <a:lstStyle/>
          <a:p>
            <a:pPr eaLnBrk="1" hangingPunct="1"/>
            <a:r>
              <a:rPr lang="fr-CA" altLang="fr-FR"/>
              <a:t>Temps .</a:t>
            </a:r>
          </a:p>
          <a:p>
            <a:pPr eaLnBrk="1" hangingPunct="1"/>
            <a:r>
              <a:rPr lang="fr-CA" altLang="fr-FR"/>
              <a:t>Coût .</a:t>
            </a:r>
          </a:p>
          <a:p>
            <a:pPr eaLnBrk="1" hangingPunct="1"/>
            <a:r>
              <a:rPr lang="fr-CA" altLang="fr-FR"/>
              <a:t>qualité.</a:t>
            </a:r>
            <a:endParaRPr lang="fr-FR" altLang="fr-FR"/>
          </a:p>
        </p:txBody>
      </p:sp>
      <p:sp>
        <p:nvSpPr>
          <p:cNvPr id="17412" name="Espace réservé du numéro de diapositive 5">
            <a:extLst>
              <a:ext uri="{FF2B5EF4-FFF2-40B4-BE49-F238E27FC236}">
                <a16:creationId xmlns="" xmlns:a16="http://schemas.microsoft.com/office/drawing/2014/main" id="{6F63FD5E-B326-DC5E-AA36-49F8CFB2C43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F420DB13-3369-44A7-AA69-B5ED5E1DE41F}" type="slidenum">
              <a:rPr lang="fr-FR" altLang="fr-FR" sz="1400"/>
              <a:pPr>
                <a:spcBef>
                  <a:spcPct val="0"/>
                </a:spcBef>
                <a:buClrTx/>
                <a:buSzTx/>
                <a:buFontTx/>
                <a:buNone/>
              </a:pPr>
              <a:t>10</a:t>
            </a:fld>
            <a:endParaRPr lang="fr-FR" altLang="fr-FR" sz="1400"/>
          </a:p>
        </p:txBody>
      </p:sp>
      <p:pic>
        <p:nvPicPr>
          <p:cNvPr id="17413" name="Image 4">
            <a:extLst>
              <a:ext uri="{FF2B5EF4-FFF2-40B4-BE49-F238E27FC236}">
                <a16:creationId xmlns="" xmlns:a16="http://schemas.microsoft.com/office/drawing/2014/main" id="{21DFA59D-2713-ABF1-2053-A77A3888E3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89275" y="1524000"/>
            <a:ext cx="4530725" cy="367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a:extLst>
              <a:ext uri="{FF2B5EF4-FFF2-40B4-BE49-F238E27FC236}">
                <a16:creationId xmlns="" xmlns:a16="http://schemas.microsoft.com/office/drawing/2014/main" id="{B0A374CB-7D45-639F-8F06-459BCF9D537D}"/>
              </a:ext>
            </a:extLst>
          </p:cNvPr>
          <p:cNvSpPr>
            <a:spLocks noGrp="1" noChangeArrowheads="1"/>
          </p:cNvSpPr>
          <p:nvPr>
            <p:ph type="title"/>
          </p:nvPr>
        </p:nvSpPr>
        <p:spPr/>
        <p:txBody>
          <a:bodyPr>
            <a:normAutofit fontScale="90000"/>
          </a:bodyPr>
          <a:lstStyle/>
          <a:p>
            <a:pPr eaLnBrk="1" fontAlgn="auto" hangingPunct="1">
              <a:spcAft>
                <a:spcPts val="0"/>
              </a:spcAft>
              <a:defRPr/>
            </a:pPr>
            <a:r>
              <a:rPr lang="fr-FR" dirty="0"/>
              <a:t>III-Caractéristiques</a:t>
            </a:r>
            <a:r>
              <a:rPr lang="fr-CA" dirty="0"/>
              <a:t> générales d’un projet informatique </a:t>
            </a:r>
            <a:endParaRPr lang="fr-FR" dirty="0"/>
          </a:p>
        </p:txBody>
      </p:sp>
      <p:sp>
        <p:nvSpPr>
          <p:cNvPr id="18435" name="Rectangle 3">
            <a:extLst>
              <a:ext uri="{FF2B5EF4-FFF2-40B4-BE49-F238E27FC236}">
                <a16:creationId xmlns="" xmlns:a16="http://schemas.microsoft.com/office/drawing/2014/main" id="{DD3D3897-F5FC-97BB-3128-AEE918F725EF}"/>
              </a:ext>
            </a:extLst>
          </p:cNvPr>
          <p:cNvSpPr>
            <a:spLocks noGrp="1"/>
          </p:cNvSpPr>
          <p:nvPr>
            <p:ph idx="1"/>
          </p:nvPr>
        </p:nvSpPr>
        <p:spPr>
          <a:xfrm>
            <a:off x="1403350" y="2060575"/>
            <a:ext cx="6923088" cy="4525963"/>
          </a:xfrm>
        </p:spPr>
        <p:txBody>
          <a:bodyPr/>
          <a:lstStyle/>
          <a:p>
            <a:pPr eaLnBrk="1" hangingPunct="1"/>
            <a:r>
              <a:rPr lang="fr-CA" altLang="fr-FR"/>
              <a:t>objectifs .</a:t>
            </a:r>
          </a:p>
          <a:p>
            <a:pPr eaLnBrk="1" hangingPunct="1"/>
            <a:r>
              <a:rPr lang="fr-CA" altLang="fr-FR"/>
              <a:t>résultat ou produit attendu .</a:t>
            </a:r>
          </a:p>
          <a:p>
            <a:pPr eaLnBrk="1" hangingPunct="1"/>
            <a:r>
              <a:rPr lang="fr-CA" altLang="fr-FR"/>
              <a:t>durée .</a:t>
            </a:r>
          </a:p>
          <a:p>
            <a:pPr eaLnBrk="1" hangingPunct="1"/>
            <a:r>
              <a:rPr lang="fr-CA" altLang="fr-FR"/>
              <a:t>activités .</a:t>
            </a:r>
          </a:p>
          <a:p>
            <a:pPr eaLnBrk="1" hangingPunct="1"/>
            <a:r>
              <a:rPr lang="fr-CA" altLang="fr-FR"/>
              <a:t>ressources.</a:t>
            </a:r>
            <a:r>
              <a:rPr lang="fr-FR" altLang="fr-FR"/>
              <a:t> </a:t>
            </a:r>
          </a:p>
        </p:txBody>
      </p:sp>
      <p:sp>
        <p:nvSpPr>
          <p:cNvPr id="18436" name="Espace réservé du numéro de diapositive 5">
            <a:extLst>
              <a:ext uri="{FF2B5EF4-FFF2-40B4-BE49-F238E27FC236}">
                <a16:creationId xmlns="" xmlns:a16="http://schemas.microsoft.com/office/drawing/2014/main" id="{6F2783CB-EDB6-14EF-3D0E-19797E6B59A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EE308D98-0FC3-41E3-B56C-809ED19E1992}" type="slidenum">
              <a:rPr lang="fr-FR" altLang="fr-FR" sz="1400"/>
              <a:pPr>
                <a:spcBef>
                  <a:spcPct val="0"/>
                </a:spcBef>
                <a:buClrTx/>
                <a:buSzTx/>
                <a:buFontTx/>
                <a:buNone/>
              </a:pPr>
              <a:t>11</a:t>
            </a:fld>
            <a:endParaRPr lang="fr-FR" altLang="fr-FR" sz="14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D668AE63-F6C2-CBBA-F943-D8DF0EE7D434}"/>
              </a:ext>
            </a:extLst>
          </p:cNvPr>
          <p:cNvSpPr>
            <a:spLocks noGrp="1"/>
          </p:cNvSpPr>
          <p:nvPr>
            <p:ph type="title"/>
          </p:nvPr>
        </p:nvSpPr>
        <p:spPr/>
        <p:txBody>
          <a:bodyPr/>
          <a:lstStyle/>
          <a:p>
            <a:pPr>
              <a:defRPr/>
            </a:pPr>
            <a:r>
              <a:rPr lang="fr-FR" sz="2400" dirty="0"/>
              <a:t>Exemple : Développement d’une </a:t>
            </a:r>
            <a:r>
              <a:rPr lang="fr-FR" sz="2400" b="1" dirty="0"/>
              <a:t>application mobile de réservation de salles de réunion</a:t>
            </a:r>
            <a:r>
              <a:rPr lang="fr-FR" sz="2400" dirty="0"/>
              <a:t> pour une entreprise</a:t>
            </a:r>
          </a:p>
        </p:txBody>
      </p:sp>
      <p:sp>
        <p:nvSpPr>
          <p:cNvPr id="19459" name="Espace réservé du contenu 2">
            <a:extLst>
              <a:ext uri="{FF2B5EF4-FFF2-40B4-BE49-F238E27FC236}">
                <a16:creationId xmlns="" xmlns:a16="http://schemas.microsoft.com/office/drawing/2014/main" id="{33A1287A-D5DD-F58F-0433-9061C5D8E5F7}"/>
              </a:ext>
            </a:extLst>
          </p:cNvPr>
          <p:cNvSpPr>
            <a:spLocks noGrp="1"/>
          </p:cNvSpPr>
          <p:nvPr>
            <p:ph idx="1"/>
          </p:nvPr>
        </p:nvSpPr>
        <p:spPr/>
        <p:txBody>
          <a:bodyPr/>
          <a:lstStyle/>
          <a:p>
            <a:r>
              <a:rPr lang="fr-FR" altLang="fr-FR" b="1"/>
              <a:t>1. Objectifs</a:t>
            </a:r>
          </a:p>
          <a:p>
            <a:r>
              <a:rPr lang="fr-FR" altLang="fr-FR"/>
              <a:t>Simplifier la gestion des réservations de salles.</a:t>
            </a:r>
          </a:p>
          <a:p>
            <a:r>
              <a:rPr lang="fr-FR" altLang="fr-FR"/>
              <a:t>Éviter les conflits de planning entre services.</a:t>
            </a:r>
          </a:p>
          <a:p>
            <a:r>
              <a:rPr lang="fr-FR" altLang="fr-FR"/>
              <a:t>Optimiser l’utilisation des espaces disponibles.</a:t>
            </a:r>
          </a:p>
          <a:p>
            <a:r>
              <a:rPr lang="fr-FR" altLang="fr-FR"/>
              <a:t>👉 </a:t>
            </a:r>
            <a:r>
              <a:rPr lang="fr-FR" altLang="fr-FR" b="1"/>
              <a:t>Pourquoi ?</a:t>
            </a:r>
            <a:r>
              <a:rPr lang="fr-FR" altLang="fr-FR"/>
              <a:t> → Pour améliorer l’organisation interne et gagner du temps.</a:t>
            </a:r>
          </a:p>
          <a:p>
            <a:endParaRPr lang="fr-FR" altLang="fr-FR"/>
          </a:p>
        </p:txBody>
      </p:sp>
      <p:sp>
        <p:nvSpPr>
          <p:cNvPr id="19460" name="Espace réservé du numéro de diapositive 3">
            <a:extLst>
              <a:ext uri="{FF2B5EF4-FFF2-40B4-BE49-F238E27FC236}">
                <a16:creationId xmlns="" xmlns:a16="http://schemas.microsoft.com/office/drawing/2014/main" id="{4489C37B-97BD-F5C0-6238-37439FD1B1F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36E5AA9-26C3-4EDC-8B18-85BA3363753B}" type="slidenum">
              <a:rPr lang="fr-FR" altLang="fr-FR">
                <a:solidFill>
                  <a:srgbClr val="FFFFFF"/>
                </a:solidFill>
              </a:rPr>
              <a:pPr/>
              <a:t>12</a:t>
            </a:fld>
            <a:endParaRPr lang="fr-FR" altLang="fr-FR">
              <a:solidFill>
                <a:srgbClr val="FFFFFF"/>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A81B4A2D-A479-3157-2ECA-98223E3B9C52}"/>
              </a:ext>
            </a:extLst>
          </p:cNvPr>
          <p:cNvSpPr>
            <a:spLocks noGrp="1"/>
          </p:cNvSpPr>
          <p:nvPr>
            <p:ph type="title"/>
          </p:nvPr>
        </p:nvSpPr>
        <p:spPr/>
        <p:txBody>
          <a:bodyPr/>
          <a:lstStyle/>
          <a:p>
            <a:pPr>
              <a:defRPr/>
            </a:pPr>
            <a:endParaRPr lang="fr-FR"/>
          </a:p>
        </p:txBody>
      </p:sp>
      <p:sp>
        <p:nvSpPr>
          <p:cNvPr id="20483" name="Espace réservé du contenu 2">
            <a:extLst>
              <a:ext uri="{FF2B5EF4-FFF2-40B4-BE49-F238E27FC236}">
                <a16:creationId xmlns="" xmlns:a16="http://schemas.microsoft.com/office/drawing/2014/main" id="{56869E56-4BBF-8EA6-591F-3BEA4A9E3A76}"/>
              </a:ext>
            </a:extLst>
          </p:cNvPr>
          <p:cNvSpPr>
            <a:spLocks noGrp="1"/>
          </p:cNvSpPr>
          <p:nvPr>
            <p:ph idx="1"/>
          </p:nvPr>
        </p:nvSpPr>
        <p:spPr/>
        <p:txBody>
          <a:bodyPr/>
          <a:lstStyle/>
          <a:p>
            <a:r>
              <a:rPr lang="fr-FR" altLang="fr-FR" b="1"/>
              <a:t>2. Résultat ou produit attendu</a:t>
            </a:r>
          </a:p>
          <a:p>
            <a:r>
              <a:rPr lang="fr-FR" altLang="fr-FR"/>
              <a:t>Une application mobile et web où les employés peuvent consulter la disponibilité des salles et réserver en quelques clics.</a:t>
            </a:r>
          </a:p>
          <a:p>
            <a:r>
              <a:rPr lang="fr-FR" altLang="fr-FR"/>
              <a:t>Système de notifications et rappels de réservation.</a:t>
            </a:r>
          </a:p>
          <a:p>
            <a:r>
              <a:rPr lang="fr-FR" altLang="fr-FR"/>
              <a:t>Tableaux de bord pour la direction (statistiques d’utilisation).</a:t>
            </a:r>
          </a:p>
          <a:p>
            <a:r>
              <a:rPr lang="fr-FR" altLang="fr-FR"/>
              <a:t>👉 </a:t>
            </a:r>
            <a:r>
              <a:rPr lang="fr-FR" altLang="fr-FR" b="1"/>
              <a:t>Quoi ?</a:t>
            </a:r>
            <a:r>
              <a:rPr lang="fr-FR" altLang="fr-FR"/>
              <a:t> → Le livrable est une application fonctionnelle prête à l’emploi.</a:t>
            </a:r>
          </a:p>
          <a:p>
            <a:endParaRPr lang="fr-FR" altLang="fr-FR"/>
          </a:p>
        </p:txBody>
      </p:sp>
      <p:sp>
        <p:nvSpPr>
          <p:cNvPr id="20484" name="Espace réservé du numéro de diapositive 3">
            <a:extLst>
              <a:ext uri="{FF2B5EF4-FFF2-40B4-BE49-F238E27FC236}">
                <a16:creationId xmlns="" xmlns:a16="http://schemas.microsoft.com/office/drawing/2014/main" id="{77827928-3FEB-620A-F5E8-3AF8538DC0D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E57097C-0564-4C3A-BCD9-6AD7BCBEAC28}" type="slidenum">
              <a:rPr lang="fr-FR" altLang="fr-FR">
                <a:solidFill>
                  <a:srgbClr val="FFFFFF"/>
                </a:solidFill>
              </a:rPr>
              <a:pPr/>
              <a:t>13</a:t>
            </a:fld>
            <a:endParaRPr lang="fr-FR" altLang="fr-FR">
              <a:solidFill>
                <a:srgbClr val="FFFFFF"/>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BC2C495C-0F23-FAE5-96EC-D3C0542BE35C}"/>
              </a:ext>
            </a:extLst>
          </p:cNvPr>
          <p:cNvSpPr>
            <a:spLocks noGrp="1"/>
          </p:cNvSpPr>
          <p:nvPr>
            <p:ph type="title"/>
          </p:nvPr>
        </p:nvSpPr>
        <p:spPr/>
        <p:txBody>
          <a:bodyPr/>
          <a:lstStyle/>
          <a:p>
            <a:pPr>
              <a:defRPr/>
            </a:pPr>
            <a:endParaRPr lang="fr-FR"/>
          </a:p>
        </p:txBody>
      </p:sp>
      <p:sp>
        <p:nvSpPr>
          <p:cNvPr id="21507" name="Espace réservé du contenu 2">
            <a:extLst>
              <a:ext uri="{FF2B5EF4-FFF2-40B4-BE49-F238E27FC236}">
                <a16:creationId xmlns="" xmlns:a16="http://schemas.microsoft.com/office/drawing/2014/main" id="{87EA19C6-5DB6-B9A8-C7E0-AB055E95F71C}"/>
              </a:ext>
            </a:extLst>
          </p:cNvPr>
          <p:cNvSpPr>
            <a:spLocks noGrp="1"/>
          </p:cNvSpPr>
          <p:nvPr>
            <p:ph idx="1"/>
          </p:nvPr>
        </p:nvSpPr>
        <p:spPr/>
        <p:txBody>
          <a:bodyPr/>
          <a:lstStyle/>
          <a:p>
            <a:r>
              <a:rPr lang="fr-FR" altLang="fr-FR" b="1"/>
              <a:t>3. Durée</a:t>
            </a:r>
          </a:p>
          <a:p>
            <a:r>
              <a:rPr lang="fr-FR" altLang="fr-FR"/>
              <a:t>Étude des besoins : </a:t>
            </a:r>
            <a:r>
              <a:rPr lang="fr-FR" altLang="fr-FR" b="1"/>
              <a:t>1 semaine</a:t>
            </a:r>
            <a:r>
              <a:rPr lang="fr-FR" altLang="fr-FR"/>
              <a:t>.</a:t>
            </a:r>
          </a:p>
          <a:p>
            <a:r>
              <a:rPr lang="fr-FR" altLang="fr-FR"/>
              <a:t>Conception et développement : </a:t>
            </a:r>
            <a:r>
              <a:rPr lang="fr-FR" altLang="fr-FR" b="1"/>
              <a:t>1 mois</a:t>
            </a:r>
            <a:r>
              <a:rPr lang="fr-FR" altLang="fr-FR"/>
              <a:t>.</a:t>
            </a:r>
          </a:p>
          <a:p>
            <a:r>
              <a:rPr lang="fr-FR" altLang="fr-FR"/>
              <a:t>Tests et mise en service : </a:t>
            </a:r>
            <a:r>
              <a:rPr lang="fr-FR" altLang="fr-FR" b="1"/>
              <a:t>1 semaine</a:t>
            </a:r>
            <a:r>
              <a:rPr lang="fr-FR" altLang="fr-FR"/>
              <a:t>.</a:t>
            </a:r>
            <a:br>
              <a:rPr lang="fr-FR" altLang="fr-FR"/>
            </a:br>
            <a:r>
              <a:rPr lang="fr-FR" altLang="fr-FR"/>
              <a:t>👉 </a:t>
            </a:r>
            <a:r>
              <a:rPr lang="fr-FR" altLang="fr-FR" b="1"/>
              <a:t>Quand ?</a:t>
            </a:r>
            <a:r>
              <a:rPr lang="fr-FR" altLang="fr-FR"/>
              <a:t> → Durée totale estimée : </a:t>
            </a:r>
            <a:r>
              <a:rPr lang="fr-FR" altLang="fr-FR" b="1"/>
              <a:t>1 mois et demi</a:t>
            </a:r>
            <a:r>
              <a:rPr lang="fr-FR" altLang="fr-FR"/>
              <a:t>.</a:t>
            </a:r>
          </a:p>
          <a:p>
            <a:endParaRPr lang="fr-FR" altLang="fr-FR"/>
          </a:p>
        </p:txBody>
      </p:sp>
      <p:sp>
        <p:nvSpPr>
          <p:cNvPr id="21508" name="Espace réservé du numéro de diapositive 3">
            <a:extLst>
              <a:ext uri="{FF2B5EF4-FFF2-40B4-BE49-F238E27FC236}">
                <a16:creationId xmlns="" xmlns:a16="http://schemas.microsoft.com/office/drawing/2014/main" id="{5E7714E8-EE92-6E58-4E4C-8D57C690C97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1835A3B-0117-4D47-A4A3-8D04C9A5AAAE}" type="slidenum">
              <a:rPr lang="fr-FR" altLang="fr-FR">
                <a:solidFill>
                  <a:srgbClr val="FFFFFF"/>
                </a:solidFill>
              </a:rPr>
              <a:pPr/>
              <a:t>14</a:t>
            </a:fld>
            <a:endParaRPr lang="fr-FR" altLang="fr-FR">
              <a:solidFill>
                <a:srgbClr val="FFFFFF"/>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7A621E4D-56C8-8759-C05C-BA14A1035B2C}"/>
              </a:ext>
            </a:extLst>
          </p:cNvPr>
          <p:cNvSpPr>
            <a:spLocks noGrp="1"/>
          </p:cNvSpPr>
          <p:nvPr>
            <p:ph type="title"/>
          </p:nvPr>
        </p:nvSpPr>
        <p:spPr/>
        <p:txBody>
          <a:bodyPr/>
          <a:lstStyle/>
          <a:p>
            <a:pPr>
              <a:defRPr/>
            </a:pPr>
            <a:endParaRPr lang="fr-FR"/>
          </a:p>
        </p:txBody>
      </p:sp>
      <p:sp>
        <p:nvSpPr>
          <p:cNvPr id="22531" name="Espace réservé du contenu 2">
            <a:extLst>
              <a:ext uri="{FF2B5EF4-FFF2-40B4-BE49-F238E27FC236}">
                <a16:creationId xmlns="" xmlns:a16="http://schemas.microsoft.com/office/drawing/2014/main" id="{6089B67D-F985-DE6E-FC8B-52B923A59FD8}"/>
              </a:ext>
            </a:extLst>
          </p:cNvPr>
          <p:cNvSpPr>
            <a:spLocks noGrp="1"/>
          </p:cNvSpPr>
          <p:nvPr>
            <p:ph idx="1"/>
          </p:nvPr>
        </p:nvSpPr>
        <p:spPr/>
        <p:txBody>
          <a:bodyPr/>
          <a:lstStyle/>
          <a:p>
            <a:r>
              <a:rPr lang="fr-FR" altLang="fr-FR" b="1"/>
              <a:t>4. Activités</a:t>
            </a:r>
          </a:p>
          <a:p>
            <a:r>
              <a:rPr lang="fr-FR" altLang="fr-FR"/>
              <a:t>Analyse des besoins des différents services.</a:t>
            </a:r>
          </a:p>
          <a:p>
            <a:r>
              <a:rPr lang="fr-FR" altLang="fr-FR"/>
              <a:t>Rédaction du cahier des charges.</a:t>
            </a:r>
          </a:p>
          <a:p>
            <a:r>
              <a:rPr lang="fr-FR" altLang="fr-FR"/>
              <a:t>Développement de l’application (mobile + web).</a:t>
            </a:r>
          </a:p>
          <a:p>
            <a:r>
              <a:rPr lang="fr-FR" altLang="fr-FR"/>
              <a:t>Intégration avec l’agenda d’entreprise (Outlook/Google Calendar).</a:t>
            </a:r>
          </a:p>
          <a:p>
            <a:r>
              <a:rPr lang="fr-FR" altLang="fr-FR"/>
              <a:t>Phase de tests et corrections.</a:t>
            </a:r>
          </a:p>
          <a:p>
            <a:r>
              <a:rPr lang="fr-FR" altLang="fr-FR"/>
              <a:t>Formation des utilisateurs.</a:t>
            </a:r>
          </a:p>
          <a:p>
            <a:r>
              <a:rPr lang="fr-FR" altLang="fr-FR"/>
              <a:t>👉 </a:t>
            </a:r>
            <a:r>
              <a:rPr lang="fr-FR" altLang="fr-FR" b="1"/>
              <a:t>Comment ?</a:t>
            </a:r>
            <a:r>
              <a:rPr lang="fr-FR" altLang="fr-FR"/>
              <a:t> → Liste des tâches à accomplir.</a:t>
            </a:r>
          </a:p>
          <a:p>
            <a:endParaRPr lang="fr-FR" altLang="fr-FR"/>
          </a:p>
        </p:txBody>
      </p:sp>
      <p:sp>
        <p:nvSpPr>
          <p:cNvPr id="22532" name="Espace réservé du numéro de diapositive 3">
            <a:extLst>
              <a:ext uri="{FF2B5EF4-FFF2-40B4-BE49-F238E27FC236}">
                <a16:creationId xmlns="" xmlns:a16="http://schemas.microsoft.com/office/drawing/2014/main" id="{8E7F04DE-2D5B-BE73-658B-F2F0819DCA3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C58E925-349E-40F5-836B-94B8F704A764}" type="slidenum">
              <a:rPr lang="fr-FR" altLang="fr-FR">
                <a:solidFill>
                  <a:srgbClr val="FFFFFF"/>
                </a:solidFill>
              </a:rPr>
              <a:pPr/>
              <a:t>15</a:t>
            </a:fld>
            <a:endParaRPr lang="fr-FR" altLang="fr-FR">
              <a:solidFill>
                <a:srgbClr val="FFFFFF"/>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D1D93022-BE95-D513-1CE2-7760441AE5D4}"/>
              </a:ext>
            </a:extLst>
          </p:cNvPr>
          <p:cNvSpPr>
            <a:spLocks noGrp="1"/>
          </p:cNvSpPr>
          <p:nvPr>
            <p:ph type="title"/>
          </p:nvPr>
        </p:nvSpPr>
        <p:spPr/>
        <p:txBody>
          <a:bodyPr/>
          <a:lstStyle/>
          <a:p>
            <a:pPr>
              <a:defRPr/>
            </a:pPr>
            <a:endParaRPr lang="fr-FR"/>
          </a:p>
        </p:txBody>
      </p:sp>
      <p:sp>
        <p:nvSpPr>
          <p:cNvPr id="23555" name="Espace réservé du contenu 2">
            <a:extLst>
              <a:ext uri="{FF2B5EF4-FFF2-40B4-BE49-F238E27FC236}">
                <a16:creationId xmlns="" xmlns:a16="http://schemas.microsoft.com/office/drawing/2014/main" id="{C275EF41-7D26-24A9-A12E-D6C50663B9EB}"/>
              </a:ext>
            </a:extLst>
          </p:cNvPr>
          <p:cNvSpPr>
            <a:spLocks noGrp="1"/>
          </p:cNvSpPr>
          <p:nvPr>
            <p:ph idx="1"/>
          </p:nvPr>
        </p:nvSpPr>
        <p:spPr/>
        <p:txBody>
          <a:bodyPr/>
          <a:lstStyle/>
          <a:p>
            <a:r>
              <a:rPr lang="fr-FR" altLang="fr-FR" b="1"/>
              <a:t>5. Ressources</a:t>
            </a:r>
          </a:p>
          <a:p>
            <a:r>
              <a:rPr lang="fr-FR" altLang="fr-FR"/>
              <a:t>Équipe projet : 1 chef de projet, 2 développeurs, 1 UX designer, 1 testeur.</a:t>
            </a:r>
          </a:p>
          <a:p>
            <a:r>
              <a:rPr lang="fr-FR" altLang="fr-FR"/>
              <a:t>Budget : </a:t>
            </a:r>
            <a:r>
              <a:rPr lang="fr-FR" altLang="fr-FR" b="1"/>
              <a:t>50 000 DH</a:t>
            </a:r>
            <a:r>
              <a:rPr lang="fr-FR" altLang="fr-FR"/>
              <a:t>.</a:t>
            </a:r>
          </a:p>
          <a:p>
            <a:r>
              <a:rPr lang="fr-FR" altLang="fr-FR"/>
              <a:t>Serveurs cloud pour héberger l’application.</a:t>
            </a:r>
          </a:p>
          <a:p>
            <a:r>
              <a:rPr lang="fr-FR" altLang="fr-FR"/>
              <a:t>Outils de communication et de gestion de projet (Teams, Jira).</a:t>
            </a:r>
          </a:p>
          <a:p>
            <a:r>
              <a:rPr lang="fr-FR" altLang="fr-FR"/>
              <a:t>👉 </a:t>
            </a:r>
            <a:r>
              <a:rPr lang="fr-FR" altLang="fr-FR" b="1"/>
              <a:t>Avec quoi ?</a:t>
            </a:r>
            <a:r>
              <a:rPr lang="fr-FR" altLang="fr-FR"/>
              <a:t> → Moyens humains, financiers et techniques mobilisés.</a:t>
            </a:r>
          </a:p>
          <a:p>
            <a:endParaRPr lang="fr-FR" altLang="fr-FR"/>
          </a:p>
        </p:txBody>
      </p:sp>
      <p:sp>
        <p:nvSpPr>
          <p:cNvPr id="23556" name="Espace réservé du numéro de diapositive 3">
            <a:extLst>
              <a:ext uri="{FF2B5EF4-FFF2-40B4-BE49-F238E27FC236}">
                <a16:creationId xmlns="" xmlns:a16="http://schemas.microsoft.com/office/drawing/2014/main" id="{5813850A-FD61-D85A-601A-29D1809C937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06B8FA5-C227-48F1-87C8-76363A372B0E}" type="slidenum">
              <a:rPr lang="fr-FR" altLang="fr-FR">
                <a:solidFill>
                  <a:srgbClr val="FFFFFF"/>
                </a:solidFill>
              </a:rPr>
              <a:pPr/>
              <a:t>16</a:t>
            </a:fld>
            <a:endParaRPr lang="fr-FR" altLang="fr-FR">
              <a:solidFill>
                <a:srgbClr val="FFFFFF"/>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a:extLst>
              <a:ext uri="{FF2B5EF4-FFF2-40B4-BE49-F238E27FC236}">
                <a16:creationId xmlns="" xmlns:a16="http://schemas.microsoft.com/office/drawing/2014/main" id="{D878D6E7-58BB-4DB1-6F32-9868B435C6F4}"/>
              </a:ext>
            </a:extLst>
          </p:cNvPr>
          <p:cNvSpPr>
            <a:spLocks noGrp="1" noChangeArrowheads="1"/>
          </p:cNvSpPr>
          <p:nvPr>
            <p:ph type="title"/>
          </p:nvPr>
        </p:nvSpPr>
        <p:spPr/>
        <p:txBody>
          <a:bodyPr/>
          <a:lstStyle/>
          <a:p>
            <a:pPr eaLnBrk="1" fontAlgn="auto" hangingPunct="1">
              <a:spcAft>
                <a:spcPts val="0"/>
              </a:spcAft>
              <a:defRPr/>
            </a:pPr>
            <a:r>
              <a:rPr lang="fr-FR" b="1" dirty="0"/>
              <a:t>Acteurs(Le couple MOA-MOE )</a:t>
            </a:r>
          </a:p>
        </p:txBody>
      </p:sp>
      <p:sp>
        <p:nvSpPr>
          <p:cNvPr id="24579" name="Rectangle 3">
            <a:extLst>
              <a:ext uri="{FF2B5EF4-FFF2-40B4-BE49-F238E27FC236}">
                <a16:creationId xmlns="" xmlns:a16="http://schemas.microsoft.com/office/drawing/2014/main" id="{28B77B25-5BAA-E9C3-CC65-E426EDB957F0}"/>
              </a:ext>
            </a:extLst>
          </p:cNvPr>
          <p:cNvSpPr>
            <a:spLocks noGrp="1"/>
          </p:cNvSpPr>
          <p:nvPr>
            <p:ph idx="1"/>
          </p:nvPr>
        </p:nvSpPr>
        <p:spPr/>
        <p:txBody>
          <a:bodyPr/>
          <a:lstStyle/>
          <a:p>
            <a:pPr eaLnBrk="1" hangingPunct="1"/>
            <a:r>
              <a:rPr lang="fr-FR" altLang="fr-FR" sz="1800"/>
              <a:t>La réussite d'un projet informatique repose en grande partie sur deux acteurs principaux que sont la </a:t>
            </a:r>
            <a:r>
              <a:rPr lang="fr-FR" altLang="fr-FR" sz="1800" b="1"/>
              <a:t>maîtrise d'ouvrage</a:t>
            </a:r>
            <a:r>
              <a:rPr lang="fr-FR" altLang="fr-FR" sz="1800"/>
              <a:t>(MAO;client) et la </a:t>
            </a:r>
            <a:r>
              <a:rPr lang="fr-FR" altLang="fr-FR" sz="1800" b="1"/>
              <a:t>maîtrise d'œuvre</a:t>
            </a:r>
            <a:r>
              <a:rPr lang="fr-FR" altLang="fr-FR" sz="1800"/>
              <a:t>(MOE;fournisseur). Le premier décrit ce qu'il faut faire, et le second le met en oeuvre. </a:t>
            </a:r>
          </a:p>
          <a:p>
            <a:pPr eaLnBrk="1" hangingPunct="1"/>
            <a:r>
              <a:rPr lang="fr-FR" altLang="fr-FR" sz="1800"/>
              <a:t>MOE:la maîtrise d'oeuvre détient le pouvoir de "faire« , il transforme une idée à une solution informatique.</a:t>
            </a:r>
            <a:r>
              <a:rPr lang="fr-FR" altLang="fr-FR"/>
              <a:t> </a:t>
            </a:r>
            <a:endParaRPr lang="fr-FR" altLang="fr-FR" sz="1800"/>
          </a:p>
          <a:p>
            <a:pPr eaLnBrk="1" hangingPunct="1"/>
            <a:r>
              <a:rPr lang="fr-FR" altLang="fr-FR" sz="1800" b="1"/>
              <a:t>La maîtrise</a:t>
            </a:r>
            <a:r>
              <a:rPr lang="fr-FR" altLang="fr-FR" b="1"/>
              <a:t> </a:t>
            </a:r>
            <a:r>
              <a:rPr lang="fr-FR" altLang="fr-FR" sz="1800" b="1"/>
              <a:t>d'ouvrage déléguée </a:t>
            </a:r>
            <a:r>
              <a:rPr lang="fr-FR" altLang="fr-FR" sz="1800"/>
              <a:t>(MOAD)</a:t>
            </a:r>
            <a:r>
              <a:rPr lang="fr-FR" altLang="fr-FR"/>
              <a:t> </a:t>
            </a:r>
            <a:r>
              <a:rPr lang="fr-FR" altLang="fr-FR" sz="1800"/>
              <a:t>: interface entre la maîtrise d'ouvrage et la maîtrise d'oeuvre, la maîtrise d'ouvrage déléguée peut gommer une bonne partie des lacunes d'une maîtrise d'ouvrage dite "faible". </a:t>
            </a:r>
          </a:p>
          <a:p>
            <a:pPr eaLnBrk="1" hangingPunct="1"/>
            <a:endParaRPr lang="fr-FR" altLang="fr-FR" sz="1800"/>
          </a:p>
          <a:p>
            <a:r>
              <a:rPr lang="fr-FR" altLang="fr-FR"/>
              <a:t>La MOA exprime le besoin.</a:t>
            </a:r>
          </a:p>
          <a:p>
            <a:r>
              <a:rPr lang="fr-FR" altLang="fr-FR"/>
              <a:t>La MOE réalise la solution technique.</a:t>
            </a:r>
          </a:p>
          <a:p>
            <a:r>
              <a:rPr lang="fr-FR" altLang="fr-FR"/>
              <a:t>La MOAD facilite ou renforce le dialogue et la réussite quand le client n’a pas toutes les ressources en interne.</a:t>
            </a:r>
          </a:p>
          <a:p>
            <a:pPr eaLnBrk="1" hangingPunct="1"/>
            <a:endParaRPr lang="fr-FR" altLang="fr-FR" sz="1800"/>
          </a:p>
        </p:txBody>
      </p:sp>
      <p:sp>
        <p:nvSpPr>
          <p:cNvPr id="24580" name="Espace réservé du numéro de diapositive 5">
            <a:extLst>
              <a:ext uri="{FF2B5EF4-FFF2-40B4-BE49-F238E27FC236}">
                <a16:creationId xmlns="" xmlns:a16="http://schemas.microsoft.com/office/drawing/2014/main" id="{F86578E1-CE3C-C9EE-3E2F-4B9797D0CBF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4A076FD9-E8EE-4B3E-B75C-597660B964AA}" type="slidenum">
              <a:rPr lang="fr-FR" altLang="fr-FR" sz="1400"/>
              <a:pPr>
                <a:spcBef>
                  <a:spcPct val="0"/>
                </a:spcBef>
                <a:buClrTx/>
                <a:buSzTx/>
                <a:buFontTx/>
                <a:buNone/>
              </a:pPr>
              <a:t>17</a:t>
            </a:fld>
            <a:endParaRPr lang="fr-FR" altLang="fr-FR" sz="14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a:extLst>
              <a:ext uri="{FF2B5EF4-FFF2-40B4-BE49-F238E27FC236}">
                <a16:creationId xmlns="" xmlns:a16="http://schemas.microsoft.com/office/drawing/2014/main" id="{3AFEC4DD-F598-EE7A-5BB7-D74CA277F0FA}"/>
              </a:ext>
            </a:extLst>
          </p:cNvPr>
          <p:cNvSpPr>
            <a:spLocks noGrp="1" noChangeArrowheads="1"/>
          </p:cNvSpPr>
          <p:nvPr>
            <p:ph type="title"/>
          </p:nvPr>
        </p:nvSpPr>
        <p:spPr/>
        <p:txBody>
          <a:bodyPr/>
          <a:lstStyle/>
          <a:p>
            <a:pPr eaLnBrk="1" fontAlgn="auto" hangingPunct="1">
              <a:spcAft>
                <a:spcPts val="0"/>
              </a:spcAft>
              <a:defRPr/>
            </a:pPr>
            <a:endParaRPr lang="fr-FR"/>
          </a:p>
        </p:txBody>
      </p:sp>
      <p:pic>
        <p:nvPicPr>
          <p:cNvPr id="25603" name="Picture 3">
            <a:extLst>
              <a:ext uri="{FF2B5EF4-FFF2-40B4-BE49-F238E27FC236}">
                <a16:creationId xmlns="" xmlns:a16="http://schemas.microsoft.com/office/drawing/2014/main" id="{19C479B0-D853-65A0-695E-C44121D1B8C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539750" y="2060575"/>
            <a:ext cx="7889875" cy="4044950"/>
          </a:xfrm>
        </p:spPr>
      </p:pic>
      <p:sp>
        <p:nvSpPr>
          <p:cNvPr id="25604" name="Espace réservé du numéro de diapositive 5">
            <a:extLst>
              <a:ext uri="{FF2B5EF4-FFF2-40B4-BE49-F238E27FC236}">
                <a16:creationId xmlns="" xmlns:a16="http://schemas.microsoft.com/office/drawing/2014/main" id="{32FDBD6B-F23D-BC20-BE26-9C43DFD4C55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32BD9864-688A-4BA3-A1A6-54E1F7488F29}" type="slidenum">
              <a:rPr lang="fr-FR" altLang="fr-FR" sz="1400"/>
              <a:pPr>
                <a:spcBef>
                  <a:spcPct val="0"/>
                </a:spcBef>
                <a:buClrTx/>
                <a:buSzTx/>
                <a:buFontTx/>
                <a:buNone/>
              </a:pPr>
              <a:t>18</a:t>
            </a:fld>
            <a:endParaRPr lang="fr-FR" altLang="fr-FR" sz="140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a:extLst>
              <a:ext uri="{FF2B5EF4-FFF2-40B4-BE49-F238E27FC236}">
                <a16:creationId xmlns="" xmlns:a16="http://schemas.microsoft.com/office/drawing/2014/main" id="{0A3CC624-B81B-EE17-F6F8-B5F706B39414}"/>
              </a:ext>
            </a:extLst>
          </p:cNvPr>
          <p:cNvSpPr>
            <a:spLocks noGrp="1" noChangeArrowheads="1"/>
          </p:cNvSpPr>
          <p:nvPr>
            <p:ph type="title"/>
          </p:nvPr>
        </p:nvSpPr>
        <p:spPr/>
        <p:txBody>
          <a:bodyPr/>
          <a:lstStyle/>
          <a:p>
            <a:pPr eaLnBrk="1" fontAlgn="auto" hangingPunct="1">
              <a:spcAft>
                <a:spcPts val="0"/>
              </a:spcAft>
              <a:defRPr/>
            </a:pPr>
            <a:r>
              <a:rPr lang="fr-FR"/>
              <a:t>Le chef de projet </a:t>
            </a:r>
          </a:p>
        </p:txBody>
      </p:sp>
      <p:sp>
        <p:nvSpPr>
          <p:cNvPr id="26627" name="Rectangle 3">
            <a:extLst>
              <a:ext uri="{FF2B5EF4-FFF2-40B4-BE49-F238E27FC236}">
                <a16:creationId xmlns="" xmlns:a16="http://schemas.microsoft.com/office/drawing/2014/main" id="{6BDDF7F5-2AE9-3184-CB82-C2235B0F5F82}"/>
              </a:ext>
            </a:extLst>
          </p:cNvPr>
          <p:cNvSpPr>
            <a:spLocks noGrp="1"/>
          </p:cNvSpPr>
          <p:nvPr>
            <p:ph idx="1"/>
          </p:nvPr>
        </p:nvSpPr>
        <p:spPr/>
        <p:txBody>
          <a:bodyPr/>
          <a:lstStyle/>
          <a:p>
            <a:pPr eaLnBrk="1" hangingPunct="1"/>
            <a:r>
              <a:rPr lang="fr-FR" altLang="fr-FR" sz="1800" b="1"/>
              <a:t>le chef de projets porte sur ses épaules la responsabilité de la réussite - ou de l'échec - du projet qu'on lui a confié.</a:t>
            </a:r>
            <a:r>
              <a:rPr lang="fr-FR" altLang="fr-FR"/>
              <a:t> </a:t>
            </a:r>
          </a:p>
          <a:p>
            <a:pPr eaLnBrk="1" hangingPunct="1">
              <a:spcAft>
                <a:spcPct val="50000"/>
              </a:spcAft>
            </a:pPr>
            <a:r>
              <a:rPr lang="fr-FR" altLang="fr-FR" sz="1800" b="1"/>
              <a:t>Les missions du Chef de projet</a:t>
            </a:r>
          </a:p>
          <a:p>
            <a:pPr lvl="1" eaLnBrk="1" hangingPunct="1">
              <a:spcAft>
                <a:spcPct val="50000"/>
              </a:spcAft>
              <a:buSzPct val="75000"/>
            </a:pPr>
            <a:r>
              <a:rPr lang="fr-FR" altLang="fr-FR" sz="1800" b="1"/>
              <a:t>Définition du projet</a:t>
            </a:r>
          </a:p>
          <a:p>
            <a:pPr lvl="1" eaLnBrk="1" hangingPunct="1">
              <a:spcAft>
                <a:spcPct val="50000"/>
              </a:spcAft>
              <a:buSzPct val="75000"/>
            </a:pPr>
            <a:r>
              <a:rPr lang="fr-FR" altLang="fr-FR" sz="1800" b="1"/>
              <a:t>Planification du projet</a:t>
            </a:r>
          </a:p>
          <a:p>
            <a:pPr lvl="1" eaLnBrk="1" hangingPunct="1">
              <a:spcAft>
                <a:spcPct val="50000"/>
              </a:spcAft>
              <a:buSzPct val="75000"/>
            </a:pPr>
            <a:r>
              <a:rPr lang="fr-FR" altLang="fr-FR" sz="1800" b="1"/>
              <a:t>Pilotage du projet</a:t>
            </a:r>
          </a:p>
          <a:p>
            <a:pPr lvl="1" eaLnBrk="1" hangingPunct="1">
              <a:spcAft>
                <a:spcPct val="50000"/>
              </a:spcAft>
              <a:buSzPct val="75000"/>
            </a:pPr>
            <a:r>
              <a:rPr lang="fr-FR" altLang="fr-FR" sz="1800" b="1"/>
              <a:t>Négociations internes et externes au projet</a:t>
            </a:r>
          </a:p>
          <a:p>
            <a:pPr lvl="1" eaLnBrk="1" hangingPunct="1">
              <a:spcAft>
                <a:spcPct val="50000"/>
              </a:spcAft>
              <a:buSzPct val="75000"/>
            </a:pPr>
            <a:r>
              <a:rPr lang="fr-FR" altLang="fr-FR" sz="1800" b="1"/>
              <a:t>Animation des équipes</a:t>
            </a:r>
          </a:p>
          <a:p>
            <a:pPr lvl="1" eaLnBrk="1" hangingPunct="1">
              <a:spcAft>
                <a:spcPct val="50000"/>
              </a:spcAft>
              <a:buSzPct val="75000"/>
            </a:pPr>
            <a:r>
              <a:rPr lang="fr-FR" altLang="fr-FR" sz="1800" b="1"/>
              <a:t>Gestion du fond documentaire</a:t>
            </a:r>
          </a:p>
          <a:p>
            <a:pPr eaLnBrk="1" hangingPunct="1"/>
            <a:endParaRPr lang="fr-FR" altLang="fr-FR" b="1"/>
          </a:p>
        </p:txBody>
      </p:sp>
      <p:sp>
        <p:nvSpPr>
          <p:cNvPr id="26628" name="Espace réservé du numéro de diapositive 5">
            <a:extLst>
              <a:ext uri="{FF2B5EF4-FFF2-40B4-BE49-F238E27FC236}">
                <a16:creationId xmlns="" xmlns:a16="http://schemas.microsoft.com/office/drawing/2014/main" id="{559DB050-9060-A8DC-141B-DC5929047BA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BAD5FEB8-FC0C-4868-A21C-8950EC139857}" type="slidenum">
              <a:rPr lang="fr-FR" altLang="fr-FR" sz="1400"/>
              <a:pPr>
                <a:spcBef>
                  <a:spcPct val="0"/>
                </a:spcBef>
                <a:buClrTx/>
                <a:buSzTx/>
                <a:buFontTx/>
                <a:buNone/>
              </a:pPr>
              <a:t>19</a:t>
            </a:fld>
            <a:endParaRPr lang="fr-FR" altLang="fr-FR" sz="140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5">
            <a:extLst>
              <a:ext uri="{FF2B5EF4-FFF2-40B4-BE49-F238E27FC236}">
                <a16:creationId xmlns="" xmlns:a16="http://schemas.microsoft.com/office/drawing/2014/main" id="{23069070-EF37-0BA5-E924-A21B8D9BAF9F}"/>
              </a:ext>
            </a:extLst>
          </p:cNvPr>
          <p:cNvSpPr>
            <a:spLocks noGrp="1" noChangeArrowheads="1"/>
          </p:cNvSpPr>
          <p:nvPr>
            <p:ph type="title"/>
          </p:nvPr>
        </p:nvSpPr>
        <p:spPr/>
        <p:txBody>
          <a:bodyPr/>
          <a:lstStyle/>
          <a:p>
            <a:pPr eaLnBrk="1" fontAlgn="auto" hangingPunct="1">
              <a:spcAft>
                <a:spcPts val="0"/>
              </a:spcAft>
              <a:defRPr/>
            </a:pPr>
            <a:r>
              <a:rPr lang="fr-FR"/>
              <a:t>Le chef de projet</a:t>
            </a:r>
          </a:p>
        </p:txBody>
      </p:sp>
      <p:graphicFrame>
        <p:nvGraphicFramePr>
          <p:cNvPr id="27651" name="Object 4">
            <a:hlinkClick r:id="" action="ppaction://ole?verb=0"/>
            <a:extLst>
              <a:ext uri="{FF2B5EF4-FFF2-40B4-BE49-F238E27FC236}">
                <a16:creationId xmlns="" xmlns:a16="http://schemas.microsoft.com/office/drawing/2014/main" id="{E5D79D8D-3026-BAED-40EE-68C3DD4AB14F}"/>
              </a:ext>
            </a:extLst>
          </p:cNvPr>
          <p:cNvGraphicFramePr>
            <a:graphicFrameLocks noGrp="1"/>
          </p:cNvGraphicFramePr>
          <p:nvPr>
            <p:ph type="dgm" idx="1"/>
          </p:nvPr>
        </p:nvGraphicFramePr>
        <p:xfrm>
          <a:off x="539750" y="1557338"/>
          <a:ext cx="7499350" cy="1323975"/>
        </p:xfrm>
        <a:graphic>
          <a:graphicData uri="http://schemas.openxmlformats.org/presentationml/2006/ole">
            <mc:AlternateContent xmlns:mc="http://schemas.openxmlformats.org/markup-compatibility/2006">
              <mc:Choice xmlns:v="urn:schemas-microsoft-com:vml" Requires="v">
                <p:oleObj spid="_x0000_s1197" name="MS Org Chart" r:id="rId3" imgW="7500938" imgH="1325563" progId="OrgPlusWOPX.4">
                  <p:embed followColorScheme="full"/>
                </p:oleObj>
              </mc:Choice>
              <mc:Fallback>
                <p:oleObj name="MS Org Chart" r:id="rId3" imgW="7500938" imgH="1325563" progId="OrgPlusWOPX.4">
                  <p:embed followColorScheme="full"/>
                  <p:pic>
                    <p:nvPicPr>
                      <p:cNvPr id="0" name="Object 4"/>
                      <p:cNvPicPr>
                        <a:picLocks noGrp="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1557338"/>
                        <a:ext cx="7499350" cy="132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652" name="Espace réservé du numéro de diapositive 5">
            <a:extLst>
              <a:ext uri="{FF2B5EF4-FFF2-40B4-BE49-F238E27FC236}">
                <a16:creationId xmlns="" xmlns:a16="http://schemas.microsoft.com/office/drawing/2014/main" id="{2DDF1FB5-9A83-A68E-48F4-5B96C5AE3F4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C41F67BC-EC95-4668-8B3E-0D2B4D15E921}" type="slidenum">
              <a:rPr lang="fr-FR" altLang="fr-FR" sz="1400"/>
              <a:pPr>
                <a:spcBef>
                  <a:spcPct val="0"/>
                </a:spcBef>
                <a:buClrTx/>
                <a:buSzTx/>
                <a:buFontTx/>
                <a:buNone/>
              </a:pPr>
              <a:t>20</a:t>
            </a:fld>
            <a:endParaRPr lang="fr-FR" altLang="fr-FR" sz="1400"/>
          </a:p>
        </p:txBody>
      </p:sp>
      <p:sp>
        <p:nvSpPr>
          <p:cNvPr id="27653" name="Rectangle 7">
            <a:extLst>
              <a:ext uri="{FF2B5EF4-FFF2-40B4-BE49-F238E27FC236}">
                <a16:creationId xmlns="" xmlns:a16="http://schemas.microsoft.com/office/drawing/2014/main" id="{A6CDDEA9-9B53-3889-7151-AFA6CFA5161B}"/>
              </a:ext>
            </a:extLst>
          </p:cNvPr>
          <p:cNvSpPr>
            <a:spLocks noChangeArrowheads="1"/>
          </p:cNvSpPr>
          <p:nvPr/>
        </p:nvSpPr>
        <p:spPr bwMode="auto">
          <a:xfrm>
            <a:off x="684213" y="3357563"/>
            <a:ext cx="1497012" cy="239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spcAft>
                <a:spcPct val="40000"/>
              </a:spcAft>
              <a:buClrTx/>
              <a:buSzTx/>
              <a:buFontTx/>
              <a:buNone/>
            </a:pPr>
            <a:r>
              <a:rPr lang="fr-FR" altLang="fr-FR" sz="1600">
                <a:latin typeface="Arial Narrow" panose="020B0606020202030204" pitchFamily="34" charset="0"/>
              </a:rPr>
              <a:t>Imagination</a:t>
            </a:r>
          </a:p>
          <a:p>
            <a:pPr>
              <a:spcBef>
                <a:spcPct val="0"/>
              </a:spcBef>
              <a:spcAft>
                <a:spcPct val="40000"/>
              </a:spcAft>
              <a:buClrTx/>
              <a:buSzTx/>
              <a:buFontTx/>
              <a:buNone/>
            </a:pPr>
            <a:r>
              <a:rPr lang="fr-FR" altLang="fr-FR" sz="1600">
                <a:latin typeface="Arial Narrow" panose="020B0606020202030204" pitchFamily="34" charset="0"/>
              </a:rPr>
              <a:t>Raisonnement</a:t>
            </a:r>
          </a:p>
          <a:p>
            <a:pPr>
              <a:spcBef>
                <a:spcPct val="0"/>
              </a:spcBef>
              <a:spcAft>
                <a:spcPct val="40000"/>
              </a:spcAft>
              <a:buClrTx/>
              <a:buSzTx/>
              <a:buFontTx/>
              <a:buNone/>
            </a:pPr>
            <a:r>
              <a:rPr lang="fr-FR" altLang="fr-FR" sz="1600">
                <a:latin typeface="Arial Narrow" panose="020B0606020202030204" pitchFamily="34" charset="0"/>
              </a:rPr>
              <a:t>Savoir-faire</a:t>
            </a:r>
          </a:p>
          <a:p>
            <a:pPr>
              <a:spcBef>
                <a:spcPct val="0"/>
              </a:spcBef>
              <a:spcAft>
                <a:spcPct val="40000"/>
              </a:spcAft>
              <a:buClrTx/>
              <a:buSzTx/>
              <a:buFontTx/>
              <a:buNone/>
            </a:pPr>
            <a:r>
              <a:rPr lang="fr-FR" altLang="fr-FR" sz="1600">
                <a:latin typeface="Arial Narrow" panose="020B0606020202030204" pitchFamily="34" charset="0"/>
              </a:rPr>
              <a:t>Expertise</a:t>
            </a:r>
          </a:p>
          <a:p>
            <a:pPr>
              <a:spcBef>
                <a:spcPct val="0"/>
              </a:spcBef>
              <a:spcAft>
                <a:spcPct val="40000"/>
              </a:spcAft>
              <a:buClrTx/>
              <a:buSzTx/>
              <a:buFontTx/>
              <a:buNone/>
            </a:pPr>
            <a:r>
              <a:rPr lang="fr-FR" altLang="fr-FR" sz="1600">
                <a:latin typeface="Arial Narrow" panose="020B0606020202030204" pitchFamily="34" charset="0"/>
              </a:rPr>
              <a:t>Curiosité</a:t>
            </a:r>
          </a:p>
          <a:p>
            <a:pPr>
              <a:spcBef>
                <a:spcPct val="0"/>
              </a:spcBef>
              <a:spcAft>
                <a:spcPct val="40000"/>
              </a:spcAft>
              <a:buClrTx/>
              <a:buSzTx/>
              <a:buFontTx/>
              <a:buNone/>
            </a:pPr>
            <a:r>
              <a:rPr lang="fr-FR" altLang="fr-FR" sz="1600">
                <a:latin typeface="Arial Narrow" panose="020B0606020202030204" pitchFamily="34" charset="0"/>
              </a:rPr>
              <a:t>Ecoute</a:t>
            </a:r>
          </a:p>
          <a:p>
            <a:pPr>
              <a:spcBef>
                <a:spcPct val="0"/>
              </a:spcBef>
              <a:spcAft>
                <a:spcPct val="40000"/>
              </a:spcAft>
              <a:buClrTx/>
              <a:buSzTx/>
              <a:buFontTx/>
              <a:buNone/>
            </a:pPr>
            <a:r>
              <a:rPr lang="fr-FR" altLang="fr-FR" sz="1600">
                <a:latin typeface="Arial Narrow" panose="020B0606020202030204" pitchFamily="34" charset="0"/>
              </a:rPr>
              <a:t>Ouverture d'esprit</a:t>
            </a:r>
          </a:p>
        </p:txBody>
      </p:sp>
      <p:sp>
        <p:nvSpPr>
          <p:cNvPr id="27654" name="Rectangle 8">
            <a:extLst>
              <a:ext uri="{FF2B5EF4-FFF2-40B4-BE49-F238E27FC236}">
                <a16:creationId xmlns="" xmlns:a16="http://schemas.microsoft.com/office/drawing/2014/main" id="{C9C36DF7-EA8F-5EB8-C4B0-40EE7D56227E}"/>
              </a:ext>
            </a:extLst>
          </p:cNvPr>
          <p:cNvSpPr>
            <a:spLocks noChangeArrowheads="1"/>
          </p:cNvSpPr>
          <p:nvPr/>
        </p:nvSpPr>
        <p:spPr bwMode="auto">
          <a:xfrm>
            <a:off x="2484438" y="3500438"/>
            <a:ext cx="1333500" cy="239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spcAft>
                <a:spcPct val="40000"/>
              </a:spcAft>
              <a:buClrTx/>
              <a:buSzTx/>
              <a:buFontTx/>
              <a:buNone/>
            </a:pPr>
            <a:r>
              <a:rPr lang="fr-FR" altLang="fr-FR" sz="1600">
                <a:latin typeface="Arial Narrow" panose="020B0606020202030204" pitchFamily="34" charset="0"/>
              </a:rPr>
              <a:t>Communication</a:t>
            </a:r>
          </a:p>
          <a:p>
            <a:pPr>
              <a:spcBef>
                <a:spcPct val="0"/>
              </a:spcBef>
              <a:spcAft>
                <a:spcPct val="40000"/>
              </a:spcAft>
              <a:buClrTx/>
              <a:buSzTx/>
              <a:buFontTx/>
              <a:buNone/>
            </a:pPr>
            <a:r>
              <a:rPr lang="fr-FR" altLang="fr-FR" sz="1600">
                <a:latin typeface="Arial Narrow" panose="020B0606020202030204" pitchFamily="34" charset="0"/>
              </a:rPr>
              <a:t>Relationnel</a:t>
            </a:r>
          </a:p>
          <a:p>
            <a:pPr>
              <a:spcBef>
                <a:spcPct val="0"/>
              </a:spcBef>
              <a:spcAft>
                <a:spcPct val="40000"/>
              </a:spcAft>
              <a:buClrTx/>
              <a:buSzTx/>
              <a:buFontTx/>
              <a:buNone/>
            </a:pPr>
            <a:r>
              <a:rPr lang="fr-FR" altLang="fr-FR" sz="1600">
                <a:latin typeface="Arial Narrow" panose="020B0606020202030204" pitchFamily="34" charset="0"/>
              </a:rPr>
              <a:t>Motivation</a:t>
            </a:r>
          </a:p>
          <a:p>
            <a:pPr>
              <a:spcBef>
                <a:spcPct val="0"/>
              </a:spcBef>
              <a:spcAft>
                <a:spcPct val="40000"/>
              </a:spcAft>
              <a:buClrTx/>
              <a:buSzTx/>
              <a:buFontTx/>
              <a:buNone/>
            </a:pPr>
            <a:r>
              <a:rPr lang="fr-FR" altLang="fr-FR" sz="1600">
                <a:latin typeface="Arial Narrow" panose="020B0606020202030204" pitchFamily="34" charset="0"/>
              </a:rPr>
              <a:t>Influence</a:t>
            </a:r>
          </a:p>
          <a:p>
            <a:pPr>
              <a:spcBef>
                <a:spcPct val="0"/>
              </a:spcBef>
              <a:spcAft>
                <a:spcPct val="40000"/>
              </a:spcAft>
              <a:buClrTx/>
              <a:buSzTx/>
              <a:buFontTx/>
              <a:buNone/>
            </a:pPr>
            <a:r>
              <a:rPr lang="fr-FR" altLang="fr-FR" sz="1600">
                <a:latin typeface="Arial Narrow" panose="020B0606020202030204" pitchFamily="34" charset="0"/>
              </a:rPr>
              <a:t>Solidarité</a:t>
            </a:r>
          </a:p>
          <a:p>
            <a:pPr>
              <a:spcBef>
                <a:spcPct val="0"/>
              </a:spcBef>
              <a:spcAft>
                <a:spcPct val="40000"/>
              </a:spcAft>
              <a:buClrTx/>
              <a:buSzTx/>
              <a:buFontTx/>
              <a:buNone/>
            </a:pPr>
            <a:r>
              <a:rPr lang="fr-FR" altLang="fr-FR" sz="1600">
                <a:latin typeface="Arial Narrow" panose="020B0606020202030204" pitchFamily="34" charset="0"/>
              </a:rPr>
              <a:t>Responsabilité</a:t>
            </a:r>
          </a:p>
          <a:p>
            <a:pPr>
              <a:spcBef>
                <a:spcPct val="0"/>
              </a:spcBef>
              <a:spcAft>
                <a:spcPct val="40000"/>
              </a:spcAft>
              <a:buClrTx/>
              <a:buSzTx/>
              <a:buFontTx/>
              <a:buNone/>
            </a:pPr>
            <a:r>
              <a:rPr lang="fr-FR" altLang="fr-FR" sz="1600">
                <a:latin typeface="Arial Narrow" panose="020B0606020202030204" pitchFamily="34" charset="0"/>
              </a:rPr>
              <a:t>Synthèse</a:t>
            </a:r>
          </a:p>
        </p:txBody>
      </p:sp>
      <p:sp>
        <p:nvSpPr>
          <p:cNvPr id="27655" name="Rectangle 9">
            <a:extLst>
              <a:ext uri="{FF2B5EF4-FFF2-40B4-BE49-F238E27FC236}">
                <a16:creationId xmlns="" xmlns:a16="http://schemas.microsoft.com/office/drawing/2014/main" id="{A374370F-C0B4-0233-CCEA-9AD5D87F35AD}"/>
              </a:ext>
            </a:extLst>
          </p:cNvPr>
          <p:cNvSpPr>
            <a:spLocks noChangeArrowheads="1"/>
          </p:cNvSpPr>
          <p:nvPr/>
        </p:nvSpPr>
        <p:spPr bwMode="auto">
          <a:xfrm>
            <a:off x="4500563" y="3644900"/>
            <a:ext cx="973137" cy="101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spcAft>
                <a:spcPct val="40000"/>
              </a:spcAft>
              <a:buClrTx/>
              <a:buSzTx/>
              <a:buFontTx/>
              <a:buNone/>
            </a:pPr>
            <a:r>
              <a:rPr lang="fr-FR" altLang="fr-FR" sz="1600">
                <a:latin typeface="Arial Narrow" panose="020B0606020202030204" pitchFamily="34" charset="0"/>
              </a:rPr>
              <a:t>Efficacité</a:t>
            </a:r>
          </a:p>
          <a:p>
            <a:pPr>
              <a:spcBef>
                <a:spcPct val="0"/>
              </a:spcBef>
              <a:spcAft>
                <a:spcPct val="40000"/>
              </a:spcAft>
              <a:buClrTx/>
              <a:buSzTx/>
              <a:buFontTx/>
              <a:buNone/>
            </a:pPr>
            <a:r>
              <a:rPr lang="fr-FR" altLang="fr-FR" sz="1600">
                <a:latin typeface="Arial Narrow" panose="020B0606020202030204" pitchFamily="34" charset="0"/>
              </a:rPr>
              <a:t>Direction</a:t>
            </a:r>
          </a:p>
          <a:p>
            <a:pPr>
              <a:spcBef>
                <a:spcPct val="0"/>
              </a:spcBef>
              <a:spcAft>
                <a:spcPct val="40000"/>
              </a:spcAft>
              <a:buClrTx/>
              <a:buSzTx/>
              <a:buFontTx/>
              <a:buNone/>
            </a:pPr>
            <a:r>
              <a:rPr lang="fr-FR" altLang="fr-FR" sz="1600">
                <a:latin typeface="Arial Narrow" panose="020B0606020202030204" pitchFamily="34" charset="0"/>
              </a:rPr>
              <a:t>Autonomie</a:t>
            </a:r>
          </a:p>
        </p:txBody>
      </p:sp>
      <p:sp>
        <p:nvSpPr>
          <p:cNvPr id="27656" name="Rectangle 10">
            <a:extLst>
              <a:ext uri="{FF2B5EF4-FFF2-40B4-BE49-F238E27FC236}">
                <a16:creationId xmlns="" xmlns:a16="http://schemas.microsoft.com/office/drawing/2014/main" id="{5B82C54C-8BFC-6BA9-794D-EFF864A62AF3}"/>
              </a:ext>
            </a:extLst>
          </p:cNvPr>
          <p:cNvSpPr>
            <a:spLocks noChangeArrowheads="1"/>
          </p:cNvSpPr>
          <p:nvPr/>
        </p:nvSpPr>
        <p:spPr bwMode="auto">
          <a:xfrm>
            <a:off x="6227763" y="3500438"/>
            <a:ext cx="1674812" cy="229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spcAft>
                <a:spcPct val="40000"/>
              </a:spcAft>
              <a:buClrTx/>
              <a:buSzTx/>
              <a:buFontTx/>
              <a:buNone/>
            </a:pPr>
            <a:r>
              <a:rPr lang="fr-FR" altLang="fr-FR" sz="1600">
                <a:latin typeface="Arial Narrow" panose="020B0606020202030204" pitchFamily="34" charset="0"/>
              </a:rPr>
              <a:t>Confiance</a:t>
            </a:r>
          </a:p>
          <a:p>
            <a:pPr>
              <a:spcBef>
                <a:spcPct val="0"/>
              </a:spcBef>
              <a:spcAft>
                <a:spcPct val="40000"/>
              </a:spcAft>
              <a:buClrTx/>
              <a:buSzTx/>
              <a:buFontTx/>
              <a:buNone/>
            </a:pPr>
            <a:r>
              <a:rPr lang="fr-FR" altLang="fr-FR" sz="1600">
                <a:latin typeface="Arial Narrow" panose="020B0606020202030204" pitchFamily="34" charset="0"/>
              </a:rPr>
              <a:t>Créativité</a:t>
            </a:r>
          </a:p>
          <a:p>
            <a:pPr>
              <a:spcBef>
                <a:spcPct val="0"/>
              </a:spcBef>
              <a:spcAft>
                <a:spcPct val="40000"/>
              </a:spcAft>
              <a:buClrTx/>
              <a:buSzTx/>
              <a:buFontTx/>
              <a:buNone/>
            </a:pPr>
            <a:r>
              <a:rPr lang="fr-FR" altLang="fr-FR" sz="1600">
                <a:latin typeface="Arial Narrow" panose="020B0606020202030204" pitchFamily="34" charset="0"/>
              </a:rPr>
              <a:t>Méthodologie</a:t>
            </a:r>
          </a:p>
          <a:p>
            <a:pPr>
              <a:spcBef>
                <a:spcPct val="0"/>
              </a:spcBef>
              <a:spcAft>
                <a:spcPct val="40000"/>
              </a:spcAft>
              <a:buClrTx/>
              <a:buSzTx/>
              <a:buFontTx/>
              <a:buNone/>
            </a:pPr>
            <a:r>
              <a:rPr lang="fr-FR" altLang="fr-FR" sz="1600">
                <a:latin typeface="Arial Narrow" panose="020B0606020202030204" pitchFamily="34" charset="0"/>
              </a:rPr>
              <a:t>Initiative</a:t>
            </a:r>
          </a:p>
          <a:p>
            <a:pPr>
              <a:spcBef>
                <a:spcPct val="0"/>
              </a:spcBef>
              <a:spcAft>
                <a:spcPct val="40000"/>
              </a:spcAft>
              <a:buClrTx/>
              <a:buSzTx/>
              <a:buFontTx/>
              <a:buNone/>
            </a:pPr>
            <a:r>
              <a:rPr lang="fr-FR" altLang="fr-FR" sz="1600">
                <a:latin typeface="Arial Narrow" panose="020B0606020202030204" pitchFamily="34" charset="0"/>
              </a:rPr>
              <a:t>Capacité à défendre</a:t>
            </a:r>
            <a:br>
              <a:rPr lang="fr-FR" altLang="fr-FR" sz="1600">
                <a:latin typeface="Arial Narrow" panose="020B0606020202030204" pitchFamily="34" charset="0"/>
              </a:rPr>
            </a:br>
            <a:r>
              <a:rPr lang="fr-FR" altLang="fr-FR" sz="1600">
                <a:latin typeface="Arial Narrow" panose="020B0606020202030204" pitchFamily="34" charset="0"/>
              </a:rPr>
              <a:t>une idée</a:t>
            </a:r>
          </a:p>
          <a:p>
            <a:pPr>
              <a:spcBef>
                <a:spcPct val="0"/>
              </a:spcBef>
              <a:spcAft>
                <a:spcPct val="40000"/>
              </a:spcAft>
              <a:buClrTx/>
              <a:buSzTx/>
              <a:buFontTx/>
              <a:buNone/>
            </a:pPr>
            <a:endParaRPr lang="fr-FR" altLang="fr-FR" sz="1600">
              <a:latin typeface="Arial Narrow" panose="020B0606020202030204" pitchFamily="34"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a:extLst>
              <a:ext uri="{FF2B5EF4-FFF2-40B4-BE49-F238E27FC236}">
                <a16:creationId xmlns="" xmlns:a16="http://schemas.microsoft.com/office/drawing/2014/main" id="{AE732C7A-90B8-857A-0561-4E257027B2A8}"/>
              </a:ext>
            </a:extLst>
          </p:cNvPr>
          <p:cNvSpPr>
            <a:spLocks noGrp="1" noChangeArrowheads="1"/>
          </p:cNvSpPr>
          <p:nvPr>
            <p:ph type="title"/>
          </p:nvPr>
        </p:nvSpPr>
        <p:spPr/>
        <p:txBody>
          <a:bodyPr/>
          <a:lstStyle/>
          <a:p>
            <a:pPr eaLnBrk="1" fontAlgn="auto" hangingPunct="1">
              <a:spcAft>
                <a:spcPts val="0"/>
              </a:spcAft>
              <a:defRPr/>
            </a:pPr>
            <a:r>
              <a:rPr lang="fr-FR" dirty="0"/>
              <a:t>Cycle de vie d’un projet informatique</a:t>
            </a:r>
          </a:p>
        </p:txBody>
      </p:sp>
      <p:sp>
        <p:nvSpPr>
          <p:cNvPr id="28675" name="Rectangle 3">
            <a:extLst>
              <a:ext uri="{FF2B5EF4-FFF2-40B4-BE49-F238E27FC236}">
                <a16:creationId xmlns="" xmlns:a16="http://schemas.microsoft.com/office/drawing/2014/main" id="{E66EF182-EA85-2B45-BB23-A43B3085BDC7}"/>
              </a:ext>
            </a:extLst>
          </p:cNvPr>
          <p:cNvSpPr>
            <a:spLocks noGrp="1"/>
          </p:cNvSpPr>
          <p:nvPr>
            <p:ph idx="1"/>
          </p:nvPr>
        </p:nvSpPr>
        <p:spPr>
          <a:xfrm>
            <a:off x="323850" y="1557338"/>
            <a:ext cx="8229600" cy="4876800"/>
          </a:xfrm>
        </p:spPr>
        <p:txBody>
          <a:bodyPr/>
          <a:lstStyle/>
          <a:p>
            <a:pPr eaLnBrk="1" hangingPunct="1"/>
            <a:endParaRPr lang="fr-CA" altLang="fr-FR" sz="2000"/>
          </a:p>
          <a:p>
            <a:pPr eaLnBrk="1" hangingPunct="1"/>
            <a:r>
              <a:rPr lang="fr-CA" altLang="fr-FR" sz="2000"/>
              <a:t>      </a:t>
            </a:r>
            <a:endParaRPr lang="fr-CA" altLang="fr-FR"/>
          </a:p>
        </p:txBody>
      </p:sp>
      <p:sp>
        <p:nvSpPr>
          <p:cNvPr id="28676" name="Espace réservé du numéro de diapositive 5">
            <a:extLst>
              <a:ext uri="{FF2B5EF4-FFF2-40B4-BE49-F238E27FC236}">
                <a16:creationId xmlns="" xmlns:a16="http://schemas.microsoft.com/office/drawing/2014/main" id="{15A399D2-8A33-4C0B-DE59-9E4390B1D5D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2E2F64BF-C048-471E-9B6B-5D65923F3293}" type="slidenum">
              <a:rPr lang="fr-FR" altLang="fr-FR" sz="1400"/>
              <a:pPr>
                <a:spcBef>
                  <a:spcPct val="0"/>
                </a:spcBef>
                <a:buClrTx/>
                <a:buSzTx/>
                <a:buFontTx/>
                <a:buNone/>
              </a:pPr>
              <a:t>21</a:t>
            </a:fld>
            <a:endParaRPr lang="fr-FR" altLang="fr-FR" sz="1400"/>
          </a:p>
        </p:txBody>
      </p:sp>
      <p:pic>
        <p:nvPicPr>
          <p:cNvPr id="28677" name="Image 2">
            <a:extLst>
              <a:ext uri="{FF2B5EF4-FFF2-40B4-BE49-F238E27FC236}">
                <a16:creationId xmlns="" xmlns:a16="http://schemas.microsoft.com/office/drawing/2014/main" id="{C5782BEB-447B-8BF8-DE64-525B60D84F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1714500"/>
            <a:ext cx="8553450" cy="376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a:extLst>
              <a:ext uri="{FF2B5EF4-FFF2-40B4-BE49-F238E27FC236}">
                <a16:creationId xmlns="" xmlns:a16="http://schemas.microsoft.com/office/drawing/2014/main" id="{DB3A12AE-8417-2083-EF85-3D3C9B012F2D}"/>
              </a:ext>
            </a:extLst>
          </p:cNvPr>
          <p:cNvSpPr>
            <a:spLocks noGrp="1" noChangeArrowheads="1"/>
          </p:cNvSpPr>
          <p:nvPr>
            <p:ph type="title"/>
          </p:nvPr>
        </p:nvSpPr>
        <p:spPr/>
        <p:txBody>
          <a:bodyPr/>
          <a:lstStyle/>
          <a:p>
            <a:pPr eaLnBrk="1" fontAlgn="auto" hangingPunct="1">
              <a:spcAft>
                <a:spcPts val="0"/>
              </a:spcAft>
              <a:defRPr/>
            </a:pPr>
            <a:r>
              <a:rPr lang="fr-FR" dirty="0"/>
              <a:t>phase de recette</a:t>
            </a:r>
          </a:p>
        </p:txBody>
      </p:sp>
      <p:sp>
        <p:nvSpPr>
          <p:cNvPr id="34819" name="Rectangle 3">
            <a:extLst>
              <a:ext uri="{FF2B5EF4-FFF2-40B4-BE49-F238E27FC236}">
                <a16:creationId xmlns="" xmlns:a16="http://schemas.microsoft.com/office/drawing/2014/main" id="{D2107E1A-CF07-3CC0-22EB-538CA6ACA016}"/>
              </a:ext>
            </a:extLst>
          </p:cNvPr>
          <p:cNvSpPr>
            <a:spLocks noGrp="1"/>
          </p:cNvSpPr>
          <p:nvPr>
            <p:ph idx="1"/>
          </p:nvPr>
        </p:nvSpPr>
        <p:spPr/>
        <p:txBody>
          <a:bodyPr/>
          <a:lstStyle/>
          <a:p>
            <a:r>
              <a:rPr lang="fr-FR" altLang="fr-FR" sz="1800"/>
              <a:t>En gestion de projet informatique, la </a:t>
            </a:r>
            <a:r>
              <a:rPr lang="fr-FR" altLang="fr-FR" sz="1800" b="1"/>
              <a:t>recette</a:t>
            </a:r>
            <a:r>
              <a:rPr lang="fr-FR" altLang="fr-FR" sz="1800"/>
              <a:t> est la phase où le client (ou utilisateur final) </a:t>
            </a:r>
            <a:r>
              <a:rPr lang="fr-FR" altLang="fr-FR" sz="1800" b="1"/>
              <a:t>vérifie que le produit livré correspond bien aux besoins exprimés</a:t>
            </a:r>
            <a:r>
              <a:rPr lang="fr-FR" altLang="fr-FR" sz="1800"/>
              <a:t> dans le cahier des charges.</a:t>
            </a:r>
          </a:p>
          <a:p>
            <a:r>
              <a:rPr lang="fr-FR" altLang="fr-FR" sz="1800"/>
              <a:t>Elle intervient </a:t>
            </a:r>
            <a:r>
              <a:rPr lang="fr-FR" altLang="fr-FR" sz="1800" b="1"/>
              <a:t>après les tests techniques</a:t>
            </a:r>
            <a:r>
              <a:rPr lang="fr-FR" altLang="fr-FR" sz="1800"/>
              <a:t> réalisés par l’équipe projet.</a:t>
            </a:r>
          </a:p>
          <a:p>
            <a:r>
              <a:rPr lang="fr-FR" altLang="fr-FR" sz="1800"/>
              <a:t>C’est une validation côté </a:t>
            </a:r>
            <a:r>
              <a:rPr lang="fr-FR" altLang="fr-FR" sz="1800" b="1"/>
              <a:t>métier / utilisateur</a:t>
            </a:r>
            <a:r>
              <a:rPr lang="fr-FR" altLang="fr-FR" sz="1800"/>
              <a:t>.</a:t>
            </a:r>
          </a:p>
          <a:p>
            <a:endParaRPr lang="fr-FR" altLang="fr-FR" sz="1800"/>
          </a:p>
          <a:p>
            <a:r>
              <a:rPr lang="fr-FR" altLang="fr-FR" sz="1800" b="1"/>
              <a:t>Les deux types de recette</a:t>
            </a:r>
          </a:p>
          <a:p>
            <a:r>
              <a:rPr lang="fr-FR" altLang="fr-FR" sz="1800" b="1"/>
              <a:t>1. VABF : Vérification d’Aptitude au Bon Fonctionnement</a:t>
            </a:r>
          </a:p>
          <a:p>
            <a:r>
              <a:rPr lang="fr-FR" altLang="fr-FR" sz="1800"/>
              <a:t>Vérification que le système ou logiciel fonctionne correctement </a:t>
            </a:r>
            <a:r>
              <a:rPr lang="fr-FR" altLang="fr-FR" sz="1800" b="1"/>
              <a:t>d’un point de vue technique</a:t>
            </a:r>
            <a:r>
              <a:rPr lang="fr-FR" altLang="fr-FR" sz="1800"/>
              <a:t>.</a:t>
            </a:r>
          </a:p>
          <a:p>
            <a:r>
              <a:rPr lang="fr-FR" altLang="fr-FR" sz="1800" b="1"/>
              <a:t>2. VABE : Vérification d’Aptitude à la Bonne Exploitation</a:t>
            </a:r>
          </a:p>
          <a:p>
            <a:r>
              <a:rPr lang="fr-FR" altLang="fr-FR" sz="1800"/>
              <a:t>Vérification que le système est </a:t>
            </a:r>
            <a:r>
              <a:rPr lang="fr-FR" altLang="fr-FR" sz="1800" b="1"/>
              <a:t>utilisable dans le contexte réel d’exploitation</a:t>
            </a:r>
            <a:r>
              <a:rPr lang="fr-FR" altLang="fr-FR" sz="1800"/>
              <a:t> par les utilisateurs finaux.</a:t>
            </a:r>
          </a:p>
          <a:p>
            <a:endParaRPr lang="fr-FR" altLang="fr-FR" sz="1800"/>
          </a:p>
        </p:txBody>
      </p:sp>
      <p:sp>
        <p:nvSpPr>
          <p:cNvPr id="34820" name="Espace réservé du numéro de diapositive 5">
            <a:extLst>
              <a:ext uri="{FF2B5EF4-FFF2-40B4-BE49-F238E27FC236}">
                <a16:creationId xmlns="" xmlns:a16="http://schemas.microsoft.com/office/drawing/2014/main" id="{DB819B6B-60E1-5515-9E07-8704F6C27DF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2DDD35EB-42EA-4B23-9C04-49D9CB817869}" type="slidenum">
              <a:rPr lang="fr-FR" altLang="fr-FR" sz="1400"/>
              <a:pPr>
                <a:spcBef>
                  <a:spcPct val="0"/>
                </a:spcBef>
                <a:buClrTx/>
                <a:buSzTx/>
                <a:buFontTx/>
                <a:buNone/>
              </a:pPr>
              <a:t>22</a:t>
            </a:fld>
            <a:endParaRPr lang="fr-FR" altLang="fr-FR" sz="1400"/>
          </a:p>
        </p:txBody>
      </p:sp>
    </p:spTree>
    <p:extLst>
      <p:ext uri="{BB962C8B-B14F-4D97-AF65-F5344CB8AC3E}">
        <p14:creationId xmlns:p14="http://schemas.microsoft.com/office/powerpoint/2010/main" val="172050209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Espace réservé du numéro de diapositive 3">
            <a:extLst>
              <a:ext uri="{FF2B5EF4-FFF2-40B4-BE49-F238E27FC236}">
                <a16:creationId xmlns="" xmlns:a16="http://schemas.microsoft.com/office/drawing/2014/main" id="{CCBA28CC-DD5B-E358-57B6-2AD78603F58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8F749E82-41F3-4E54-A4C7-0D405ED8F975}" type="slidenum">
              <a:rPr lang="fr-FR" altLang="fr-FR" sz="1400">
                <a:solidFill>
                  <a:srgbClr val="FFFFFF"/>
                </a:solidFill>
              </a:rPr>
              <a:pPr>
                <a:spcBef>
                  <a:spcPct val="0"/>
                </a:spcBef>
                <a:buClrTx/>
                <a:buSzTx/>
                <a:buFontTx/>
                <a:buNone/>
              </a:pPr>
              <a:t>23</a:t>
            </a:fld>
            <a:endParaRPr lang="fr-FR" altLang="fr-FR" sz="1400">
              <a:solidFill>
                <a:srgbClr val="FFFFFF"/>
              </a:solidFill>
            </a:endParaRPr>
          </a:p>
        </p:txBody>
      </p:sp>
      <p:pic>
        <p:nvPicPr>
          <p:cNvPr id="43011" name="Picture 2">
            <a:extLst>
              <a:ext uri="{FF2B5EF4-FFF2-40B4-BE49-F238E27FC236}">
                <a16:creationId xmlns="" xmlns:a16="http://schemas.microsoft.com/office/drawing/2014/main" id="{18700868-D95F-768C-5C72-82845C9652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6775" y="2520950"/>
            <a:ext cx="7410450" cy="181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3140091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9A1BA1F7-8A2B-1498-A2F2-AFE7718D45CD}"/>
              </a:ext>
            </a:extLst>
          </p:cNvPr>
          <p:cNvSpPr>
            <a:spLocks noGrp="1"/>
          </p:cNvSpPr>
          <p:nvPr>
            <p:ph type="title"/>
          </p:nvPr>
        </p:nvSpPr>
        <p:spPr/>
        <p:txBody>
          <a:bodyPr/>
          <a:lstStyle/>
          <a:p>
            <a:pPr>
              <a:defRPr/>
            </a:pPr>
            <a:r>
              <a:rPr lang="fr-CA" dirty="0"/>
              <a:t>caractéristiques:</a:t>
            </a:r>
            <a:endParaRPr lang="fr-FR" dirty="0"/>
          </a:p>
        </p:txBody>
      </p:sp>
      <p:sp>
        <p:nvSpPr>
          <p:cNvPr id="3" name="Espace réservé du contenu 2">
            <a:extLst>
              <a:ext uri="{FF2B5EF4-FFF2-40B4-BE49-F238E27FC236}">
                <a16:creationId xmlns="" xmlns:a16="http://schemas.microsoft.com/office/drawing/2014/main" id="{48B70D3E-DAE8-9917-1F9A-B3C8135E86A1}"/>
              </a:ext>
            </a:extLst>
          </p:cNvPr>
          <p:cNvSpPr>
            <a:spLocks noGrp="1"/>
          </p:cNvSpPr>
          <p:nvPr>
            <p:ph idx="1"/>
          </p:nvPr>
        </p:nvSpPr>
        <p:spPr/>
        <p:txBody>
          <a:bodyPr/>
          <a:lstStyle/>
          <a:p>
            <a:pPr>
              <a:buFont typeface="Arial" charset="0"/>
              <a:buChar char="•"/>
              <a:defRPr/>
            </a:pPr>
            <a:r>
              <a:rPr lang="fr-CA" dirty="0"/>
              <a:t>définir les rôles de chaque intervenant sur le projet</a:t>
            </a:r>
          </a:p>
          <a:p>
            <a:pPr>
              <a:buFont typeface="Arial" charset="0"/>
              <a:buChar char="•"/>
              <a:defRPr/>
            </a:pPr>
            <a:endParaRPr lang="fr-CA" dirty="0"/>
          </a:p>
          <a:p>
            <a:pPr marL="0" indent="0">
              <a:buFont typeface="Arial" charset="0"/>
              <a:buNone/>
              <a:defRPr/>
            </a:pPr>
            <a:r>
              <a:rPr lang="fr-CA" dirty="0"/>
              <a:t>• définir l’ensemble des processus à suivre afin de garantir un résultat satisfaisant en fin de projet</a:t>
            </a:r>
          </a:p>
          <a:p>
            <a:pPr marL="0" indent="0">
              <a:buFont typeface="Arial" charset="0"/>
              <a:buNone/>
              <a:defRPr/>
            </a:pPr>
            <a:endParaRPr lang="fr-CA" dirty="0"/>
          </a:p>
          <a:p>
            <a:pPr>
              <a:buFont typeface="Arial" charset="0"/>
              <a:buChar char="•"/>
              <a:defRPr/>
            </a:pPr>
            <a:r>
              <a:rPr lang="fr-CA" dirty="0"/>
              <a:t>Principe fondamental : </a:t>
            </a:r>
            <a:r>
              <a:rPr lang="fr-CA" b="1" dirty="0"/>
              <a:t>la planification</a:t>
            </a:r>
          </a:p>
          <a:p>
            <a:pPr>
              <a:buFont typeface="Arial" charset="0"/>
              <a:buChar char="•"/>
              <a:defRPr/>
            </a:pPr>
            <a:endParaRPr lang="fr-CA" dirty="0"/>
          </a:p>
          <a:p>
            <a:pPr>
              <a:buFont typeface="Arial" charset="0"/>
              <a:buChar char="•"/>
              <a:defRPr/>
            </a:pPr>
            <a:r>
              <a:rPr lang="fr-CA" dirty="0"/>
              <a:t>Pas de retour sur les phases précédentes, une fois validées</a:t>
            </a:r>
          </a:p>
          <a:p>
            <a:pPr>
              <a:buFont typeface="Arial" charset="0"/>
              <a:buChar char="•"/>
              <a:defRPr/>
            </a:pPr>
            <a:endParaRPr lang="fr-CA" dirty="0"/>
          </a:p>
          <a:p>
            <a:pPr>
              <a:buFont typeface="Arial" charset="0"/>
              <a:buChar char="•"/>
              <a:defRPr/>
            </a:pPr>
            <a:r>
              <a:rPr lang="fr-CA" dirty="0"/>
              <a:t>Inconvénient : Effet  tunnel</a:t>
            </a:r>
          </a:p>
          <a:p>
            <a:pPr>
              <a:buFont typeface="Arial" charset="0"/>
              <a:buChar char="•"/>
              <a:defRPr/>
            </a:pPr>
            <a:endParaRPr lang="fr-FR" dirty="0"/>
          </a:p>
        </p:txBody>
      </p:sp>
      <p:sp>
        <p:nvSpPr>
          <p:cNvPr id="44036" name="Espace réservé du numéro de diapositive 3">
            <a:extLst>
              <a:ext uri="{FF2B5EF4-FFF2-40B4-BE49-F238E27FC236}">
                <a16:creationId xmlns="" xmlns:a16="http://schemas.microsoft.com/office/drawing/2014/main" id="{AEAF6F4C-0206-3BE8-D92A-2D52A137D0E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FD8F387F-BEDB-4D95-B69A-846E291F00A2}" type="slidenum">
              <a:rPr lang="fr-FR" altLang="fr-FR" sz="1400">
                <a:solidFill>
                  <a:srgbClr val="FFFFFF"/>
                </a:solidFill>
              </a:rPr>
              <a:pPr>
                <a:spcBef>
                  <a:spcPct val="0"/>
                </a:spcBef>
                <a:buClrTx/>
                <a:buSzTx/>
                <a:buFontTx/>
                <a:buNone/>
              </a:pPr>
              <a:t>24</a:t>
            </a:fld>
            <a:endParaRPr lang="fr-FR" altLang="fr-FR" sz="1400">
              <a:solidFill>
                <a:srgbClr val="FFFFFF"/>
              </a:solidFill>
            </a:endParaRPr>
          </a:p>
        </p:txBody>
      </p:sp>
    </p:spTree>
    <p:extLst>
      <p:ext uri="{BB962C8B-B14F-4D97-AF65-F5344CB8AC3E}">
        <p14:creationId xmlns:p14="http://schemas.microsoft.com/office/powerpoint/2010/main" val="367683781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Espace réservé du numéro de diapositive 5">
            <a:extLst>
              <a:ext uri="{FF2B5EF4-FFF2-40B4-BE49-F238E27FC236}">
                <a16:creationId xmlns="" xmlns:a16="http://schemas.microsoft.com/office/drawing/2014/main" id="{7FB52989-8E1C-C035-7108-9A46F838AFD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3D4E16A4-9AA9-49F3-BABC-B68A5D41A561}" type="slidenum">
              <a:rPr lang="fr-FR" altLang="fr-FR" sz="1400"/>
              <a:pPr>
                <a:spcBef>
                  <a:spcPct val="0"/>
                </a:spcBef>
                <a:buClrTx/>
                <a:buSzTx/>
                <a:buFontTx/>
                <a:buNone/>
              </a:pPr>
              <a:t>25</a:t>
            </a:fld>
            <a:endParaRPr lang="fr-FR" altLang="fr-FR" sz="1400"/>
          </a:p>
        </p:txBody>
      </p:sp>
      <p:sp>
        <p:nvSpPr>
          <p:cNvPr id="29700" name="AutoShape 9" descr="Le cycle en V – De geek à directeur technique">
            <a:extLst>
              <a:ext uri="{FF2B5EF4-FFF2-40B4-BE49-F238E27FC236}">
                <a16:creationId xmlns="" xmlns:a16="http://schemas.microsoft.com/office/drawing/2014/main" id="{F5F38906-28F6-616C-9FCB-4FF9B9BECFBB}"/>
              </a:ext>
            </a:extLst>
          </p:cNvPr>
          <p:cNvSpPr>
            <a:spLocks noChangeAspect="1" noChangeArrowheads="1"/>
          </p:cNvSpPr>
          <p:nvPr/>
        </p:nvSpPr>
        <p:spPr bwMode="auto">
          <a:xfrm>
            <a:off x="155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eaLnBrk="1" hangingPunct="1">
              <a:spcBef>
                <a:spcPct val="0"/>
              </a:spcBef>
              <a:buClrTx/>
              <a:buSzTx/>
              <a:buFontTx/>
              <a:buNone/>
            </a:pPr>
            <a:endParaRPr lang="fr-FR" altLang="fr-FR" sz="1800"/>
          </a:p>
        </p:txBody>
      </p:sp>
      <p:sp>
        <p:nvSpPr>
          <p:cNvPr id="29701" name="AutoShape 11" descr="Le cycle en V – De geek à directeur technique">
            <a:extLst>
              <a:ext uri="{FF2B5EF4-FFF2-40B4-BE49-F238E27FC236}">
                <a16:creationId xmlns="" xmlns:a16="http://schemas.microsoft.com/office/drawing/2014/main" id="{089345CA-93F4-10D2-597F-A1A6CA9A0E72}"/>
              </a:ext>
            </a:extLst>
          </p:cNvPr>
          <p:cNvSpPr>
            <a:spLocks noChangeAspect="1" noChangeArrowheads="1"/>
          </p:cNvSpPr>
          <p:nvPr/>
        </p:nvSpPr>
        <p:spPr bwMode="auto">
          <a:xfrm>
            <a:off x="307975" y="79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eaLnBrk="1" hangingPunct="1">
              <a:spcBef>
                <a:spcPct val="0"/>
              </a:spcBef>
              <a:buClrTx/>
              <a:buSzTx/>
              <a:buFontTx/>
              <a:buNone/>
            </a:pPr>
            <a:endParaRPr lang="fr-FR" altLang="fr-FR" sz="1800"/>
          </a:p>
        </p:txBody>
      </p:sp>
      <p:sp>
        <p:nvSpPr>
          <p:cNvPr id="29702" name="AutoShape 13" descr="Le cycle en V – De geek à directeur technique">
            <a:extLst>
              <a:ext uri="{FF2B5EF4-FFF2-40B4-BE49-F238E27FC236}">
                <a16:creationId xmlns="" xmlns:a16="http://schemas.microsoft.com/office/drawing/2014/main" id="{AB946BA0-3A6D-256D-DBAD-52AF70766079}"/>
              </a:ext>
            </a:extLst>
          </p:cNvPr>
          <p:cNvSpPr>
            <a:spLocks noChangeAspect="1" noChangeArrowheads="1"/>
          </p:cNvSpPr>
          <p:nvPr/>
        </p:nvSpPr>
        <p:spPr bwMode="auto">
          <a:xfrm>
            <a:off x="460375" y="1603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eaLnBrk="1" hangingPunct="1">
              <a:spcBef>
                <a:spcPct val="0"/>
              </a:spcBef>
              <a:buClrTx/>
              <a:buSzTx/>
              <a:buFontTx/>
              <a:buNone/>
            </a:pPr>
            <a:endParaRPr lang="fr-FR" altLang="fr-FR" sz="1800"/>
          </a:p>
        </p:txBody>
      </p:sp>
      <p:sp>
        <p:nvSpPr>
          <p:cNvPr id="2" name="AutoShape 2" descr="Infographie du Cycle en V logiciel"/>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sp>
        <p:nvSpPr>
          <p:cNvPr id="3" name="AutoShape 4" descr="Infographie du Cycle en V logiciel"/>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205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975" y="465138"/>
            <a:ext cx="8584505" cy="6372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Espace réservé du numéro de diapositive 3">
            <a:extLst>
              <a:ext uri="{FF2B5EF4-FFF2-40B4-BE49-F238E27FC236}">
                <a16:creationId xmlns="" xmlns:a16="http://schemas.microsoft.com/office/drawing/2014/main" id="{A371A502-906C-F1C5-62CB-162C466B5B6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62AC3B1D-90FE-4A04-A57C-E0A2E68ED838}" type="slidenum">
              <a:rPr lang="fr-FR" altLang="fr-FR" sz="1400">
                <a:solidFill>
                  <a:srgbClr val="FFFFFF"/>
                </a:solidFill>
              </a:rPr>
              <a:pPr>
                <a:spcBef>
                  <a:spcPct val="0"/>
                </a:spcBef>
                <a:buClrTx/>
                <a:buSzTx/>
                <a:buFontTx/>
                <a:buNone/>
              </a:pPr>
              <a:t>26</a:t>
            </a:fld>
            <a:endParaRPr lang="fr-FR" altLang="fr-FR" sz="1400">
              <a:solidFill>
                <a:srgbClr val="FFFFFF"/>
              </a:solidFill>
            </a:endParaRPr>
          </a:p>
        </p:txBody>
      </p:sp>
      <p:sp>
        <p:nvSpPr>
          <p:cNvPr id="4" name="AutoShape 2" descr="Image générée : Infographie du modèle en Y aubrierri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571500"/>
            <a:ext cx="7344816" cy="6097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DD47BC73-A532-2783-5020-11B978564150}"/>
              </a:ext>
            </a:extLst>
          </p:cNvPr>
          <p:cNvSpPr>
            <a:spLocks noGrp="1"/>
          </p:cNvSpPr>
          <p:nvPr>
            <p:ph type="title"/>
          </p:nvPr>
        </p:nvSpPr>
        <p:spPr/>
        <p:txBody>
          <a:bodyPr>
            <a:noAutofit/>
          </a:bodyPr>
          <a:lstStyle/>
          <a:p>
            <a:pPr>
              <a:defRPr/>
            </a:pPr>
            <a:r>
              <a:rPr lang="fr-FR" sz="2000" b="1" dirty="0"/>
              <a:t>exemple concret</a:t>
            </a:r>
            <a:r>
              <a:rPr lang="fr-FR" sz="2000" dirty="0"/>
              <a:t> : un projet de mise en place d’un </a:t>
            </a:r>
            <a:r>
              <a:rPr lang="fr-FR" sz="2000" b="1" dirty="0"/>
              <a:t>système de gestion universitaire</a:t>
            </a:r>
            <a:r>
              <a:rPr lang="fr-FR" sz="2000" dirty="0"/>
              <a:t> (gestion des étudiants, des cours et des examens).</a:t>
            </a:r>
          </a:p>
        </p:txBody>
      </p:sp>
      <p:pic>
        <p:nvPicPr>
          <p:cNvPr id="31747" name="Espace réservé du contenu 5">
            <a:extLst>
              <a:ext uri="{FF2B5EF4-FFF2-40B4-BE49-F238E27FC236}">
                <a16:creationId xmlns="" xmlns:a16="http://schemas.microsoft.com/office/drawing/2014/main" id="{E61F244C-82EA-B34B-F025-4844C7FE892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41313" y="1460500"/>
            <a:ext cx="7831137" cy="4876800"/>
          </a:xfrm>
        </p:spPr>
      </p:pic>
      <p:sp>
        <p:nvSpPr>
          <p:cNvPr id="31748" name="Espace réservé du numéro de diapositive 3">
            <a:extLst>
              <a:ext uri="{FF2B5EF4-FFF2-40B4-BE49-F238E27FC236}">
                <a16:creationId xmlns="" xmlns:a16="http://schemas.microsoft.com/office/drawing/2014/main" id="{66A11255-AF62-39C2-03DC-158ADEB0F8E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F49C303-1E23-44E1-A7E9-795B2280BC7F}" type="slidenum">
              <a:rPr lang="fr-FR" altLang="fr-FR">
                <a:solidFill>
                  <a:srgbClr val="FFFFFF"/>
                </a:solidFill>
              </a:rPr>
              <a:pPr/>
              <a:t>27</a:t>
            </a:fld>
            <a:endParaRPr lang="fr-FR" altLang="fr-FR">
              <a:solidFill>
                <a:srgbClr val="FFFFFF"/>
              </a:solidFill>
            </a:endParaRPr>
          </a:p>
        </p:txBody>
      </p:sp>
      <p:pic>
        <p:nvPicPr>
          <p:cNvPr id="31749" name="Image 7">
            <a:extLst>
              <a:ext uri="{FF2B5EF4-FFF2-40B4-BE49-F238E27FC236}">
                <a16:creationId xmlns="" xmlns:a16="http://schemas.microsoft.com/office/drawing/2014/main" id="{C79E37AB-12F7-83E1-3C70-BE340FCD2E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310313"/>
            <a:ext cx="9144000"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82963457-F1E0-5DAB-22A1-CFAE0B37835A}"/>
              </a:ext>
            </a:extLst>
          </p:cNvPr>
          <p:cNvSpPr>
            <a:spLocks noGrp="1"/>
          </p:cNvSpPr>
          <p:nvPr>
            <p:ph type="title"/>
          </p:nvPr>
        </p:nvSpPr>
        <p:spPr/>
        <p:txBody>
          <a:bodyPr/>
          <a:lstStyle/>
          <a:p>
            <a:endParaRPr lang="fr-FR"/>
          </a:p>
        </p:txBody>
      </p:sp>
      <p:sp>
        <p:nvSpPr>
          <p:cNvPr id="4" name="Espace réservé du numéro de diapositive 3">
            <a:extLst>
              <a:ext uri="{FF2B5EF4-FFF2-40B4-BE49-F238E27FC236}">
                <a16:creationId xmlns="" xmlns:a16="http://schemas.microsoft.com/office/drawing/2014/main" id="{D070276B-3A83-75D9-6CFC-40B69643884A}"/>
              </a:ext>
            </a:extLst>
          </p:cNvPr>
          <p:cNvSpPr>
            <a:spLocks noGrp="1"/>
          </p:cNvSpPr>
          <p:nvPr>
            <p:ph type="sldNum" sz="quarter" idx="12"/>
          </p:nvPr>
        </p:nvSpPr>
        <p:spPr/>
        <p:txBody>
          <a:bodyPr/>
          <a:lstStyle/>
          <a:p>
            <a:pPr>
              <a:defRPr/>
            </a:pPr>
            <a:fld id="{5AADBDEC-170C-4FD0-9153-539311C0A87E}" type="slidenum">
              <a:rPr lang="fr-FR" altLang="fr-FR" smtClean="0"/>
              <a:pPr>
                <a:defRPr/>
              </a:pPr>
              <a:t>28</a:t>
            </a:fld>
            <a:endParaRPr lang="fr-FR" altLang="fr-FR"/>
          </a:p>
        </p:txBody>
      </p:sp>
      <p:pic>
        <p:nvPicPr>
          <p:cNvPr id="6" name="Image 5">
            <a:extLst>
              <a:ext uri="{FF2B5EF4-FFF2-40B4-BE49-F238E27FC236}">
                <a16:creationId xmlns="" xmlns:a16="http://schemas.microsoft.com/office/drawing/2014/main" id="{ED960F28-5E37-5EE8-EAD8-7BE3F9C75AFA}"/>
              </a:ext>
            </a:extLst>
          </p:cNvPr>
          <p:cNvPicPr>
            <a:picLocks noChangeAspect="1"/>
          </p:cNvPicPr>
          <p:nvPr/>
        </p:nvPicPr>
        <p:blipFill>
          <a:blip r:embed="rId2"/>
          <a:stretch>
            <a:fillRect/>
          </a:stretch>
        </p:blipFill>
        <p:spPr>
          <a:xfrm>
            <a:off x="0" y="620688"/>
            <a:ext cx="9144000" cy="6096000"/>
          </a:xfrm>
          <a:prstGeom prst="rect">
            <a:avLst/>
          </a:prstGeom>
        </p:spPr>
      </p:pic>
    </p:spTree>
    <p:extLst>
      <p:ext uri="{BB962C8B-B14F-4D97-AF65-F5344CB8AC3E}">
        <p14:creationId xmlns:p14="http://schemas.microsoft.com/office/powerpoint/2010/main" val="26612564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Espace réservé du contenu 5">
            <a:extLst>
              <a:ext uri="{FF2B5EF4-FFF2-40B4-BE49-F238E27FC236}">
                <a16:creationId xmlns="" xmlns:a16="http://schemas.microsoft.com/office/drawing/2014/main" id="{63FAAD26-8063-E822-C0BB-51628CE9CAD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79388" y="182563"/>
            <a:ext cx="8229600" cy="4598987"/>
          </a:xfrm>
        </p:spPr>
      </p:pic>
      <p:sp>
        <p:nvSpPr>
          <p:cNvPr id="32771" name="Espace réservé du numéro de diapositive 3">
            <a:extLst>
              <a:ext uri="{FF2B5EF4-FFF2-40B4-BE49-F238E27FC236}">
                <a16:creationId xmlns="" xmlns:a16="http://schemas.microsoft.com/office/drawing/2014/main" id="{90BF6671-FBBA-CC12-AF9F-7A3E241684C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77CDA0B-54AA-4650-B207-B456E58C1C2F}" type="slidenum">
              <a:rPr lang="fr-FR" altLang="fr-FR">
                <a:solidFill>
                  <a:srgbClr val="FFFFFF"/>
                </a:solidFill>
              </a:rPr>
              <a:pPr/>
              <a:t>29</a:t>
            </a:fld>
            <a:endParaRPr lang="fr-FR" altLang="fr-FR">
              <a:solidFill>
                <a:srgbClr val="FFFFFF"/>
              </a:solidFill>
            </a:endParaRPr>
          </a:p>
        </p:txBody>
      </p:sp>
      <p:pic>
        <p:nvPicPr>
          <p:cNvPr id="32772" name="Image 7">
            <a:extLst>
              <a:ext uri="{FF2B5EF4-FFF2-40B4-BE49-F238E27FC236}">
                <a16:creationId xmlns="" xmlns:a16="http://schemas.microsoft.com/office/drawing/2014/main" id="{653D903F-A004-5E33-033B-A0145E038E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375" y="4803775"/>
            <a:ext cx="8229600" cy="203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8909BCA8-E9F5-2462-35AE-C4EEF1278884}"/>
              </a:ext>
            </a:extLst>
          </p:cNvPr>
          <p:cNvSpPr>
            <a:spLocks noGrp="1"/>
          </p:cNvSpPr>
          <p:nvPr>
            <p:ph type="title"/>
          </p:nvPr>
        </p:nvSpPr>
        <p:spPr/>
        <p:txBody>
          <a:bodyPr/>
          <a:lstStyle/>
          <a:p>
            <a:endParaRPr lang="fr-FR"/>
          </a:p>
        </p:txBody>
      </p:sp>
      <p:sp>
        <p:nvSpPr>
          <p:cNvPr id="4" name="Espace réservé du numéro de diapositive 3">
            <a:extLst>
              <a:ext uri="{FF2B5EF4-FFF2-40B4-BE49-F238E27FC236}">
                <a16:creationId xmlns="" xmlns:a16="http://schemas.microsoft.com/office/drawing/2014/main" id="{ECD2F457-8A03-DE71-2F26-9781AABEB3A6}"/>
              </a:ext>
            </a:extLst>
          </p:cNvPr>
          <p:cNvSpPr>
            <a:spLocks noGrp="1"/>
          </p:cNvSpPr>
          <p:nvPr>
            <p:ph type="sldNum" sz="quarter" idx="12"/>
          </p:nvPr>
        </p:nvSpPr>
        <p:spPr/>
        <p:txBody>
          <a:bodyPr/>
          <a:lstStyle/>
          <a:p>
            <a:pPr>
              <a:defRPr/>
            </a:pPr>
            <a:fld id="{5AADBDEC-170C-4FD0-9153-539311C0A87E}" type="slidenum">
              <a:rPr lang="fr-FR" altLang="fr-FR" smtClean="0"/>
              <a:pPr>
                <a:defRPr/>
              </a:pPr>
              <a:t>30</a:t>
            </a:fld>
            <a:endParaRPr lang="fr-FR" altLang="fr-FR"/>
          </a:p>
        </p:txBody>
      </p:sp>
      <p:pic>
        <p:nvPicPr>
          <p:cNvPr id="6" name="Image 5">
            <a:extLst>
              <a:ext uri="{FF2B5EF4-FFF2-40B4-BE49-F238E27FC236}">
                <a16:creationId xmlns="" xmlns:a16="http://schemas.microsoft.com/office/drawing/2014/main" id="{DEE0669D-7CA7-0AFD-9F74-F2A0FDDFA595}"/>
              </a:ext>
            </a:extLst>
          </p:cNvPr>
          <p:cNvPicPr>
            <a:picLocks noChangeAspect="1"/>
          </p:cNvPicPr>
          <p:nvPr/>
        </p:nvPicPr>
        <p:blipFill>
          <a:blip r:embed="rId2"/>
          <a:stretch>
            <a:fillRect/>
          </a:stretch>
        </p:blipFill>
        <p:spPr>
          <a:xfrm>
            <a:off x="2637" y="381000"/>
            <a:ext cx="9144000" cy="6096000"/>
          </a:xfrm>
          <a:prstGeom prst="rect">
            <a:avLst/>
          </a:prstGeom>
        </p:spPr>
      </p:pic>
    </p:spTree>
    <p:extLst>
      <p:ext uri="{BB962C8B-B14F-4D97-AF65-F5344CB8AC3E}">
        <p14:creationId xmlns:p14="http://schemas.microsoft.com/office/powerpoint/2010/main" val="40683673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B082E729-DB1B-21E7-5E0C-1E115EF045A1}"/>
              </a:ext>
            </a:extLst>
          </p:cNvPr>
          <p:cNvSpPr>
            <a:spLocks noGrp="1"/>
          </p:cNvSpPr>
          <p:nvPr>
            <p:ph type="title"/>
          </p:nvPr>
        </p:nvSpPr>
        <p:spPr/>
        <p:txBody>
          <a:bodyPr>
            <a:normAutofit fontScale="90000"/>
          </a:bodyPr>
          <a:lstStyle/>
          <a:p>
            <a:pPr>
              <a:defRPr/>
            </a:pPr>
            <a:r>
              <a:rPr lang="fr-FR" b="1" dirty="0"/>
              <a:t>Différence en une phrase</a:t>
            </a:r>
            <a:br>
              <a:rPr lang="fr-FR" b="1" dirty="0"/>
            </a:br>
            <a:endParaRPr lang="fr-FR" dirty="0"/>
          </a:p>
        </p:txBody>
      </p:sp>
      <p:sp>
        <p:nvSpPr>
          <p:cNvPr id="33795" name="Espace réservé du contenu 2">
            <a:extLst>
              <a:ext uri="{FF2B5EF4-FFF2-40B4-BE49-F238E27FC236}">
                <a16:creationId xmlns="" xmlns:a16="http://schemas.microsoft.com/office/drawing/2014/main" id="{9348E0DA-FAFD-8244-3037-BA53CDFDA130}"/>
              </a:ext>
            </a:extLst>
          </p:cNvPr>
          <p:cNvSpPr>
            <a:spLocks noGrp="1"/>
          </p:cNvSpPr>
          <p:nvPr>
            <p:ph idx="1"/>
          </p:nvPr>
        </p:nvSpPr>
        <p:spPr/>
        <p:txBody>
          <a:bodyPr/>
          <a:lstStyle/>
          <a:p>
            <a:r>
              <a:rPr lang="fr-FR" altLang="fr-FR" b="1" dirty="0"/>
              <a:t>Cycle en V</a:t>
            </a:r>
            <a:r>
              <a:rPr lang="fr-FR" altLang="fr-FR" dirty="0"/>
              <a:t> : un seul axe (développement logiciel classique).</a:t>
            </a:r>
          </a:p>
          <a:p>
            <a:r>
              <a:rPr lang="fr-FR" altLang="fr-FR" b="1" dirty="0"/>
              <a:t>Cycle en Y</a:t>
            </a:r>
            <a:r>
              <a:rPr lang="fr-FR" altLang="fr-FR" dirty="0"/>
              <a:t> : deux axes parallèles (développement logiciel(fonctionnel) </a:t>
            </a:r>
            <a:r>
              <a:rPr lang="fr-FR" altLang="fr-FR" b="1" dirty="0"/>
              <a:t>et</a:t>
            </a:r>
            <a:r>
              <a:rPr lang="fr-FR" altLang="fr-FR" dirty="0"/>
              <a:t> gestion des données(technique)), qui se rejoignent à l’intégration.</a:t>
            </a:r>
          </a:p>
          <a:p>
            <a:endParaRPr lang="fr-FR" altLang="fr-FR" dirty="0"/>
          </a:p>
        </p:txBody>
      </p:sp>
      <p:sp>
        <p:nvSpPr>
          <p:cNvPr id="33796" name="Espace réservé du numéro de diapositive 3">
            <a:extLst>
              <a:ext uri="{FF2B5EF4-FFF2-40B4-BE49-F238E27FC236}">
                <a16:creationId xmlns="" xmlns:a16="http://schemas.microsoft.com/office/drawing/2014/main" id="{0A056957-FFC7-F828-EB1E-02E994B0135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FFCA511-844E-42EA-9E5E-1B1B698AF61C}" type="slidenum">
              <a:rPr lang="fr-FR" altLang="fr-FR">
                <a:solidFill>
                  <a:srgbClr val="FFFFFF"/>
                </a:solidFill>
              </a:rPr>
              <a:pPr/>
              <a:t>31</a:t>
            </a:fld>
            <a:endParaRPr lang="fr-FR" altLang="fr-FR">
              <a:solidFill>
                <a:srgbClr val="FFFFFF"/>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a:extLst>
              <a:ext uri="{FF2B5EF4-FFF2-40B4-BE49-F238E27FC236}">
                <a16:creationId xmlns="" xmlns:a16="http://schemas.microsoft.com/office/drawing/2014/main" id="{A11AFE68-0BBB-523C-AB45-0002C9BAA775}"/>
              </a:ext>
            </a:extLst>
          </p:cNvPr>
          <p:cNvSpPr>
            <a:spLocks noGrp="1" noChangeArrowheads="1"/>
          </p:cNvSpPr>
          <p:nvPr>
            <p:ph type="title"/>
          </p:nvPr>
        </p:nvSpPr>
        <p:spPr/>
        <p:txBody>
          <a:bodyPr/>
          <a:lstStyle/>
          <a:p>
            <a:pPr eaLnBrk="1" fontAlgn="auto" hangingPunct="1">
              <a:spcAft>
                <a:spcPts val="0"/>
              </a:spcAft>
              <a:defRPr/>
            </a:pPr>
            <a:r>
              <a:rPr lang="fr-FR" sz="3200" b="1" dirty="0" err="1"/>
              <a:t>IV-L’ordonnancement</a:t>
            </a:r>
            <a:r>
              <a:rPr lang="fr-FR" sz="3200" b="1" dirty="0"/>
              <a:t> et la planification</a:t>
            </a:r>
          </a:p>
        </p:txBody>
      </p:sp>
      <p:sp>
        <p:nvSpPr>
          <p:cNvPr id="35843" name="Rectangle 3">
            <a:extLst>
              <a:ext uri="{FF2B5EF4-FFF2-40B4-BE49-F238E27FC236}">
                <a16:creationId xmlns="" xmlns:a16="http://schemas.microsoft.com/office/drawing/2014/main" id="{4866B8E2-28BC-3F3C-F2DA-4F2D23179EFA}"/>
              </a:ext>
            </a:extLst>
          </p:cNvPr>
          <p:cNvSpPr>
            <a:spLocks noGrp="1"/>
          </p:cNvSpPr>
          <p:nvPr>
            <p:ph idx="1"/>
          </p:nvPr>
        </p:nvSpPr>
        <p:spPr/>
        <p:txBody>
          <a:bodyPr/>
          <a:lstStyle/>
          <a:p>
            <a:pPr eaLnBrk="1" hangingPunct="1"/>
            <a:r>
              <a:rPr lang="fr-FR" altLang="fr-FR" sz="1800"/>
              <a:t>Planification: choisir et organiser dans le temps les actions qui vont permettre d'atteindre l'objectif du projet</a:t>
            </a:r>
          </a:p>
          <a:p>
            <a:pPr lvl="1" eaLnBrk="1" hangingPunct="1"/>
            <a:r>
              <a:rPr lang="fr-FR" altLang="fr-FR">
                <a:latin typeface="Times New Roman" panose="02020603050405020304" pitchFamily="18" charset="0"/>
              </a:rPr>
              <a:t>Les objectifs du planning sont les suivants : </a:t>
            </a:r>
          </a:p>
          <a:p>
            <a:pPr lvl="2" eaLnBrk="1" hangingPunct="1"/>
            <a:r>
              <a:rPr lang="fr-FR" altLang="fr-FR" sz="2000">
                <a:latin typeface="Times New Roman" panose="02020603050405020304" pitchFamily="18" charset="0"/>
              </a:rPr>
              <a:t>déterminer si les objectifs sont réalisés ou dépassés </a:t>
            </a:r>
          </a:p>
          <a:p>
            <a:pPr lvl="2" eaLnBrk="1" hangingPunct="1"/>
            <a:r>
              <a:rPr lang="fr-FR" altLang="fr-FR" sz="2000">
                <a:latin typeface="Times New Roman" panose="02020603050405020304" pitchFamily="18" charset="0"/>
              </a:rPr>
              <a:t>suivre et communiquer l’avancement du projet </a:t>
            </a:r>
          </a:p>
          <a:p>
            <a:pPr lvl="2" eaLnBrk="1" hangingPunct="1"/>
            <a:r>
              <a:rPr lang="fr-FR" altLang="fr-FR" sz="2000">
                <a:latin typeface="Times New Roman" panose="02020603050405020304" pitchFamily="18" charset="0"/>
              </a:rPr>
              <a:t>affecter les ressources aux tâches</a:t>
            </a:r>
            <a:endParaRPr lang="fr-FR" altLang="fr-FR" sz="1400"/>
          </a:p>
          <a:p>
            <a:pPr eaLnBrk="1" hangingPunct="1"/>
            <a:endParaRPr lang="fr-FR" altLang="fr-FR" sz="1800"/>
          </a:p>
          <a:p>
            <a:pPr eaLnBrk="1" hangingPunct="1"/>
            <a:r>
              <a:rPr lang="fr-FR" altLang="fr-FR" sz="1800"/>
              <a:t>Ordonnancement :placer dans le temps un ensemble de taches à exécuter</a:t>
            </a:r>
          </a:p>
          <a:p>
            <a:pPr lvl="1" eaLnBrk="1" hangingPunct="1"/>
            <a:r>
              <a:rPr lang="fr-FR" altLang="fr-FR" sz="2400">
                <a:latin typeface="Times New Roman" panose="02020603050405020304" pitchFamily="18" charset="0"/>
              </a:rPr>
              <a:t>Exemple :</a:t>
            </a:r>
          </a:p>
          <a:p>
            <a:pPr lvl="1" eaLnBrk="1" hangingPunct="1"/>
            <a:r>
              <a:rPr lang="fr-FR" altLang="fr-FR" sz="2400">
                <a:latin typeface="Times New Roman" panose="02020603050405020304" pitchFamily="18" charset="0"/>
              </a:rPr>
              <a:t> on ne pourra pas Créer la base de données sans conception.</a:t>
            </a:r>
          </a:p>
        </p:txBody>
      </p:sp>
      <p:sp>
        <p:nvSpPr>
          <p:cNvPr id="35844" name="Espace réservé du numéro de diapositive 5">
            <a:extLst>
              <a:ext uri="{FF2B5EF4-FFF2-40B4-BE49-F238E27FC236}">
                <a16:creationId xmlns="" xmlns:a16="http://schemas.microsoft.com/office/drawing/2014/main" id="{82721BBD-891D-4B23-4619-5E1DF305328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F0C7083C-4BEE-4C09-AC9B-D808B3987872}" type="slidenum">
              <a:rPr lang="fr-FR" altLang="fr-FR" sz="1400"/>
              <a:pPr>
                <a:spcBef>
                  <a:spcPct val="0"/>
                </a:spcBef>
                <a:buClrTx/>
                <a:buSzTx/>
                <a:buFontTx/>
                <a:buNone/>
              </a:pPr>
              <a:t>32</a:t>
            </a:fld>
            <a:endParaRPr lang="fr-FR" altLang="fr-FR" sz="14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a:extLst>
              <a:ext uri="{FF2B5EF4-FFF2-40B4-BE49-F238E27FC236}">
                <a16:creationId xmlns="" xmlns:a16="http://schemas.microsoft.com/office/drawing/2014/main" id="{8AA4254E-B2CF-9600-7B61-ADDE241ACEDB}"/>
              </a:ext>
            </a:extLst>
          </p:cNvPr>
          <p:cNvSpPr>
            <a:spLocks noGrp="1" noChangeArrowheads="1"/>
          </p:cNvSpPr>
          <p:nvPr>
            <p:ph type="title"/>
          </p:nvPr>
        </p:nvSpPr>
        <p:spPr/>
        <p:txBody>
          <a:bodyPr>
            <a:normAutofit fontScale="90000"/>
          </a:bodyPr>
          <a:lstStyle/>
          <a:p>
            <a:pPr eaLnBrk="1" fontAlgn="auto" hangingPunct="1">
              <a:spcAft>
                <a:spcPts val="0"/>
              </a:spcAft>
              <a:defRPr/>
            </a:pPr>
            <a:r>
              <a:rPr lang="fr-FR" sz="3200" b="1"/>
              <a:t>V-LE DIAGRAMME DE</a:t>
            </a:r>
            <a:br>
              <a:rPr lang="fr-FR" sz="3200" b="1"/>
            </a:br>
            <a:r>
              <a:rPr lang="fr-FR" sz="3200" b="1"/>
              <a:t>GANTT</a:t>
            </a:r>
          </a:p>
        </p:txBody>
      </p:sp>
      <p:sp>
        <p:nvSpPr>
          <p:cNvPr id="36867" name="Rectangle 3">
            <a:extLst>
              <a:ext uri="{FF2B5EF4-FFF2-40B4-BE49-F238E27FC236}">
                <a16:creationId xmlns="" xmlns:a16="http://schemas.microsoft.com/office/drawing/2014/main" id="{3473B7EE-E5C7-9EB7-3737-2134252C4EA0}"/>
              </a:ext>
            </a:extLst>
          </p:cNvPr>
          <p:cNvSpPr>
            <a:spLocks noGrp="1"/>
          </p:cNvSpPr>
          <p:nvPr>
            <p:ph idx="1"/>
          </p:nvPr>
        </p:nvSpPr>
        <p:spPr/>
        <p:txBody>
          <a:bodyPr/>
          <a:lstStyle/>
          <a:p>
            <a:pPr eaLnBrk="1" hangingPunct="1">
              <a:lnSpc>
                <a:spcPct val="80000"/>
              </a:lnSpc>
            </a:pPr>
            <a:r>
              <a:rPr lang="fr-FR" altLang="fr-FR" sz="1800" b="1"/>
              <a:t>Le diagramme de GANTT est un outil permettant de modéliser la planification de tâches nécessaires à la réalisation d'un projet. Cette méthode permet de représenter graphiquement dans le temps les diverses tâches composant un projet et de visualiser l’avancement du projet. C’est également un bon moyen de communication entre les différents acteurs d’un projet.</a:t>
            </a:r>
          </a:p>
        </p:txBody>
      </p:sp>
      <p:sp>
        <p:nvSpPr>
          <p:cNvPr id="36868" name="Espace réservé du numéro de diapositive 5">
            <a:extLst>
              <a:ext uri="{FF2B5EF4-FFF2-40B4-BE49-F238E27FC236}">
                <a16:creationId xmlns="" xmlns:a16="http://schemas.microsoft.com/office/drawing/2014/main" id="{6972450D-9F0F-2335-9732-D3C2F25CBA1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6BB2AA6A-8D90-49EB-8D9D-230C768E9B3A}" type="slidenum">
              <a:rPr lang="fr-FR" altLang="fr-FR" sz="1400"/>
              <a:pPr>
                <a:spcBef>
                  <a:spcPct val="0"/>
                </a:spcBef>
                <a:buClrTx/>
                <a:buSzTx/>
                <a:buFontTx/>
                <a:buNone/>
              </a:pPr>
              <a:t>33</a:t>
            </a:fld>
            <a:endParaRPr lang="fr-FR" altLang="fr-FR" sz="1400"/>
          </a:p>
        </p:txBody>
      </p:sp>
      <p:pic>
        <p:nvPicPr>
          <p:cNvPr id="36869" name="Picture 5">
            <a:extLst>
              <a:ext uri="{FF2B5EF4-FFF2-40B4-BE49-F238E27FC236}">
                <a16:creationId xmlns="" xmlns:a16="http://schemas.microsoft.com/office/drawing/2014/main" id="{E2467E5D-AD8F-065B-A769-DFB416DCE0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3" y="3573463"/>
            <a:ext cx="7608887" cy="278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a:extLst>
              <a:ext uri="{FF2B5EF4-FFF2-40B4-BE49-F238E27FC236}">
                <a16:creationId xmlns="" xmlns:a16="http://schemas.microsoft.com/office/drawing/2014/main" id="{ACF001D9-6263-B06B-B0CD-52449FBBC529}"/>
              </a:ext>
            </a:extLst>
          </p:cNvPr>
          <p:cNvSpPr>
            <a:spLocks noGrp="1" noChangeArrowheads="1"/>
          </p:cNvSpPr>
          <p:nvPr>
            <p:ph type="title"/>
          </p:nvPr>
        </p:nvSpPr>
        <p:spPr/>
        <p:txBody>
          <a:bodyPr>
            <a:normAutofit fontScale="90000"/>
          </a:bodyPr>
          <a:lstStyle/>
          <a:p>
            <a:pPr eaLnBrk="1" fontAlgn="auto" hangingPunct="1">
              <a:spcAft>
                <a:spcPts val="0"/>
              </a:spcAft>
              <a:defRPr/>
            </a:pPr>
            <a:r>
              <a:rPr lang="fr-FR" sz="3200" b="1"/>
              <a:t>VI-LE DIAGRAMME DE</a:t>
            </a:r>
            <a:br>
              <a:rPr lang="fr-FR" sz="3200" b="1"/>
            </a:br>
            <a:r>
              <a:rPr lang="fr-FR" sz="3200" b="1"/>
              <a:t>PERT</a:t>
            </a:r>
          </a:p>
        </p:txBody>
      </p:sp>
      <p:sp>
        <p:nvSpPr>
          <p:cNvPr id="37891" name="Rectangle 3">
            <a:extLst>
              <a:ext uri="{FF2B5EF4-FFF2-40B4-BE49-F238E27FC236}">
                <a16:creationId xmlns="" xmlns:a16="http://schemas.microsoft.com/office/drawing/2014/main" id="{BAF275EE-E9AE-2948-F346-78D62610B0E3}"/>
              </a:ext>
            </a:extLst>
          </p:cNvPr>
          <p:cNvSpPr>
            <a:spLocks noGrp="1"/>
          </p:cNvSpPr>
          <p:nvPr>
            <p:ph idx="1"/>
          </p:nvPr>
        </p:nvSpPr>
        <p:spPr/>
        <p:txBody>
          <a:bodyPr/>
          <a:lstStyle/>
          <a:p>
            <a:pPr eaLnBrk="1" hangingPunct="1"/>
            <a:r>
              <a:rPr lang="fr-FR" altLang="fr-FR" sz="1800" b="1"/>
              <a:t>Le diagramme de PERT est un outil qui permet de bien représenter  l'ordonnancement du projet</a:t>
            </a:r>
            <a:r>
              <a:rPr lang="fr-FR" altLang="fr-FR"/>
              <a:t> .</a:t>
            </a:r>
          </a:p>
          <a:p>
            <a:pPr eaLnBrk="1" hangingPunct="1"/>
            <a:endParaRPr lang="fr-FR" altLang="fr-FR"/>
          </a:p>
        </p:txBody>
      </p:sp>
      <p:sp>
        <p:nvSpPr>
          <p:cNvPr id="37892" name="Espace réservé du numéro de diapositive 5">
            <a:extLst>
              <a:ext uri="{FF2B5EF4-FFF2-40B4-BE49-F238E27FC236}">
                <a16:creationId xmlns="" xmlns:a16="http://schemas.microsoft.com/office/drawing/2014/main" id="{BC270416-E8FE-EFE4-54E6-20EC699E567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8023CE0C-82A9-4414-A1DF-182328D45135}" type="slidenum">
              <a:rPr lang="fr-FR" altLang="fr-FR" sz="1400"/>
              <a:pPr>
                <a:spcBef>
                  <a:spcPct val="0"/>
                </a:spcBef>
                <a:buClrTx/>
                <a:buSzTx/>
                <a:buFontTx/>
                <a:buNone/>
              </a:pPr>
              <a:t>34</a:t>
            </a:fld>
            <a:endParaRPr lang="fr-FR" altLang="fr-FR" sz="1400"/>
          </a:p>
        </p:txBody>
      </p:sp>
      <p:sp>
        <p:nvSpPr>
          <p:cNvPr id="37893" name="Rectangle 4">
            <a:extLst>
              <a:ext uri="{FF2B5EF4-FFF2-40B4-BE49-F238E27FC236}">
                <a16:creationId xmlns="" xmlns:a16="http://schemas.microsoft.com/office/drawing/2014/main" id="{C55C9851-B482-D307-B61B-5CA2B0CB7C50}"/>
              </a:ext>
            </a:extLst>
          </p:cNvPr>
          <p:cNvSpPr>
            <a:spLocks noChangeArrowheads="1"/>
          </p:cNvSpPr>
          <p:nvPr/>
        </p:nvSpPr>
        <p:spPr bwMode="auto">
          <a:xfrm>
            <a:off x="971550" y="2492375"/>
            <a:ext cx="5599113" cy="146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eaLnBrk="1" hangingPunct="1">
              <a:spcBef>
                <a:spcPct val="0"/>
              </a:spcBef>
              <a:buClrTx/>
              <a:buSzTx/>
              <a:buFontTx/>
              <a:buNone/>
            </a:pPr>
            <a:r>
              <a:rPr lang="fr-FR" altLang="fr-FR" sz="1800" b="1"/>
              <a:t>Tâche critique</a:t>
            </a:r>
          </a:p>
          <a:p>
            <a:pPr lvl="1" eaLnBrk="1" hangingPunct="1">
              <a:spcBef>
                <a:spcPct val="0"/>
              </a:spcBef>
              <a:buClrTx/>
              <a:buSzTx/>
              <a:buFontTx/>
              <a:buNone/>
            </a:pPr>
            <a:r>
              <a:rPr lang="fr-FR" altLang="fr-FR" sz="1800"/>
              <a:t>Toute tâche qui en dérapant, fait déraper le projet dans sa globalité</a:t>
            </a:r>
          </a:p>
          <a:p>
            <a:pPr eaLnBrk="1" hangingPunct="1">
              <a:spcBef>
                <a:spcPct val="0"/>
              </a:spcBef>
              <a:buClrTx/>
              <a:buSzTx/>
              <a:buFontTx/>
              <a:buNone/>
            </a:pPr>
            <a:r>
              <a:rPr lang="fr-FR" altLang="fr-FR" sz="1800" b="1"/>
              <a:t>Chemin critique</a:t>
            </a:r>
          </a:p>
          <a:p>
            <a:pPr lvl="1" eaLnBrk="1" hangingPunct="1">
              <a:spcBef>
                <a:spcPct val="0"/>
              </a:spcBef>
              <a:buClrTx/>
              <a:buSzTx/>
              <a:buFontTx/>
              <a:buNone/>
            </a:pPr>
            <a:r>
              <a:rPr lang="fr-FR" altLang="fr-FR" sz="1800"/>
              <a:t>Enchaînement de toutes les tâches critiques</a:t>
            </a:r>
          </a:p>
        </p:txBody>
      </p:sp>
      <p:pic>
        <p:nvPicPr>
          <p:cNvPr id="37894" name="Picture 5">
            <a:extLst>
              <a:ext uri="{FF2B5EF4-FFF2-40B4-BE49-F238E27FC236}">
                <a16:creationId xmlns="" xmlns:a16="http://schemas.microsoft.com/office/drawing/2014/main" id="{33D3F4E5-43EC-CD7A-2399-321199D0DB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4076700"/>
            <a:ext cx="8123238" cy="230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a:extLst>
              <a:ext uri="{FF2B5EF4-FFF2-40B4-BE49-F238E27FC236}">
                <a16:creationId xmlns="" xmlns:a16="http://schemas.microsoft.com/office/drawing/2014/main" id="{32074BCF-36BA-2D37-E4BB-D0AE7B99BA62}"/>
              </a:ext>
            </a:extLst>
          </p:cNvPr>
          <p:cNvSpPr>
            <a:spLocks noGrp="1" noChangeArrowheads="1"/>
          </p:cNvSpPr>
          <p:nvPr>
            <p:ph type="title"/>
          </p:nvPr>
        </p:nvSpPr>
        <p:spPr/>
        <p:txBody>
          <a:bodyPr/>
          <a:lstStyle/>
          <a:p>
            <a:pPr eaLnBrk="1" fontAlgn="auto" hangingPunct="1">
              <a:spcAft>
                <a:spcPts val="0"/>
              </a:spcAft>
              <a:defRPr/>
            </a:pPr>
            <a:r>
              <a:rPr lang="fr-FR"/>
              <a:t>Exemples</a:t>
            </a:r>
          </a:p>
        </p:txBody>
      </p:sp>
      <p:sp>
        <p:nvSpPr>
          <p:cNvPr id="38915" name="Rectangle 3">
            <a:extLst>
              <a:ext uri="{FF2B5EF4-FFF2-40B4-BE49-F238E27FC236}">
                <a16:creationId xmlns="" xmlns:a16="http://schemas.microsoft.com/office/drawing/2014/main" id="{7A5B0821-D24D-A8DD-F5ED-F21AF8A4878B}"/>
              </a:ext>
            </a:extLst>
          </p:cNvPr>
          <p:cNvSpPr>
            <a:spLocks noGrp="1"/>
          </p:cNvSpPr>
          <p:nvPr>
            <p:ph idx="1"/>
          </p:nvPr>
        </p:nvSpPr>
        <p:spPr/>
        <p:txBody>
          <a:bodyPr/>
          <a:lstStyle/>
          <a:p>
            <a:pPr eaLnBrk="1" hangingPunct="1"/>
            <a:r>
              <a:rPr lang="fr-FR" altLang="fr-FR"/>
              <a:t>Réalisation d’un diagramme de GANTT</a:t>
            </a:r>
          </a:p>
          <a:p>
            <a:pPr eaLnBrk="1" hangingPunct="1"/>
            <a:r>
              <a:rPr lang="fr-FR" altLang="fr-FR"/>
              <a:t>Réalisation d’un diagramme de PERT</a:t>
            </a:r>
          </a:p>
        </p:txBody>
      </p:sp>
      <p:sp>
        <p:nvSpPr>
          <p:cNvPr id="38916" name="Espace réservé du numéro de diapositive 5">
            <a:extLst>
              <a:ext uri="{FF2B5EF4-FFF2-40B4-BE49-F238E27FC236}">
                <a16:creationId xmlns="" xmlns:a16="http://schemas.microsoft.com/office/drawing/2014/main" id="{4B1E06DA-DB6A-B0E5-5B84-62CF840AC63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710A121F-E420-4129-A96C-2556736B0841}" type="slidenum">
              <a:rPr lang="fr-FR" altLang="fr-FR" sz="1400"/>
              <a:pPr>
                <a:spcBef>
                  <a:spcPct val="0"/>
                </a:spcBef>
                <a:buClrTx/>
                <a:buSzTx/>
                <a:buFontTx/>
                <a:buNone/>
              </a:pPr>
              <a:t>35</a:t>
            </a:fld>
            <a:endParaRPr lang="fr-FR" altLang="fr-FR" sz="14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Espace réservé du numéro de diapositive 3">
            <a:extLst>
              <a:ext uri="{FF2B5EF4-FFF2-40B4-BE49-F238E27FC236}">
                <a16:creationId xmlns="" xmlns:a16="http://schemas.microsoft.com/office/drawing/2014/main" id="{FC295221-69E4-F877-E4F9-7779A36FAFC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16B22653-4EF3-401B-8F68-2E3EE6FF8F91}" type="slidenum">
              <a:rPr lang="fr-FR" altLang="fr-FR" sz="1400">
                <a:solidFill>
                  <a:srgbClr val="FFFFFF"/>
                </a:solidFill>
              </a:rPr>
              <a:pPr>
                <a:spcBef>
                  <a:spcPct val="0"/>
                </a:spcBef>
                <a:buClrTx/>
                <a:buSzTx/>
                <a:buFontTx/>
                <a:buNone/>
              </a:pPr>
              <a:t>36</a:t>
            </a:fld>
            <a:endParaRPr lang="fr-FR" altLang="fr-FR" sz="1400">
              <a:solidFill>
                <a:srgbClr val="FFFFFF"/>
              </a:solidFill>
            </a:endParaRPr>
          </a:p>
        </p:txBody>
      </p:sp>
      <p:pic>
        <p:nvPicPr>
          <p:cNvPr id="39939" name="Picture 2">
            <a:extLst>
              <a:ext uri="{FF2B5EF4-FFF2-40B4-BE49-F238E27FC236}">
                <a16:creationId xmlns="" xmlns:a16="http://schemas.microsoft.com/office/drawing/2014/main" id="{0AA402C1-5329-222F-26C5-2B6F1F6476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0625" y="404813"/>
            <a:ext cx="6572250" cy="283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9940" name="Picture 3">
            <a:extLst>
              <a:ext uri="{FF2B5EF4-FFF2-40B4-BE49-F238E27FC236}">
                <a16:creationId xmlns="" xmlns:a16="http://schemas.microsoft.com/office/drawing/2014/main" id="{E26CD8AA-C2C5-286B-7F53-2E6D46B2B0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6825" y="3413125"/>
            <a:ext cx="6642100" cy="182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a:extLst>
              <a:ext uri="{FF2B5EF4-FFF2-40B4-BE49-F238E27FC236}">
                <a16:creationId xmlns="" xmlns:a16="http://schemas.microsoft.com/office/drawing/2014/main" id="{8AF51A39-1112-8BE9-A87A-391462D71F5C}"/>
              </a:ext>
            </a:extLst>
          </p:cNvPr>
          <p:cNvSpPr/>
          <p:nvPr/>
        </p:nvSpPr>
        <p:spPr>
          <a:xfrm>
            <a:off x="2443163" y="3794125"/>
            <a:ext cx="649287" cy="1254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fr-CA" sz="1200" dirty="0">
                <a:solidFill>
                  <a:srgbClr val="FFFF00"/>
                </a:solidFill>
              </a:rPr>
              <a:t>0-4</a:t>
            </a:r>
            <a:endParaRPr lang="fr-FR" sz="1200" dirty="0">
              <a:solidFill>
                <a:srgbClr val="FFFF00"/>
              </a:solidFill>
            </a:endParaRPr>
          </a:p>
        </p:txBody>
      </p:sp>
      <p:sp>
        <p:nvSpPr>
          <p:cNvPr id="10" name="Rectangle 9">
            <a:extLst>
              <a:ext uri="{FF2B5EF4-FFF2-40B4-BE49-F238E27FC236}">
                <a16:creationId xmlns="" xmlns:a16="http://schemas.microsoft.com/office/drawing/2014/main" id="{6091686E-25E4-04D4-BC14-652F6F2DB50E}"/>
              </a:ext>
            </a:extLst>
          </p:cNvPr>
          <p:cNvSpPr/>
          <p:nvPr/>
        </p:nvSpPr>
        <p:spPr>
          <a:xfrm>
            <a:off x="2443163" y="4724400"/>
            <a:ext cx="649287" cy="1254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fr-CA" sz="1200" dirty="0">
                <a:solidFill>
                  <a:srgbClr val="FFFF00"/>
                </a:solidFill>
              </a:rPr>
              <a:t>0-7</a:t>
            </a:r>
            <a:endParaRPr lang="fr-FR" sz="1200" dirty="0">
              <a:solidFill>
                <a:srgbClr val="FFFF00"/>
              </a:solidFill>
            </a:endParaRPr>
          </a:p>
        </p:txBody>
      </p:sp>
      <p:sp>
        <p:nvSpPr>
          <p:cNvPr id="11" name="Rectangle 10">
            <a:extLst>
              <a:ext uri="{FF2B5EF4-FFF2-40B4-BE49-F238E27FC236}">
                <a16:creationId xmlns="" xmlns:a16="http://schemas.microsoft.com/office/drawing/2014/main" id="{A3A70871-1831-270B-84F5-F2EB9E69F08D}"/>
              </a:ext>
            </a:extLst>
          </p:cNvPr>
          <p:cNvSpPr/>
          <p:nvPr/>
        </p:nvSpPr>
        <p:spPr>
          <a:xfrm>
            <a:off x="3708400" y="4278313"/>
            <a:ext cx="647700" cy="1238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fr-CA" sz="1200" dirty="0">
                <a:solidFill>
                  <a:srgbClr val="FFFF00"/>
                </a:solidFill>
              </a:rPr>
              <a:t>7-9</a:t>
            </a:r>
            <a:endParaRPr lang="fr-FR" sz="1200" dirty="0">
              <a:solidFill>
                <a:srgbClr val="FFFF00"/>
              </a:solidFill>
            </a:endParaRPr>
          </a:p>
        </p:txBody>
      </p:sp>
      <p:sp>
        <p:nvSpPr>
          <p:cNvPr id="13" name="Rectangle 12">
            <a:extLst>
              <a:ext uri="{FF2B5EF4-FFF2-40B4-BE49-F238E27FC236}">
                <a16:creationId xmlns="" xmlns:a16="http://schemas.microsoft.com/office/drawing/2014/main" id="{6E5C104C-FD7B-5907-98E3-070F5D3E5DD8}"/>
              </a:ext>
            </a:extLst>
          </p:cNvPr>
          <p:cNvSpPr/>
          <p:nvPr/>
        </p:nvSpPr>
        <p:spPr>
          <a:xfrm>
            <a:off x="3690938" y="5281613"/>
            <a:ext cx="647700" cy="1254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fr-CA" sz="1200" dirty="0">
                <a:solidFill>
                  <a:srgbClr val="FFFF00"/>
                </a:solidFill>
              </a:rPr>
              <a:t>7-19</a:t>
            </a:r>
            <a:endParaRPr lang="fr-FR" sz="1200" dirty="0">
              <a:solidFill>
                <a:srgbClr val="FFFF00"/>
              </a:solidFill>
            </a:endParaRPr>
          </a:p>
        </p:txBody>
      </p:sp>
      <p:sp>
        <p:nvSpPr>
          <p:cNvPr id="14" name="Rectangle 13">
            <a:extLst>
              <a:ext uri="{FF2B5EF4-FFF2-40B4-BE49-F238E27FC236}">
                <a16:creationId xmlns="" xmlns:a16="http://schemas.microsoft.com/office/drawing/2014/main" id="{8760A650-1E5F-BFEA-1482-10480D8B0167}"/>
              </a:ext>
            </a:extLst>
          </p:cNvPr>
          <p:cNvSpPr/>
          <p:nvPr/>
        </p:nvSpPr>
        <p:spPr>
          <a:xfrm>
            <a:off x="5003800" y="4787900"/>
            <a:ext cx="647700" cy="1254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fr-CA" sz="1200" dirty="0">
                <a:solidFill>
                  <a:srgbClr val="FFFF00"/>
                </a:solidFill>
              </a:rPr>
              <a:t>19-25</a:t>
            </a:r>
            <a:endParaRPr lang="fr-FR" sz="1200" dirty="0">
              <a:solidFill>
                <a:srgbClr val="FFFF00"/>
              </a:solidFill>
            </a:endParaRPr>
          </a:p>
        </p:txBody>
      </p:sp>
      <p:sp>
        <p:nvSpPr>
          <p:cNvPr id="15" name="Rectangle 14">
            <a:extLst>
              <a:ext uri="{FF2B5EF4-FFF2-40B4-BE49-F238E27FC236}">
                <a16:creationId xmlns="" xmlns:a16="http://schemas.microsoft.com/office/drawing/2014/main" id="{A577A7FC-5C3D-7B55-AAF9-64EE2F3F7110}"/>
              </a:ext>
            </a:extLst>
          </p:cNvPr>
          <p:cNvSpPr/>
          <p:nvPr/>
        </p:nvSpPr>
        <p:spPr>
          <a:xfrm>
            <a:off x="5003800" y="3840163"/>
            <a:ext cx="647700" cy="1254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fr-CA" sz="1200" dirty="0">
                <a:solidFill>
                  <a:srgbClr val="FFFF00"/>
                </a:solidFill>
              </a:rPr>
              <a:t>9-12</a:t>
            </a:r>
            <a:endParaRPr lang="fr-FR" sz="1200" dirty="0">
              <a:solidFill>
                <a:srgbClr val="FFFF00"/>
              </a:solidFill>
            </a:endParaRPr>
          </a:p>
        </p:txBody>
      </p:sp>
      <p:sp>
        <p:nvSpPr>
          <p:cNvPr id="16" name="Rectangle 15">
            <a:extLst>
              <a:ext uri="{FF2B5EF4-FFF2-40B4-BE49-F238E27FC236}">
                <a16:creationId xmlns="" xmlns:a16="http://schemas.microsoft.com/office/drawing/2014/main" id="{F366A696-954D-2494-21F1-05DCAE1938B1}"/>
              </a:ext>
            </a:extLst>
          </p:cNvPr>
          <p:cNvSpPr/>
          <p:nvPr/>
        </p:nvSpPr>
        <p:spPr>
          <a:xfrm>
            <a:off x="6084888" y="4724400"/>
            <a:ext cx="647700" cy="1254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fr-CA" sz="1200" dirty="0">
                <a:solidFill>
                  <a:srgbClr val="FFFF00"/>
                </a:solidFill>
              </a:rPr>
              <a:t>25-27</a:t>
            </a:r>
            <a:endParaRPr lang="fr-FR" sz="1200" dirty="0">
              <a:solidFill>
                <a:srgbClr val="FFFF00"/>
              </a:solidFill>
            </a:endParaRPr>
          </a:p>
        </p:txBody>
      </p:sp>
      <p:sp>
        <p:nvSpPr>
          <p:cNvPr id="7" name="Ellipse 6">
            <a:extLst>
              <a:ext uri="{FF2B5EF4-FFF2-40B4-BE49-F238E27FC236}">
                <a16:creationId xmlns="" xmlns:a16="http://schemas.microsoft.com/office/drawing/2014/main" id="{B30A61FE-5E4D-BB6D-52B4-DF352176D979}"/>
              </a:ext>
            </a:extLst>
          </p:cNvPr>
          <p:cNvSpPr/>
          <p:nvPr/>
        </p:nvSpPr>
        <p:spPr>
          <a:xfrm>
            <a:off x="1441450" y="4364038"/>
            <a:ext cx="360363" cy="3841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fr-CA" dirty="0">
                <a:solidFill>
                  <a:srgbClr val="FFFF00"/>
                </a:solidFill>
              </a:rPr>
              <a:t>0</a:t>
            </a:r>
            <a:endParaRPr lang="fr-FR" dirty="0">
              <a:solidFill>
                <a:srgbClr val="FFFF00"/>
              </a:solidFill>
            </a:endParaRPr>
          </a:p>
        </p:txBody>
      </p:sp>
      <p:sp>
        <p:nvSpPr>
          <p:cNvPr id="18" name="Ellipse 17">
            <a:extLst>
              <a:ext uri="{FF2B5EF4-FFF2-40B4-BE49-F238E27FC236}">
                <a16:creationId xmlns="" xmlns:a16="http://schemas.microsoft.com/office/drawing/2014/main" id="{B1C516BC-5C40-C392-1E42-DBAB057E5DD6}"/>
              </a:ext>
            </a:extLst>
          </p:cNvPr>
          <p:cNvSpPr/>
          <p:nvPr/>
        </p:nvSpPr>
        <p:spPr>
          <a:xfrm>
            <a:off x="7256463" y="4405313"/>
            <a:ext cx="503237" cy="3841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fr-CA" sz="1200" dirty="0">
                <a:solidFill>
                  <a:srgbClr val="FFFF00"/>
                </a:solidFill>
              </a:rPr>
              <a:t>27</a:t>
            </a:r>
            <a:endParaRPr lang="fr-FR" sz="1200" dirty="0">
              <a:solidFill>
                <a:srgbClr val="FFFF00"/>
              </a:solidFill>
            </a:endParaRPr>
          </a:p>
        </p:txBody>
      </p:sp>
      <p:sp>
        <p:nvSpPr>
          <p:cNvPr id="8" name="Rectangle 7">
            <a:extLst>
              <a:ext uri="{FF2B5EF4-FFF2-40B4-BE49-F238E27FC236}">
                <a16:creationId xmlns="" xmlns:a16="http://schemas.microsoft.com/office/drawing/2014/main" id="{46726977-6FBF-4B4B-F4FB-E6146D899E36}"/>
              </a:ext>
            </a:extLst>
          </p:cNvPr>
          <p:cNvSpPr/>
          <p:nvPr/>
        </p:nvSpPr>
        <p:spPr>
          <a:xfrm>
            <a:off x="207963" y="5348288"/>
            <a:ext cx="2635250" cy="38576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fr-CA" dirty="0">
                <a:solidFill>
                  <a:srgbClr val="FFFF00"/>
                </a:solidFill>
              </a:rPr>
              <a:t>Les dates au plus tôt</a:t>
            </a:r>
            <a:endParaRPr lang="fr-FR" dirty="0">
              <a:solidFill>
                <a:srgbClr val="FFFF00"/>
              </a:solidFill>
            </a:endParaRPr>
          </a:p>
        </p:txBody>
      </p:sp>
      <p:sp>
        <p:nvSpPr>
          <p:cNvPr id="24" name="Rectangle 23">
            <a:extLst>
              <a:ext uri="{FF2B5EF4-FFF2-40B4-BE49-F238E27FC236}">
                <a16:creationId xmlns="" xmlns:a16="http://schemas.microsoft.com/office/drawing/2014/main" id="{4C9312A5-34AD-43BC-0821-5B890F844132}"/>
              </a:ext>
            </a:extLst>
          </p:cNvPr>
          <p:cNvSpPr/>
          <p:nvPr/>
        </p:nvSpPr>
        <p:spPr>
          <a:xfrm>
            <a:off x="6084888" y="5002213"/>
            <a:ext cx="647700" cy="1254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fr-CA" sz="1200" dirty="0">
                <a:solidFill>
                  <a:srgbClr val="FF0000"/>
                </a:solidFill>
              </a:rPr>
              <a:t>25-27</a:t>
            </a:r>
            <a:endParaRPr lang="fr-FR" sz="1200" dirty="0">
              <a:solidFill>
                <a:srgbClr val="FF0000"/>
              </a:solidFill>
            </a:endParaRPr>
          </a:p>
        </p:txBody>
      </p:sp>
      <p:sp>
        <p:nvSpPr>
          <p:cNvPr id="25" name="Rectangle 24">
            <a:extLst>
              <a:ext uri="{FF2B5EF4-FFF2-40B4-BE49-F238E27FC236}">
                <a16:creationId xmlns="" xmlns:a16="http://schemas.microsoft.com/office/drawing/2014/main" id="{87C3AF3A-AC7E-0351-CFB7-FAA40EA0A859}"/>
              </a:ext>
            </a:extLst>
          </p:cNvPr>
          <p:cNvSpPr/>
          <p:nvPr/>
        </p:nvSpPr>
        <p:spPr>
          <a:xfrm>
            <a:off x="5003800" y="5029200"/>
            <a:ext cx="647700" cy="1254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fr-CA" sz="1200" dirty="0">
                <a:solidFill>
                  <a:srgbClr val="FF0000"/>
                </a:solidFill>
              </a:rPr>
              <a:t>19-25</a:t>
            </a:r>
            <a:endParaRPr lang="fr-FR" sz="1200" dirty="0">
              <a:solidFill>
                <a:srgbClr val="FF0000"/>
              </a:solidFill>
            </a:endParaRPr>
          </a:p>
        </p:txBody>
      </p:sp>
      <p:sp>
        <p:nvSpPr>
          <p:cNvPr id="26" name="Rectangle 25">
            <a:extLst>
              <a:ext uri="{FF2B5EF4-FFF2-40B4-BE49-F238E27FC236}">
                <a16:creationId xmlns="" xmlns:a16="http://schemas.microsoft.com/office/drawing/2014/main" id="{A5533CBD-061C-B567-DAB6-8805ECDC8FD4}"/>
              </a:ext>
            </a:extLst>
          </p:cNvPr>
          <p:cNvSpPr/>
          <p:nvPr/>
        </p:nvSpPr>
        <p:spPr>
          <a:xfrm>
            <a:off x="5003800" y="4076700"/>
            <a:ext cx="647700" cy="1254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fr-CA" sz="1200" dirty="0">
                <a:solidFill>
                  <a:srgbClr val="FF0000"/>
                </a:solidFill>
              </a:rPr>
              <a:t>27-24</a:t>
            </a:r>
            <a:endParaRPr lang="fr-FR" sz="1200" dirty="0">
              <a:solidFill>
                <a:srgbClr val="FF0000"/>
              </a:solidFill>
            </a:endParaRPr>
          </a:p>
        </p:txBody>
      </p:sp>
      <p:sp>
        <p:nvSpPr>
          <p:cNvPr id="27" name="Rectangle 26">
            <a:extLst>
              <a:ext uri="{FF2B5EF4-FFF2-40B4-BE49-F238E27FC236}">
                <a16:creationId xmlns="" xmlns:a16="http://schemas.microsoft.com/office/drawing/2014/main" id="{4FA9DD8B-F9F9-C772-7CB6-0B99672AB337}"/>
              </a:ext>
            </a:extLst>
          </p:cNvPr>
          <p:cNvSpPr/>
          <p:nvPr/>
        </p:nvSpPr>
        <p:spPr>
          <a:xfrm>
            <a:off x="3697288" y="4492625"/>
            <a:ext cx="647700" cy="1254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fr-CA" sz="1200" dirty="0">
                <a:solidFill>
                  <a:srgbClr val="FF0000"/>
                </a:solidFill>
              </a:rPr>
              <a:t>19-17</a:t>
            </a:r>
            <a:endParaRPr lang="fr-FR" sz="1200" dirty="0">
              <a:solidFill>
                <a:srgbClr val="FF0000"/>
              </a:solidFill>
            </a:endParaRPr>
          </a:p>
        </p:txBody>
      </p:sp>
      <p:sp>
        <p:nvSpPr>
          <p:cNvPr id="28" name="Rectangle 27">
            <a:extLst>
              <a:ext uri="{FF2B5EF4-FFF2-40B4-BE49-F238E27FC236}">
                <a16:creationId xmlns="" xmlns:a16="http://schemas.microsoft.com/office/drawing/2014/main" id="{76C34868-02DB-AAD8-EE06-EC9158E4749D}"/>
              </a:ext>
            </a:extLst>
          </p:cNvPr>
          <p:cNvSpPr/>
          <p:nvPr/>
        </p:nvSpPr>
        <p:spPr>
          <a:xfrm>
            <a:off x="3708400" y="5540375"/>
            <a:ext cx="647700" cy="1254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fr-CA" sz="1200" dirty="0">
                <a:solidFill>
                  <a:srgbClr val="FF0000"/>
                </a:solidFill>
              </a:rPr>
              <a:t>7-19</a:t>
            </a:r>
            <a:endParaRPr lang="fr-FR" sz="1200" dirty="0">
              <a:solidFill>
                <a:srgbClr val="FF0000"/>
              </a:solidFill>
            </a:endParaRPr>
          </a:p>
        </p:txBody>
      </p:sp>
      <p:sp>
        <p:nvSpPr>
          <p:cNvPr id="29" name="Rectangle 28">
            <a:extLst>
              <a:ext uri="{FF2B5EF4-FFF2-40B4-BE49-F238E27FC236}">
                <a16:creationId xmlns="" xmlns:a16="http://schemas.microsoft.com/office/drawing/2014/main" id="{9E87307C-9351-99B9-B46C-4E18A3647E90}"/>
              </a:ext>
            </a:extLst>
          </p:cNvPr>
          <p:cNvSpPr/>
          <p:nvPr/>
        </p:nvSpPr>
        <p:spPr>
          <a:xfrm>
            <a:off x="2498725" y="4905375"/>
            <a:ext cx="647700" cy="1238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fr-CA" sz="1200" dirty="0">
                <a:solidFill>
                  <a:srgbClr val="FF0000"/>
                </a:solidFill>
              </a:rPr>
              <a:t>0-7</a:t>
            </a:r>
            <a:endParaRPr lang="fr-FR" sz="1200" dirty="0">
              <a:solidFill>
                <a:srgbClr val="FF0000"/>
              </a:solidFill>
            </a:endParaRPr>
          </a:p>
        </p:txBody>
      </p:sp>
      <p:sp>
        <p:nvSpPr>
          <p:cNvPr id="30" name="Rectangle 29">
            <a:extLst>
              <a:ext uri="{FF2B5EF4-FFF2-40B4-BE49-F238E27FC236}">
                <a16:creationId xmlns="" xmlns:a16="http://schemas.microsoft.com/office/drawing/2014/main" id="{2A5FB36C-0DE8-7209-8E8E-E956F54BFCD7}"/>
              </a:ext>
            </a:extLst>
          </p:cNvPr>
          <p:cNvSpPr/>
          <p:nvPr/>
        </p:nvSpPr>
        <p:spPr>
          <a:xfrm>
            <a:off x="2459038" y="4014788"/>
            <a:ext cx="649287" cy="1254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fr-CA" sz="1200" dirty="0">
                <a:solidFill>
                  <a:srgbClr val="FF0000"/>
                </a:solidFill>
              </a:rPr>
              <a:t>13-17</a:t>
            </a:r>
            <a:endParaRPr lang="fr-FR" sz="1200" dirty="0">
              <a:solidFill>
                <a:srgbClr val="FF0000"/>
              </a:solidFill>
            </a:endParaRPr>
          </a:p>
        </p:txBody>
      </p:sp>
      <p:sp>
        <p:nvSpPr>
          <p:cNvPr id="31" name="Rectangle 30">
            <a:extLst>
              <a:ext uri="{FF2B5EF4-FFF2-40B4-BE49-F238E27FC236}">
                <a16:creationId xmlns="" xmlns:a16="http://schemas.microsoft.com/office/drawing/2014/main" id="{D846CE44-9F2E-9EFC-ABA0-842907C57C25}"/>
              </a:ext>
            </a:extLst>
          </p:cNvPr>
          <p:cNvSpPr/>
          <p:nvPr/>
        </p:nvSpPr>
        <p:spPr>
          <a:xfrm>
            <a:off x="190500" y="6092825"/>
            <a:ext cx="2636838" cy="3857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fr-CA" dirty="0">
                <a:solidFill>
                  <a:srgbClr val="FF0000"/>
                </a:solidFill>
              </a:rPr>
              <a:t>Les dates au plus tard</a:t>
            </a:r>
            <a:endParaRPr lang="fr-FR" dirty="0">
              <a:solidFill>
                <a:srgbClr val="FF0000"/>
              </a:solidFill>
            </a:endParaRPr>
          </a:p>
        </p:txBody>
      </p:sp>
      <p:sp>
        <p:nvSpPr>
          <p:cNvPr id="19" name="Rectangle 18">
            <a:extLst>
              <a:ext uri="{FF2B5EF4-FFF2-40B4-BE49-F238E27FC236}">
                <a16:creationId xmlns="" xmlns:a16="http://schemas.microsoft.com/office/drawing/2014/main" id="{E9863E67-1A79-721B-E123-68A607010D3F}"/>
              </a:ext>
            </a:extLst>
          </p:cNvPr>
          <p:cNvSpPr/>
          <p:nvPr/>
        </p:nvSpPr>
        <p:spPr>
          <a:xfrm>
            <a:off x="3563938" y="6284913"/>
            <a:ext cx="2663825"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fr-CA" dirty="0"/>
              <a:t>Calcul des </a:t>
            </a:r>
            <a:r>
              <a:rPr lang="fr-CA"/>
              <a:t>marges D</a:t>
            </a:r>
            <a:endParaRPr lang="fr-FR" dirty="0"/>
          </a:p>
        </p:txBody>
      </p:sp>
      <p:sp>
        <p:nvSpPr>
          <p:cNvPr id="21" name="Rectangle 20">
            <a:extLst>
              <a:ext uri="{FF2B5EF4-FFF2-40B4-BE49-F238E27FC236}">
                <a16:creationId xmlns="" xmlns:a16="http://schemas.microsoft.com/office/drawing/2014/main" id="{25FA71D0-F5C0-FBC7-08D5-0900DFA893FF}"/>
              </a:ext>
            </a:extLst>
          </p:cNvPr>
          <p:cNvSpPr/>
          <p:nvPr/>
        </p:nvSpPr>
        <p:spPr>
          <a:xfrm>
            <a:off x="6119813" y="5251450"/>
            <a:ext cx="755650" cy="2730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fr-CA" dirty="0"/>
              <a:t>D=0</a:t>
            </a:r>
            <a:endParaRPr lang="fr-FR" dirty="0"/>
          </a:p>
        </p:txBody>
      </p:sp>
      <p:sp>
        <p:nvSpPr>
          <p:cNvPr id="35" name="Rectangle 34">
            <a:extLst>
              <a:ext uri="{FF2B5EF4-FFF2-40B4-BE49-F238E27FC236}">
                <a16:creationId xmlns="" xmlns:a16="http://schemas.microsoft.com/office/drawing/2014/main" id="{7BBC20B7-88A7-29D2-E79E-CB2922EC37AB}"/>
              </a:ext>
            </a:extLst>
          </p:cNvPr>
          <p:cNvSpPr/>
          <p:nvPr/>
        </p:nvSpPr>
        <p:spPr>
          <a:xfrm>
            <a:off x="5003800" y="5284788"/>
            <a:ext cx="757238" cy="2730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fr-CA" dirty="0"/>
              <a:t>D=0</a:t>
            </a:r>
            <a:endParaRPr lang="fr-FR" dirty="0"/>
          </a:p>
        </p:txBody>
      </p:sp>
      <p:sp>
        <p:nvSpPr>
          <p:cNvPr id="36" name="Rectangle 35">
            <a:extLst>
              <a:ext uri="{FF2B5EF4-FFF2-40B4-BE49-F238E27FC236}">
                <a16:creationId xmlns="" xmlns:a16="http://schemas.microsoft.com/office/drawing/2014/main" id="{23F11051-C75F-7E16-70F2-9ABB5026B3E7}"/>
              </a:ext>
            </a:extLst>
          </p:cNvPr>
          <p:cNvSpPr/>
          <p:nvPr/>
        </p:nvSpPr>
        <p:spPr>
          <a:xfrm>
            <a:off x="3713163" y="5734050"/>
            <a:ext cx="757237" cy="2730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fr-CA" dirty="0"/>
              <a:t>D=0</a:t>
            </a:r>
            <a:endParaRPr lang="fr-FR" dirty="0"/>
          </a:p>
        </p:txBody>
      </p:sp>
      <p:sp>
        <p:nvSpPr>
          <p:cNvPr id="37" name="Rectangle 36">
            <a:extLst>
              <a:ext uri="{FF2B5EF4-FFF2-40B4-BE49-F238E27FC236}">
                <a16:creationId xmlns="" xmlns:a16="http://schemas.microsoft.com/office/drawing/2014/main" id="{29BABCB7-B853-13D4-F33B-8A0C8908ABC1}"/>
              </a:ext>
            </a:extLst>
          </p:cNvPr>
          <p:cNvSpPr/>
          <p:nvPr/>
        </p:nvSpPr>
        <p:spPr>
          <a:xfrm>
            <a:off x="2498725" y="5099050"/>
            <a:ext cx="757238" cy="2746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fr-CA" dirty="0"/>
              <a:t>D=0</a:t>
            </a:r>
            <a:endParaRPr lang="fr-FR" dirty="0"/>
          </a:p>
        </p:txBody>
      </p:sp>
      <p:sp>
        <p:nvSpPr>
          <p:cNvPr id="38" name="Rectangle 37">
            <a:extLst>
              <a:ext uri="{FF2B5EF4-FFF2-40B4-BE49-F238E27FC236}">
                <a16:creationId xmlns="" xmlns:a16="http://schemas.microsoft.com/office/drawing/2014/main" id="{D7189270-FB41-BACA-CEA8-30EA38BCBA49}"/>
              </a:ext>
            </a:extLst>
          </p:cNvPr>
          <p:cNvSpPr/>
          <p:nvPr/>
        </p:nvSpPr>
        <p:spPr>
          <a:xfrm>
            <a:off x="5713413" y="3857625"/>
            <a:ext cx="604837" cy="2889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fr-CA" sz="1200" dirty="0"/>
              <a:t>D=12</a:t>
            </a:r>
            <a:endParaRPr lang="fr-FR" sz="1200" dirty="0"/>
          </a:p>
        </p:txBody>
      </p:sp>
      <p:sp>
        <p:nvSpPr>
          <p:cNvPr id="39" name="Rectangle 38">
            <a:extLst>
              <a:ext uri="{FF2B5EF4-FFF2-40B4-BE49-F238E27FC236}">
                <a16:creationId xmlns="" xmlns:a16="http://schemas.microsoft.com/office/drawing/2014/main" id="{35FE984A-C766-F939-F945-B65CF330091F}"/>
              </a:ext>
            </a:extLst>
          </p:cNvPr>
          <p:cNvSpPr/>
          <p:nvPr/>
        </p:nvSpPr>
        <p:spPr>
          <a:xfrm>
            <a:off x="3725863" y="3573463"/>
            <a:ext cx="604837" cy="2905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fr-CA" sz="1200" dirty="0"/>
              <a:t>D=2</a:t>
            </a:r>
            <a:endParaRPr lang="fr-FR" sz="1200" dirty="0"/>
          </a:p>
        </p:txBody>
      </p:sp>
      <p:sp>
        <p:nvSpPr>
          <p:cNvPr id="40" name="Rectangle 39">
            <a:extLst>
              <a:ext uri="{FF2B5EF4-FFF2-40B4-BE49-F238E27FC236}">
                <a16:creationId xmlns="" xmlns:a16="http://schemas.microsoft.com/office/drawing/2014/main" id="{1D94EAF5-868E-354E-A833-904514F23C13}"/>
              </a:ext>
            </a:extLst>
          </p:cNvPr>
          <p:cNvSpPr/>
          <p:nvPr/>
        </p:nvSpPr>
        <p:spPr>
          <a:xfrm>
            <a:off x="1620838" y="3429000"/>
            <a:ext cx="604837" cy="2889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fr-CA" sz="1200" dirty="0"/>
              <a:t>D=4</a:t>
            </a:r>
            <a:endParaRPr lang="fr-FR" sz="1200" dirty="0"/>
          </a:p>
        </p:txBody>
      </p:sp>
      <p:sp>
        <p:nvSpPr>
          <p:cNvPr id="37888" name="Flèche droite 37887">
            <a:extLst>
              <a:ext uri="{FF2B5EF4-FFF2-40B4-BE49-F238E27FC236}">
                <a16:creationId xmlns="" xmlns:a16="http://schemas.microsoft.com/office/drawing/2014/main" id="{FFFEDD6A-811C-8950-31E8-ABD9B5CB6E2B}"/>
              </a:ext>
            </a:extLst>
          </p:cNvPr>
          <p:cNvSpPr/>
          <p:nvPr/>
        </p:nvSpPr>
        <p:spPr>
          <a:xfrm>
            <a:off x="6318250" y="5870575"/>
            <a:ext cx="1925638" cy="511175"/>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fr-CA" dirty="0">
                <a:solidFill>
                  <a:srgbClr val="00B0F0"/>
                </a:solidFill>
              </a:rPr>
              <a:t>Chemin critique</a:t>
            </a:r>
            <a:endParaRPr lang="fr-FR" dirty="0">
              <a:solidFill>
                <a:srgbClr val="00B0F0"/>
              </a:solidFill>
            </a:endParaRPr>
          </a:p>
        </p:txBody>
      </p:sp>
      <p:sp>
        <p:nvSpPr>
          <p:cNvPr id="37889" name="Flèche droite 37888">
            <a:extLst>
              <a:ext uri="{FF2B5EF4-FFF2-40B4-BE49-F238E27FC236}">
                <a16:creationId xmlns="" xmlns:a16="http://schemas.microsoft.com/office/drawing/2014/main" id="{5E2FDC86-28FA-4D4D-1719-9EED72B2041B}"/>
              </a:ext>
            </a:extLst>
          </p:cNvPr>
          <p:cNvSpPr/>
          <p:nvPr/>
        </p:nvSpPr>
        <p:spPr>
          <a:xfrm rot="1388303">
            <a:off x="1854200" y="4132263"/>
            <a:ext cx="642938" cy="290512"/>
          </a:xfrm>
          <a:prstGeom prst="right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a:p>
        </p:txBody>
      </p:sp>
      <p:sp>
        <p:nvSpPr>
          <p:cNvPr id="44" name="Flèche droite 43">
            <a:extLst>
              <a:ext uri="{FF2B5EF4-FFF2-40B4-BE49-F238E27FC236}">
                <a16:creationId xmlns="" xmlns:a16="http://schemas.microsoft.com/office/drawing/2014/main" id="{84A02223-D6D3-9BC2-97BE-F673D98D26D6}"/>
              </a:ext>
            </a:extLst>
          </p:cNvPr>
          <p:cNvSpPr/>
          <p:nvPr/>
        </p:nvSpPr>
        <p:spPr>
          <a:xfrm rot="1388303">
            <a:off x="3051175" y="4818063"/>
            <a:ext cx="642938" cy="292100"/>
          </a:xfrm>
          <a:prstGeom prst="right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a:p>
        </p:txBody>
      </p:sp>
      <p:sp>
        <p:nvSpPr>
          <p:cNvPr id="45" name="Flèche droite 44">
            <a:extLst>
              <a:ext uri="{FF2B5EF4-FFF2-40B4-BE49-F238E27FC236}">
                <a16:creationId xmlns="" xmlns:a16="http://schemas.microsoft.com/office/drawing/2014/main" id="{C30A6682-0E0E-978E-D313-D8B956BAD61D}"/>
              </a:ext>
            </a:extLst>
          </p:cNvPr>
          <p:cNvSpPr/>
          <p:nvPr/>
        </p:nvSpPr>
        <p:spPr>
          <a:xfrm rot="19063036">
            <a:off x="4346575" y="4822825"/>
            <a:ext cx="642938" cy="292100"/>
          </a:xfrm>
          <a:prstGeom prst="right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a:p>
        </p:txBody>
      </p:sp>
      <p:sp>
        <p:nvSpPr>
          <p:cNvPr id="46" name="Flèche droite 45">
            <a:extLst>
              <a:ext uri="{FF2B5EF4-FFF2-40B4-BE49-F238E27FC236}">
                <a16:creationId xmlns="" xmlns:a16="http://schemas.microsoft.com/office/drawing/2014/main" id="{7CB30366-65C9-E0DB-46F9-51F36E9B2F87}"/>
              </a:ext>
            </a:extLst>
          </p:cNvPr>
          <p:cNvSpPr/>
          <p:nvPr/>
        </p:nvSpPr>
        <p:spPr>
          <a:xfrm rot="21355354">
            <a:off x="5573713" y="4597400"/>
            <a:ext cx="538162" cy="212725"/>
          </a:xfrm>
          <a:prstGeom prst="right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fr-F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7"/>
                                        </p:tgtEl>
                                        <p:attrNameLst>
                                          <p:attrName>style.visibility</p:attrName>
                                        </p:attrNameLst>
                                      </p:cBhvr>
                                      <p:to>
                                        <p:strVal val="visible"/>
                                      </p:to>
                                    </p:se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7888"/>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6"/>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5"/>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4"/>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78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3" grpId="0" animBg="1"/>
      <p:bldP spid="14" grpId="0" animBg="1"/>
      <p:bldP spid="15" grpId="0" animBg="1"/>
      <p:bldP spid="16" grpId="0" animBg="1"/>
      <p:bldP spid="7" grpId="0" animBg="1"/>
      <p:bldP spid="18" grpId="0" animBg="1"/>
      <p:bldP spid="8" grpId="0" animBg="1"/>
      <p:bldP spid="24" grpId="0" animBg="1"/>
      <p:bldP spid="25" grpId="0" animBg="1"/>
      <p:bldP spid="26" grpId="0" animBg="1"/>
      <p:bldP spid="27" grpId="0" animBg="1"/>
      <p:bldP spid="28" grpId="0" animBg="1"/>
      <p:bldP spid="29" grpId="0" animBg="1"/>
      <p:bldP spid="30" grpId="0" animBg="1"/>
      <p:bldP spid="31" grpId="0" animBg="1"/>
      <p:bldP spid="19" grpId="0" animBg="1"/>
      <p:bldP spid="21" grpId="0" animBg="1"/>
      <p:bldP spid="35" grpId="0" animBg="1"/>
      <p:bldP spid="36" grpId="0" animBg="1"/>
      <p:bldP spid="37" grpId="0" animBg="1"/>
      <p:bldP spid="38" grpId="0" animBg="1"/>
      <p:bldP spid="39" grpId="0" animBg="1"/>
      <p:bldP spid="40" grpId="0" animBg="1"/>
      <p:bldP spid="37888" grpId="0" animBg="1"/>
      <p:bldP spid="37889" grpId="0" animBg="1"/>
      <p:bldP spid="44" grpId="0" animBg="1"/>
      <p:bldP spid="45" grpId="0" animBg="1"/>
      <p:bldP spid="46"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 xmlns:a16="http://schemas.microsoft.com/office/drawing/2014/main" id="{B2BBBD5F-8E5D-386E-509C-BE6A9598815B}"/>
              </a:ext>
            </a:extLst>
          </p:cNvPr>
          <p:cNvSpPr>
            <a:spLocks noGrp="1"/>
          </p:cNvSpPr>
          <p:nvPr>
            <p:ph type="sldNum" sz="quarter" idx="12"/>
          </p:nvPr>
        </p:nvSpPr>
        <p:spPr/>
        <p:txBody>
          <a:bodyPr/>
          <a:lstStyle/>
          <a:p>
            <a:pPr>
              <a:defRPr/>
            </a:pPr>
            <a:fld id="{5AADBDEC-170C-4FD0-9153-539311C0A87E}" type="slidenum">
              <a:rPr lang="fr-FR" altLang="fr-FR" smtClean="0"/>
              <a:pPr>
                <a:defRPr/>
              </a:pPr>
              <a:t>37</a:t>
            </a:fld>
            <a:endParaRPr lang="fr-FR" altLang="fr-FR"/>
          </a:p>
        </p:txBody>
      </p:sp>
      <p:pic>
        <p:nvPicPr>
          <p:cNvPr id="6" name="Image 5">
            <a:extLst>
              <a:ext uri="{FF2B5EF4-FFF2-40B4-BE49-F238E27FC236}">
                <a16:creationId xmlns="" xmlns:a16="http://schemas.microsoft.com/office/drawing/2014/main" id="{FA09A66A-8F64-C4B3-CC4E-4465233DD803}"/>
              </a:ext>
            </a:extLst>
          </p:cNvPr>
          <p:cNvPicPr>
            <a:picLocks noChangeAspect="1"/>
          </p:cNvPicPr>
          <p:nvPr/>
        </p:nvPicPr>
        <p:blipFill>
          <a:blip r:embed="rId2"/>
          <a:stretch>
            <a:fillRect/>
          </a:stretch>
        </p:blipFill>
        <p:spPr>
          <a:xfrm>
            <a:off x="467544" y="527113"/>
            <a:ext cx="7859216" cy="1390265"/>
          </a:xfrm>
          <a:prstGeom prst="rect">
            <a:avLst/>
          </a:prstGeom>
        </p:spPr>
      </p:pic>
      <p:pic>
        <p:nvPicPr>
          <p:cNvPr id="8" name="Image 7">
            <a:extLst>
              <a:ext uri="{FF2B5EF4-FFF2-40B4-BE49-F238E27FC236}">
                <a16:creationId xmlns="" xmlns:a16="http://schemas.microsoft.com/office/drawing/2014/main" id="{8765876A-C572-51AE-AEBB-EF601A795F24}"/>
              </a:ext>
            </a:extLst>
          </p:cNvPr>
          <p:cNvPicPr>
            <a:picLocks noChangeAspect="1"/>
          </p:cNvPicPr>
          <p:nvPr/>
        </p:nvPicPr>
        <p:blipFill>
          <a:blip r:embed="rId3"/>
          <a:stretch>
            <a:fillRect/>
          </a:stretch>
        </p:blipFill>
        <p:spPr>
          <a:xfrm>
            <a:off x="1115616" y="3321033"/>
            <a:ext cx="6912768" cy="3204311"/>
          </a:xfrm>
          <a:prstGeom prst="rect">
            <a:avLst/>
          </a:prstGeom>
        </p:spPr>
      </p:pic>
      <p:pic>
        <p:nvPicPr>
          <p:cNvPr id="10" name="Image 9">
            <a:extLst>
              <a:ext uri="{FF2B5EF4-FFF2-40B4-BE49-F238E27FC236}">
                <a16:creationId xmlns="" xmlns:a16="http://schemas.microsoft.com/office/drawing/2014/main" id="{92E21600-6567-59F0-9BF5-9414CD5FEE1B}"/>
              </a:ext>
            </a:extLst>
          </p:cNvPr>
          <p:cNvPicPr>
            <a:picLocks noChangeAspect="1"/>
          </p:cNvPicPr>
          <p:nvPr/>
        </p:nvPicPr>
        <p:blipFill>
          <a:blip r:embed="rId4"/>
          <a:stretch>
            <a:fillRect/>
          </a:stretch>
        </p:blipFill>
        <p:spPr>
          <a:xfrm>
            <a:off x="107504" y="2270118"/>
            <a:ext cx="9144000" cy="349087"/>
          </a:xfrm>
          <a:prstGeom prst="rect">
            <a:avLst/>
          </a:prstGeom>
        </p:spPr>
      </p:pic>
      <p:pic>
        <p:nvPicPr>
          <p:cNvPr id="14" name="Image 13">
            <a:extLst>
              <a:ext uri="{FF2B5EF4-FFF2-40B4-BE49-F238E27FC236}">
                <a16:creationId xmlns="" xmlns:a16="http://schemas.microsoft.com/office/drawing/2014/main" id="{436A4D51-A58F-F108-4AF1-E2CC80928B07}"/>
              </a:ext>
            </a:extLst>
          </p:cNvPr>
          <p:cNvPicPr>
            <a:picLocks noChangeAspect="1"/>
          </p:cNvPicPr>
          <p:nvPr/>
        </p:nvPicPr>
        <p:blipFill>
          <a:blip r:embed="rId5"/>
          <a:stretch>
            <a:fillRect/>
          </a:stretch>
        </p:blipFill>
        <p:spPr>
          <a:xfrm>
            <a:off x="35496" y="2852937"/>
            <a:ext cx="9145016" cy="391930"/>
          </a:xfrm>
          <a:prstGeom prst="rect">
            <a:avLst/>
          </a:prstGeom>
        </p:spPr>
      </p:pic>
    </p:spTree>
    <p:extLst>
      <p:ext uri="{BB962C8B-B14F-4D97-AF65-F5344CB8AC3E}">
        <p14:creationId xmlns:p14="http://schemas.microsoft.com/office/powerpoint/2010/main" val="31151387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38</a:t>
            </a:fld>
            <a:endParaRPr lang="fr-FR" altLang="fr-F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072" y="476672"/>
            <a:ext cx="8136904" cy="4392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616" y="4869185"/>
            <a:ext cx="7200800" cy="200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Flèche courbée vers la gauche 4"/>
          <p:cNvSpPr/>
          <p:nvPr/>
        </p:nvSpPr>
        <p:spPr>
          <a:xfrm>
            <a:off x="8459924" y="3537037"/>
            <a:ext cx="1368152" cy="2664296"/>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Tree>
    <p:extLst>
      <p:ext uri="{BB962C8B-B14F-4D97-AF65-F5344CB8AC3E}">
        <p14:creationId xmlns:p14="http://schemas.microsoft.com/office/powerpoint/2010/main" val="25882650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39</a:t>
            </a:fld>
            <a:endParaRPr lang="fr-FR" altLang="fr-F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2013" y="1381125"/>
            <a:ext cx="7419975" cy="409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982358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40</a:t>
            </a:fld>
            <a:endParaRPr lang="fr-FR" altLang="fr-F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1963" y="904875"/>
            <a:ext cx="8220075" cy="5048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20434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41</a:t>
            </a:fld>
            <a:endParaRPr lang="fr-FR" altLang="fr-F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038" y="857250"/>
            <a:ext cx="8543925" cy="514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935351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42</a:t>
            </a:fld>
            <a:endParaRPr lang="fr-FR" altLang="fr-F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836712"/>
            <a:ext cx="8064896" cy="54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231280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43</a:t>
            </a:fld>
            <a:endParaRPr lang="fr-FR" altLang="fr-F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2925" y="657225"/>
            <a:ext cx="8058150" cy="554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839936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a:extLst>
              <a:ext uri="{FF2B5EF4-FFF2-40B4-BE49-F238E27FC236}">
                <a16:creationId xmlns="" xmlns:a16="http://schemas.microsoft.com/office/drawing/2014/main" id="{FA90FE88-A983-9B60-956F-32A879B7C29E}"/>
              </a:ext>
            </a:extLst>
          </p:cNvPr>
          <p:cNvSpPr>
            <a:spLocks noGrp="1" noChangeArrowheads="1"/>
          </p:cNvSpPr>
          <p:nvPr>
            <p:ph type="title"/>
          </p:nvPr>
        </p:nvSpPr>
        <p:spPr/>
        <p:txBody>
          <a:bodyPr/>
          <a:lstStyle/>
          <a:p>
            <a:pPr eaLnBrk="1" fontAlgn="auto" hangingPunct="1">
              <a:spcAft>
                <a:spcPts val="0"/>
              </a:spcAft>
              <a:defRPr/>
            </a:pPr>
            <a:endParaRPr lang="fr-FR"/>
          </a:p>
        </p:txBody>
      </p:sp>
      <p:sp>
        <p:nvSpPr>
          <p:cNvPr id="40963" name="Rectangle 3">
            <a:extLst>
              <a:ext uri="{FF2B5EF4-FFF2-40B4-BE49-F238E27FC236}">
                <a16:creationId xmlns="" xmlns:a16="http://schemas.microsoft.com/office/drawing/2014/main" id="{2B531D18-8171-0130-A70F-649BBFACF6BD}"/>
              </a:ext>
            </a:extLst>
          </p:cNvPr>
          <p:cNvSpPr>
            <a:spLocks noGrp="1"/>
          </p:cNvSpPr>
          <p:nvPr>
            <p:ph idx="1"/>
          </p:nvPr>
        </p:nvSpPr>
        <p:spPr/>
        <p:txBody>
          <a:bodyPr/>
          <a:lstStyle/>
          <a:p>
            <a:pPr eaLnBrk="1" hangingPunct="1"/>
            <a:endParaRPr lang="fr-FR" altLang="fr-FR"/>
          </a:p>
        </p:txBody>
      </p:sp>
      <p:sp>
        <p:nvSpPr>
          <p:cNvPr id="40964" name="Espace réservé du numéro de diapositive 5">
            <a:extLst>
              <a:ext uri="{FF2B5EF4-FFF2-40B4-BE49-F238E27FC236}">
                <a16:creationId xmlns="" xmlns:a16="http://schemas.microsoft.com/office/drawing/2014/main" id="{75E011B6-C302-3CBD-21BC-AEA286C9003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76926095-6702-497D-B7EC-A487F356ACBD}" type="slidenum">
              <a:rPr lang="fr-FR" altLang="fr-FR" sz="1400"/>
              <a:pPr>
                <a:spcBef>
                  <a:spcPct val="0"/>
                </a:spcBef>
                <a:buClrTx/>
                <a:buSzTx/>
                <a:buFontTx/>
                <a:buNone/>
              </a:pPr>
              <a:t>44</a:t>
            </a:fld>
            <a:endParaRPr lang="fr-FR" altLang="fr-FR" sz="1400"/>
          </a:p>
        </p:txBody>
      </p:sp>
      <p:pic>
        <p:nvPicPr>
          <p:cNvPr id="40965" name="Picture 4">
            <a:extLst>
              <a:ext uri="{FF2B5EF4-FFF2-40B4-BE49-F238E27FC236}">
                <a16:creationId xmlns="" xmlns:a16="http://schemas.microsoft.com/office/drawing/2014/main" id="{4AC2CC5D-057B-6440-C71B-CCA80E5271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5450" y="188913"/>
            <a:ext cx="8294688" cy="648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a:extLst>
              <a:ext uri="{FF2B5EF4-FFF2-40B4-BE49-F238E27FC236}">
                <a16:creationId xmlns="" xmlns:a16="http://schemas.microsoft.com/office/drawing/2014/main" id="{623ED64B-CF07-6A56-9483-234DE7F03719}"/>
              </a:ext>
            </a:extLst>
          </p:cNvPr>
          <p:cNvSpPr>
            <a:spLocks noGrp="1" noChangeArrowheads="1"/>
          </p:cNvSpPr>
          <p:nvPr>
            <p:ph type="title"/>
          </p:nvPr>
        </p:nvSpPr>
        <p:spPr>
          <a:xfrm>
            <a:off x="457200" y="274638"/>
            <a:ext cx="8229600" cy="346075"/>
          </a:xfrm>
        </p:spPr>
        <p:txBody>
          <a:bodyPr>
            <a:normAutofit fontScale="90000"/>
          </a:bodyPr>
          <a:lstStyle/>
          <a:p>
            <a:pPr eaLnBrk="1" fontAlgn="auto" hangingPunct="1">
              <a:spcAft>
                <a:spcPts val="0"/>
              </a:spcAft>
              <a:defRPr/>
            </a:pPr>
            <a:endParaRPr lang="fr-FR"/>
          </a:p>
        </p:txBody>
      </p:sp>
      <p:sp>
        <p:nvSpPr>
          <p:cNvPr id="41987" name="Rectangle 3">
            <a:extLst>
              <a:ext uri="{FF2B5EF4-FFF2-40B4-BE49-F238E27FC236}">
                <a16:creationId xmlns="" xmlns:a16="http://schemas.microsoft.com/office/drawing/2014/main" id="{2C9920F8-A256-E17B-DB4C-4963D042817F}"/>
              </a:ext>
            </a:extLst>
          </p:cNvPr>
          <p:cNvSpPr>
            <a:spLocks noGrp="1"/>
          </p:cNvSpPr>
          <p:nvPr>
            <p:ph idx="1"/>
          </p:nvPr>
        </p:nvSpPr>
        <p:spPr>
          <a:xfrm>
            <a:off x="468313" y="260350"/>
            <a:ext cx="8229600" cy="6192838"/>
          </a:xfrm>
        </p:spPr>
        <p:txBody>
          <a:bodyPr/>
          <a:lstStyle/>
          <a:p>
            <a:pPr eaLnBrk="1" hangingPunct="1"/>
            <a:endParaRPr lang="fr-FR" altLang="fr-FR" sz="1400" b="1"/>
          </a:p>
          <a:p>
            <a:pPr eaLnBrk="1" hangingPunct="1"/>
            <a:endParaRPr lang="fr-FR" altLang="fr-FR" sz="1400" b="1"/>
          </a:p>
          <a:p>
            <a:pPr eaLnBrk="1" hangingPunct="1"/>
            <a:r>
              <a:rPr lang="fr-FR" altLang="fr-FR" sz="1400" b="1"/>
              <a:t>Exercice 2</a:t>
            </a:r>
            <a:r>
              <a:rPr lang="fr-FR" altLang="fr-FR" sz="1400"/>
              <a:t> </a:t>
            </a:r>
          </a:p>
          <a:p>
            <a:pPr eaLnBrk="1" hangingPunct="1"/>
            <a:r>
              <a:rPr lang="fr-FR" altLang="fr-FR" sz="1400"/>
              <a:t>L'entreprise SDB-Plus fabrique et commercialise, auprès des particuliers, du mobilier de salle de bains. Les services de fabrication de la SDB-Plus ont étudié l'ordonnancement des tâches à partir de la commande d'un client dans un magasin jusqu'à la livraison. Le tableau suivant répertorie les tâches et les contraintes d'enchaînement.</a:t>
            </a:r>
          </a:p>
        </p:txBody>
      </p:sp>
      <p:sp>
        <p:nvSpPr>
          <p:cNvPr id="41988" name="Espace réservé du numéro de diapositive 5">
            <a:extLst>
              <a:ext uri="{FF2B5EF4-FFF2-40B4-BE49-F238E27FC236}">
                <a16:creationId xmlns="" xmlns:a16="http://schemas.microsoft.com/office/drawing/2014/main" id="{5C5E7B10-5B3A-791C-F606-400564DAF9B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003E93B6-EDBA-484C-865A-E582BF7E7E3C}" type="slidenum">
              <a:rPr lang="fr-FR" altLang="fr-FR" sz="1400"/>
              <a:pPr>
                <a:spcBef>
                  <a:spcPct val="0"/>
                </a:spcBef>
                <a:buClrTx/>
                <a:buSzTx/>
                <a:buFontTx/>
                <a:buNone/>
              </a:pPr>
              <a:t>45</a:t>
            </a:fld>
            <a:endParaRPr lang="fr-FR" altLang="fr-FR" sz="1400"/>
          </a:p>
        </p:txBody>
      </p:sp>
      <p:pic>
        <p:nvPicPr>
          <p:cNvPr id="41989" name="Picture 4">
            <a:extLst>
              <a:ext uri="{FF2B5EF4-FFF2-40B4-BE49-F238E27FC236}">
                <a16:creationId xmlns="" xmlns:a16="http://schemas.microsoft.com/office/drawing/2014/main" id="{E436078F-E65C-8033-3401-70C1A8D1E3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1962150"/>
            <a:ext cx="7993063" cy="489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46</a:t>
            </a:fld>
            <a:endParaRPr lang="fr-FR" altLang="fr-FR"/>
          </a:p>
        </p:txBody>
      </p:sp>
      <p:sp>
        <p:nvSpPr>
          <p:cNvPr id="5" name="AutoShape 2" descr="Image générée 1"/>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975" y="548680"/>
            <a:ext cx="8584505" cy="5976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9598916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2A1F0F0E-52C9-D339-AC71-58AE5B7E014D}"/>
              </a:ext>
            </a:extLst>
          </p:cNvPr>
          <p:cNvSpPr>
            <a:spLocks noGrp="1"/>
          </p:cNvSpPr>
          <p:nvPr>
            <p:ph type="title"/>
          </p:nvPr>
        </p:nvSpPr>
        <p:spPr/>
        <p:txBody>
          <a:bodyPr/>
          <a:lstStyle/>
          <a:p>
            <a:pPr>
              <a:defRPr/>
            </a:pPr>
            <a:endParaRPr lang="fr-FR"/>
          </a:p>
        </p:txBody>
      </p:sp>
      <p:sp>
        <p:nvSpPr>
          <p:cNvPr id="45059" name="Espace réservé du numéro de diapositive 3">
            <a:extLst>
              <a:ext uri="{FF2B5EF4-FFF2-40B4-BE49-F238E27FC236}">
                <a16:creationId xmlns="" xmlns:a16="http://schemas.microsoft.com/office/drawing/2014/main" id="{325BAF36-F37D-E957-E8AA-0BB0B51FFFE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D213F984-3D9D-413B-8374-6D562A70F0E1}" type="slidenum">
              <a:rPr lang="fr-FR" altLang="fr-FR" sz="1400">
                <a:solidFill>
                  <a:srgbClr val="FFFFFF"/>
                </a:solidFill>
              </a:rPr>
              <a:pPr>
                <a:spcBef>
                  <a:spcPct val="0"/>
                </a:spcBef>
                <a:buClrTx/>
                <a:buSzTx/>
                <a:buFontTx/>
                <a:buNone/>
              </a:pPr>
              <a:t>47</a:t>
            </a:fld>
            <a:endParaRPr lang="fr-FR" altLang="fr-FR" sz="1400">
              <a:solidFill>
                <a:srgbClr val="FFFFFF"/>
              </a:solidFill>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2900363"/>
            <a:ext cx="6696744" cy="13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B7F97BEA-17AF-050E-F152-BFB06BB54661}"/>
              </a:ext>
            </a:extLst>
          </p:cNvPr>
          <p:cNvSpPr>
            <a:spLocks noGrp="1"/>
          </p:cNvSpPr>
          <p:nvPr>
            <p:ph type="title"/>
          </p:nvPr>
        </p:nvSpPr>
        <p:spPr/>
        <p:txBody>
          <a:bodyPr/>
          <a:lstStyle/>
          <a:p>
            <a:pPr>
              <a:defRPr/>
            </a:pPr>
            <a:endParaRPr lang="fr-FR"/>
          </a:p>
        </p:txBody>
      </p:sp>
      <p:sp>
        <p:nvSpPr>
          <p:cNvPr id="46083" name="Espace réservé du contenu 2">
            <a:extLst>
              <a:ext uri="{FF2B5EF4-FFF2-40B4-BE49-F238E27FC236}">
                <a16:creationId xmlns="" xmlns:a16="http://schemas.microsoft.com/office/drawing/2014/main" id="{5474C1A9-95D5-38A2-508D-A570DDD903C6}"/>
              </a:ext>
            </a:extLst>
          </p:cNvPr>
          <p:cNvSpPr>
            <a:spLocks noGrp="1"/>
          </p:cNvSpPr>
          <p:nvPr>
            <p:ph idx="1"/>
          </p:nvPr>
        </p:nvSpPr>
        <p:spPr/>
        <p:txBody>
          <a:bodyPr/>
          <a:lstStyle/>
          <a:p>
            <a:r>
              <a:rPr lang="fr-CA" altLang="fr-FR"/>
              <a:t>méthode de gestion de projet caractérisée par une démarche itérative et incrémentale. </a:t>
            </a:r>
          </a:p>
          <a:p>
            <a:r>
              <a:rPr lang="fr-CA" altLang="fr-FR"/>
              <a:t>En d’autres termes, les projets agiles sont construits étape par étape.</a:t>
            </a:r>
          </a:p>
          <a:p>
            <a:r>
              <a:rPr lang="fr-CA" altLang="fr-FR"/>
              <a:t> Dans la gestion de projet traditionnelle, on attend généralement d’avoir exécuté l’ensemble des étapes d’un projet avant de soumettre le produit final au client.</a:t>
            </a:r>
          </a:p>
          <a:p>
            <a:r>
              <a:rPr lang="fr-CA" altLang="fr-FR"/>
              <a:t> Avec l’approche agile, les clients peuvent évaluer la qualité du projet en cours de réalisation et intervenir pour rectifier le tir au besoin.</a:t>
            </a:r>
            <a:endParaRPr lang="fr-FR" altLang="fr-FR"/>
          </a:p>
        </p:txBody>
      </p:sp>
      <p:sp>
        <p:nvSpPr>
          <p:cNvPr id="46084" name="Espace réservé du numéro de diapositive 3">
            <a:extLst>
              <a:ext uri="{FF2B5EF4-FFF2-40B4-BE49-F238E27FC236}">
                <a16:creationId xmlns="" xmlns:a16="http://schemas.microsoft.com/office/drawing/2014/main" id="{55041443-1552-B5CA-1762-049380DADF9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BA35E30B-8679-463A-BC2C-CDAA19215821}" type="slidenum">
              <a:rPr lang="fr-FR" altLang="fr-FR" sz="1400">
                <a:solidFill>
                  <a:srgbClr val="FFFFFF"/>
                </a:solidFill>
              </a:rPr>
              <a:pPr>
                <a:spcBef>
                  <a:spcPct val="0"/>
                </a:spcBef>
                <a:buClrTx/>
                <a:buSzTx/>
                <a:buFontTx/>
                <a:buNone/>
              </a:pPr>
              <a:t>48</a:t>
            </a:fld>
            <a:endParaRPr lang="fr-FR" altLang="fr-FR" sz="1400">
              <a:solidFill>
                <a:srgbClr val="FFFFFF"/>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49</a:t>
            </a:fld>
            <a:endParaRPr lang="fr-FR" altLang="fr-FR"/>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7824" y="764703"/>
            <a:ext cx="2324100" cy="80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557011" y="2420888"/>
            <a:ext cx="8238153" cy="369332"/>
          </a:xfrm>
          <a:prstGeom prst="rect">
            <a:avLst/>
          </a:prstGeom>
        </p:spPr>
        <p:txBody>
          <a:bodyPr wrap="none">
            <a:spAutoFit/>
          </a:bodyPr>
          <a:lstStyle/>
          <a:p>
            <a:r>
              <a:rPr lang="fr-FR" b="1" i="1" dirty="0"/>
              <a:t>Manifeste </a:t>
            </a:r>
            <a:r>
              <a:rPr lang="fr-FR" b="1" i="1" dirty="0" smtClean="0"/>
              <a:t>agile : c</a:t>
            </a:r>
            <a:r>
              <a:rPr lang="fr-CA" dirty="0" err="1" smtClean="0"/>
              <a:t>onstitué</a:t>
            </a:r>
            <a:r>
              <a:rPr lang="fr-CA" dirty="0" smtClean="0"/>
              <a:t> </a:t>
            </a:r>
            <a:r>
              <a:rPr lang="fr-CA" dirty="0"/>
              <a:t>de quatre valeurs et de douze principes fondateurs</a:t>
            </a:r>
            <a:endParaRPr lang="fr-FR" dirty="0"/>
          </a:p>
        </p:txBody>
      </p:sp>
    </p:spTree>
    <p:extLst>
      <p:ext uri="{BB962C8B-B14F-4D97-AF65-F5344CB8AC3E}">
        <p14:creationId xmlns:p14="http://schemas.microsoft.com/office/powerpoint/2010/main" val="27640914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BEA7BF0B-DA90-564A-DBC0-C34A9B7936E1}"/>
              </a:ext>
            </a:extLst>
          </p:cNvPr>
          <p:cNvSpPr>
            <a:spLocks noGrp="1"/>
          </p:cNvSpPr>
          <p:nvPr>
            <p:ph type="title"/>
          </p:nvPr>
        </p:nvSpPr>
        <p:spPr/>
        <p:txBody>
          <a:bodyPr/>
          <a:lstStyle/>
          <a:p>
            <a:pPr>
              <a:defRPr/>
            </a:pPr>
            <a:r>
              <a:rPr lang="fr-FR" dirty="0"/>
              <a:t>4 valeurs</a:t>
            </a:r>
          </a:p>
        </p:txBody>
      </p:sp>
      <p:sp>
        <p:nvSpPr>
          <p:cNvPr id="47107" name="Espace réservé du contenu 2">
            <a:extLst>
              <a:ext uri="{FF2B5EF4-FFF2-40B4-BE49-F238E27FC236}">
                <a16:creationId xmlns="" xmlns:a16="http://schemas.microsoft.com/office/drawing/2014/main" id="{317CDD68-852D-A5CD-79CD-EB062312E4E6}"/>
              </a:ext>
            </a:extLst>
          </p:cNvPr>
          <p:cNvSpPr>
            <a:spLocks noGrp="1"/>
          </p:cNvSpPr>
          <p:nvPr>
            <p:ph idx="1"/>
          </p:nvPr>
        </p:nvSpPr>
        <p:spPr/>
        <p:txBody>
          <a:bodyPr/>
          <a:lstStyle/>
          <a:p>
            <a:r>
              <a:rPr lang="fr-CA" altLang="fr-FR" dirty="0"/>
              <a:t>Les individus et leurs interactions plus que les processus et les outils </a:t>
            </a:r>
          </a:p>
          <a:p>
            <a:endParaRPr lang="fr-CA" altLang="fr-FR" dirty="0"/>
          </a:p>
          <a:p>
            <a:r>
              <a:rPr lang="fr-CA" altLang="fr-FR" dirty="0"/>
              <a:t>Des logiciels opérationnels plus qu’une documentation exhaustive</a:t>
            </a:r>
          </a:p>
          <a:p>
            <a:endParaRPr lang="fr-CA" altLang="fr-FR" dirty="0"/>
          </a:p>
          <a:p>
            <a:r>
              <a:rPr lang="fr-CA" altLang="fr-FR" dirty="0"/>
              <a:t>La collaboration avec les clients plus que la négociation contractuelle</a:t>
            </a:r>
          </a:p>
          <a:p>
            <a:endParaRPr lang="fr-CA" altLang="fr-FR" dirty="0"/>
          </a:p>
          <a:p>
            <a:r>
              <a:rPr lang="fr-CA" altLang="fr-FR" dirty="0"/>
              <a:t> L’adaptation au changement plus que le suivi d’un plan</a:t>
            </a:r>
            <a:endParaRPr lang="fr-FR" altLang="fr-FR" dirty="0"/>
          </a:p>
        </p:txBody>
      </p:sp>
      <p:sp>
        <p:nvSpPr>
          <p:cNvPr id="47108" name="Espace réservé du numéro de diapositive 3">
            <a:extLst>
              <a:ext uri="{FF2B5EF4-FFF2-40B4-BE49-F238E27FC236}">
                <a16:creationId xmlns="" xmlns:a16="http://schemas.microsoft.com/office/drawing/2014/main" id="{1580649A-A630-1054-CE3C-F1CEBECD30E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F03AFB16-529A-4472-94B8-6EE4FDC8B7B0}" type="slidenum">
              <a:rPr lang="fr-FR" altLang="fr-FR" sz="1400">
                <a:solidFill>
                  <a:srgbClr val="FFFFFF"/>
                </a:solidFill>
              </a:rPr>
              <a:pPr>
                <a:spcBef>
                  <a:spcPct val="0"/>
                </a:spcBef>
                <a:buClrTx/>
                <a:buSzTx/>
                <a:buFontTx/>
                <a:buNone/>
              </a:pPr>
              <a:t>50</a:t>
            </a:fld>
            <a:endParaRPr lang="fr-FR" altLang="fr-FR" sz="1400">
              <a:solidFill>
                <a:srgbClr val="FFFFFF"/>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873959FE-F4A0-A1F3-04B1-8C16A8A8A6D8}"/>
              </a:ext>
            </a:extLst>
          </p:cNvPr>
          <p:cNvSpPr>
            <a:spLocks noGrp="1"/>
          </p:cNvSpPr>
          <p:nvPr>
            <p:ph type="title"/>
          </p:nvPr>
        </p:nvSpPr>
        <p:spPr/>
        <p:txBody>
          <a:bodyPr/>
          <a:lstStyle/>
          <a:p>
            <a:pPr>
              <a:defRPr/>
            </a:pPr>
            <a:r>
              <a:rPr lang="fr-FR" dirty="0"/>
              <a:t>12 principes</a:t>
            </a:r>
          </a:p>
        </p:txBody>
      </p:sp>
      <p:sp>
        <p:nvSpPr>
          <p:cNvPr id="3" name="Espace réservé du contenu 2">
            <a:extLst>
              <a:ext uri="{FF2B5EF4-FFF2-40B4-BE49-F238E27FC236}">
                <a16:creationId xmlns="" xmlns:a16="http://schemas.microsoft.com/office/drawing/2014/main" id="{41568896-6E08-DB2D-72B0-B131A103E5B3}"/>
              </a:ext>
            </a:extLst>
          </p:cNvPr>
          <p:cNvSpPr>
            <a:spLocks noGrp="1"/>
          </p:cNvSpPr>
          <p:nvPr>
            <p:ph idx="1"/>
          </p:nvPr>
        </p:nvSpPr>
        <p:spPr/>
        <p:txBody>
          <a:bodyPr/>
          <a:lstStyle/>
          <a:p>
            <a:pPr latinLnBrk="0"/>
            <a:r>
              <a:rPr lang="fr-CA" dirty="0"/>
              <a:t>1</a:t>
            </a:r>
            <a:r>
              <a:rPr lang="fr-CA" dirty="0" smtClean="0"/>
              <a:t>.</a:t>
            </a:r>
            <a:r>
              <a:rPr lang="fr-CA" dirty="0"/>
              <a:t> Satisfaire le client en fournissant rapidement et régulièrement des logiciels opérationnels.</a:t>
            </a:r>
          </a:p>
          <a:p>
            <a:pPr marL="0" indent="0">
              <a:buFont typeface="Arial" charset="0"/>
              <a:buNone/>
              <a:defRPr/>
            </a:pPr>
            <a:endParaRPr lang="fr-CA" dirty="0"/>
          </a:p>
          <a:p>
            <a:pPr latinLnBrk="0"/>
            <a:r>
              <a:rPr lang="fr-CA" dirty="0" smtClean="0"/>
              <a:t>2,Accueillir </a:t>
            </a:r>
            <a:r>
              <a:rPr lang="fr-CA" dirty="0"/>
              <a:t>positivement les changements de besoins, même en cours de projet</a:t>
            </a:r>
            <a:r>
              <a:rPr lang="fr-CA" dirty="0" smtClean="0"/>
              <a:t>. </a:t>
            </a:r>
            <a:endParaRPr lang="fr-CA" dirty="0"/>
          </a:p>
          <a:p>
            <a:pPr marL="0" indent="0">
              <a:buFont typeface="Arial" charset="0"/>
              <a:buNone/>
              <a:defRPr/>
            </a:pPr>
            <a:endParaRPr lang="fr-CA" dirty="0"/>
          </a:p>
          <a:p>
            <a:pPr latinLnBrk="0"/>
            <a:r>
              <a:rPr lang="fr-CA" dirty="0" smtClean="0"/>
              <a:t>3,Livrer </a:t>
            </a:r>
            <a:r>
              <a:rPr lang="fr-CA" dirty="0"/>
              <a:t>fréquemment des versions opérationnelles avec une préférence pour des cycles courts.</a:t>
            </a:r>
          </a:p>
        </p:txBody>
      </p:sp>
      <p:sp>
        <p:nvSpPr>
          <p:cNvPr id="48132" name="Espace réservé du numéro de diapositive 3">
            <a:extLst>
              <a:ext uri="{FF2B5EF4-FFF2-40B4-BE49-F238E27FC236}">
                <a16:creationId xmlns="" xmlns:a16="http://schemas.microsoft.com/office/drawing/2014/main" id="{25F7EDFE-AACC-16E3-AAF5-A416A813A79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97179749-C74A-47B5-ADC5-5BF40E95E279}" type="slidenum">
              <a:rPr lang="fr-FR" altLang="fr-FR" sz="1400">
                <a:solidFill>
                  <a:srgbClr val="FFFFFF"/>
                </a:solidFill>
              </a:rPr>
              <a:pPr>
                <a:spcBef>
                  <a:spcPct val="0"/>
                </a:spcBef>
                <a:buClrTx/>
                <a:buSzTx/>
                <a:buFontTx/>
                <a:buNone/>
              </a:pPr>
              <a:t>51</a:t>
            </a:fld>
            <a:endParaRPr lang="fr-FR" altLang="fr-FR" sz="1400">
              <a:solidFill>
                <a:srgbClr val="FFFFFF"/>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CA7FC545-7FAB-2236-FC74-FD835F7CCF46}"/>
              </a:ext>
            </a:extLst>
          </p:cNvPr>
          <p:cNvSpPr>
            <a:spLocks noGrp="1"/>
          </p:cNvSpPr>
          <p:nvPr>
            <p:ph type="title"/>
          </p:nvPr>
        </p:nvSpPr>
        <p:spPr/>
        <p:txBody>
          <a:bodyPr/>
          <a:lstStyle/>
          <a:p>
            <a:pPr>
              <a:defRPr/>
            </a:pPr>
            <a:endParaRPr lang="fr-FR"/>
          </a:p>
        </p:txBody>
      </p:sp>
      <p:sp>
        <p:nvSpPr>
          <p:cNvPr id="3" name="Espace réservé du contenu 2">
            <a:extLst>
              <a:ext uri="{FF2B5EF4-FFF2-40B4-BE49-F238E27FC236}">
                <a16:creationId xmlns="" xmlns:a16="http://schemas.microsoft.com/office/drawing/2014/main" id="{88B11C87-6605-2D1E-7357-DF1BC9F39054}"/>
              </a:ext>
            </a:extLst>
          </p:cNvPr>
          <p:cNvSpPr>
            <a:spLocks noGrp="1"/>
          </p:cNvSpPr>
          <p:nvPr>
            <p:ph idx="1"/>
          </p:nvPr>
        </p:nvSpPr>
        <p:spPr/>
        <p:txBody>
          <a:bodyPr/>
          <a:lstStyle/>
          <a:p>
            <a:pPr>
              <a:buFont typeface="Arial" charset="0"/>
              <a:buChar char="•"/>
              <a:defRPr/>
            </a:pPr>
            <a:r>
              <a:rPr lang="fr-CA" dirty="0"/>
              <a:t>4.Les utilisateurs et les développeurs doivent travailler</a:t>
            </a:r>
          </a:p>
          <a:p>
            <a:pPr marL="0" indent="0">
              <a:buFont typeface="Arial" charset="0"/>
              <a:buNone/>
              <a:defRPr/>
            </a:pPr>
            <a:r>
              <a:rPr lang="fr-CA" dirty="0"/>
              <a:t>ensemble  tout au long du projet</a:t>
            </a:r>
          </a:p>
          <a:p>
            <a:pPr marL="0" indent="0">
              <a:buFont typeface="Arial" charset="0"/>
              <a:buNone/>
              <a:defRPr/>
            </a:pPr>
            <a:endParaRPr lang="fr-CA" dirty="0"/>
          </a:p>
          <a:p>
            <a:pPr latinLnBrk="0"/>
            <a:r>
              <a:rPr lang="fr-CA" dirty="0" smtClean="0"/>
              <a:t>5,Construire </a:t>
            </a:r>
            <a:r>
              <a:rPr lang="fr-CA" dirty="0"/>
              <a:t>des projets autour d'individus motivés. Donner la liberté et le support dont ils ont besoin et leur faire confiance pour accomplir leur travail.</a:t>
            </a:r>
          </a:p>
          <a:p>
            <a:pPr marL="0" indent="0">
              <a:buFont typeface="Arial" charset="0"/>
              <a:buNone/>
              <a:defRPr/>
            </a:pPr>
            <a:endParaRPr lang="fr-CA" dirty="0"/>
          </a:p>
          <a:p>
            <a:pPr marL="0" indent="0">
              <a:buFont typeface="Arial" charset="0"/>
              <a:buNone/>
              <a:defRPr/>
            </a:pPr>
            <a:r>
              <a:rPr lang="fr-CA" dirty="0"/>
              <a:t>6.La méthode la plus simple et la plus efficace pour</a:t>
            </a:r>
          </a:p>
          <a:p>
            <a:pPr marL="0" indent="0">
              <a:buFont typeface="Arial" charset="0"/>
              <a:buNone/>
              <a:defRPr/>
            </a:pPr>
            <a:r>
              <a:rPr lang="fr-CA" dirty="0"/>
              <a:t>transmettre de l’information est le dialogue en face à face</a:t>
            </a:r>
          </a:p>
          <a:p>
            <a:pPr marL="0" indent="0">
              <a:buFont typeface="Arial" charset="0"/>
              <a:buNone/>
              <a:defRPr/>
            </a:pPr>
            <a:endParaRPr lang="fr-CA" dirty="0"/>
          </a:p>
          <a:p>
            <a:pPr marL="0" indent="0">
              <a:buFont typeface="Arial" charset="0"/>
              <a:buNone/>
              <a:defRPr/>
            </a:pPr>
            <a:endParaRPr lang="fr-FR" dirty="0"/>
          </a:p>
        </p:txBody>
      </p:sp>
      <p:sp>
        <p:nvSpPr>
          <p:cNvPr id="49156" name="Espace réservé du numéro de diapositive 3">
            <a:extLst>
              <a:ext uri="{FF2B5EF4-FFF2-40B4-BE49-F238E27FC236}">
                <a16:creationId xmlns="" xmlns:a16="http://schemas.microsoft.com/office/drawing/2014/main" id="{0A3A718B-34AC-2969-9694-76138C5B58D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05303239-2C10-48E2-A600-146702A1E055}" type="slidenum">
              <a:rPr lang="fr-FR" altLang="fr-FR" sz="1400">
                <a:solidFill>
                  <a:srgbClr val="FFFFFF"/>
                </a:solidFill>
              </a:rPr>
              <a:pPr>
                <a:spcBef>
                  <a:spcPct val="0"/>
                </a:spcBef>
                <a:buClrTx/>
                <a:buSzTx/>
                <a:buFontTx/>
                <a:buNone/>
              </a:pPr>
              <a:t>52</a:t>
            </a:fld>
            <a:endParaRPr lang="fr-FR" altLang="fr-FR" sz="1400">
              <a:solidFill>
                <a:srgbClr val="FFFFFF"/>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9C3DD612-47E3-015F-FCD0-B76D7C27076D}"/>
              </a:ext>
            </a:extLst>
          </p:cNvPr>
          <p:cNvSpPr>
            <a:spLocks noGrp="1"/>
          </p:cNvSpPr>
          <p:nvPr>
            <p:ph type="title"/>
          </p:nvPr>
        </p:nvSpPr>
        <p:spPr/>
        <p:txBody>
          <a:bodyPr/>
          <a:lstStyle/>
          <a:p>
            <a:pPr>
              <a:defRPr/>
            </a:pPr>
            <a:endParaRPr lang="fr-FR"/>
          </a:p>
        </p:txBody>
      </p:sp>
      <p:sp>
        <p:nvSpPr>
          <p:cNvPr id="3" name="Espace réservé du contenu 2">
            <a:extLst>
              <a:ext uri="{FF2B5EF4-FFF2-40B4-BE49-F238E27FC236}">
                <a16:creationId xmlns="" xmlns:a16="http://schemas.microsoft.com/office/drawing/2014/main" id="{A7D05840-6580-9253-ACCF-8B599BD2AC81}"/>
              </a:ext>
            </a:extLst>
          </p:cNvPr>
          <p:cNvSpPr>
            <a:spLocks noGrp="1"/>
          </p:cNvSpPr>
          <p:nvPr>
            <p:ph idx="1"/>
          </p:nvPr>
        </p:nvSpPr>
        <p:spPr/>
        <p:txBody>
          <a:bodyPr/>
          <a:lstStyle/>
          <a:p>
            <a:pPr>
              <a:buFont typeface="Arial" charset="0"/>
              <a:buChar char="•"/>
              <a:defRPr/>
            </a:pPr>
            <a:r>
              <a:rPr lang="fr-CA" dirty="0"/>
              <a:t>7.Un logiciel opérationnel est la principale mesure</a:t>
            </a:r>
          </a:p>
          <a:p>
            <a:pPr marL="0" indent="0">
              <a:buFont typeface="Arial" charset="0"/>
              <a:buNone/>
              <a:defRPr/>
            </a:pPr>
            <a:r>
              <a:rPr lang="fr-CA" dirty="0"/>
              <a:t>d’avancement</a:t>
            </a:r>
          </a:p>
          <a:p>
            <a:pPr marL="0" indent="0">
              <a:buFont typeface="Arial" charset="0"/>
              <a:buNone/>
              <a:defRPr/>
            </a:pPr>
            <a:endParaRPr lang="fr-CA" dirty="0"/>
          </a:p>
          <a:p>
            <a:pPr latinLnBrk="0"/>
            <a:r>
              <a:rPr lang="fr-CA" dirty="0" smtClean="0"/>
              <a:t>8,Maintenir </a:t>
            </a:r>
            <a:r>
              <a:rPr lang="fr-CA" dirty="0"/>
              <a:t>un rythme de développement durable, en veillant à ce que l'équipe travaille à un rythme constant.</a:t>
            </a:r>
          </a:p>
          <a:p>
            <a:pPr marL="0" indent="0">
              <a:buFont typeface="Arial" charset="0"/>
              <a:buNone/>
              <a:defRPr/>
            </a:pPr>
            <a:endParaRPr lang="fr-CA" dirty="0"/>
          </a:p>
          <a:p>
            <a:pPr latinLnBrk="0"/>
            <a:r>
              <a:rPr lang="fr-CA" dirty="0" smtClean="0"/>
              <a:t>9,Favoriser </a:t>
            </a:r>
            <a:r>
              <a:rPr lang="fr-CA" dirty="0"/>
              <a:t>l'excellence technique et la qualité du design et de la conception</a:t>
            </a:r>
            <a:r>
              <a:rPr lang="fr-CA" dirty="0" smtClean="0"/>
              <a:t>.</a:t>
            </a:r>
          </a:p>
          <a:p>
            <a:pPr latinLnBrk="0"/>
            <a:endParaRPr lang="fr-CA" dirty="0"/>
          </a:p>
          <a:p>
            <a:pPr marL="0" indent="0">
              <a:buFont typeface="Arial" charset="0"/>
              <a:buNone/>
              <a:defRPr/>
            </a:pPr>
            <a:r>
              <a:rPr lang="fr-CA" dirty="0" smtClean="0"/>
              <a:t>10.La </a:t>
            </a:r>
            <a:r>
              <a:rPr lang="fr-CA" dirty="0"/>
              <a:t>simplicité – l’art de minimiser la quantité de travail</a:t>
            </a:r>
          </a:p>
          <a:p>
            <a:pPr marL="0" indent="0">
              <a:buFont typeface="Arial" charset="0"/>
              <a:buNone/>
              <a:defRPr/>
            </a:pPr>
            <a:r>
              <a:rPr lang="fr-CA" dirty="0"/>
              <a:t>inutile – est essentielle</a:t>
            </a:r>
          </a:p>
          <a:p>
            <a:pPr>
              <a:buFont typeface="Arial" charset="0"/>
              <a:buChar char="•"/>
              <a:defRPr/>
            </a:pPr>
            <a:endParaRPr lang="fr-CA" dirty="0"/>
          </a:p>
          <a:p>
            <a:pPr>
              <a:buFont typeface="Arial" charset="0"/>
              <a:buChar char="•"/>
              <a:defRPr/>
            </a:pPr>
            <a:endParaRPr lang="fr-FR" dirty="0"/>
          </a:p>
        </p:txBody>
      </p:sp>
      <p:sp>
        <p:nvSpPr>
          <p:cNvPr id="50180" name="Espace réservé du numéro de diapositive 3">
            <a:extLst>
              <a:ext uri="{FF2B5EF4-FFF2-40B4-BE49-F238E27FC236}">
                <a16:creationId xmlns="" xmlns:a16="http://schemas.microsoft.com/office/drawing/2014/main" id="{8FD3E684-407F-7492-4235-18485ED92C4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4DE40695-7CD2-4AD4-90B9-13418A6F1EDE}" type="slidenum">
              <a:rPr lang="fr-FR" altLang="fr-FR" sz="1400">
                <a:solidFill>
                  <a:srgbClr val="FFFFFF"/>
                </a:solidFill>
              </a:rPr>
              <a:pPr>
                <a:spcBef>
                  <a:spcPct val="0"/>
                </a:spcBef>
                <a:buClrTx/>
                <a:buSzTx/>
                <a:buFontTx/>
                <a:buNone/>
              </a:pPr>
              <a:t>53</a:t>
            </a:fld>
            <a:endParaRPr lang="fr-FR" altLang="fr-FR" sz="1400">
              <a:solidFill>
                <a:srgbClr val="FFFFFF"/>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64E09FA9-A01B-8642-C70A-CE6680451990}"/>
              </a:ext>
            </a:extLst>
          </p:cNvPr>
          <p:cNvSpPr>
            <a:spLocks noGrp="1"/>
          </p:cNvSpPr>
          <p:nvPr>
            <p:ph type="title"/>
          </p:nvPr>
        </p:nvSpPr>
        <p:spPr/>
        <p:txBody>
          <a:bodyPr/>
          <a:lstStyle/>
          <a:p>
            <a:pPr>
              <a:defRPr/>
            </a:pPr>
            <a:endParaRPr lang="fr-FR"/>
          </a:p>
        </p:txBody>
      </p:sp>
      <p:sp>
        <p:nvSpPr>
          <p:cNvPr id="3" name="Espace réservé du contenu 2">
            <a:extLst>
              <a:ext uri="{FF2B5EF4-FFF2-40B4-BE49-F238E27FC236}">
                <a16:creationId xmlns="" xmlns:a16="http://schemas.microsoft.com/office/drawing/2014/main" id="{931CF970-B658-0A04-7A69-72E6CC637C17}"/>
              </a:ext>
            </a:extLst>
          </p:cNvPr>
          <p:cNvSpPr>
            <a:spLocks noGrp="1"/>
          </p:cNvSpPr>
          <p:nvPr>
            <p:ph idx="1"/>
          </p:nvPr>
        </p:nvSpPr>
        <p:spPr/>
        <p:txBody>
          <a:bodyPr/>
          <a:lstStyle/>
          <a:p>
            <a:pPr latinLnBrk="0"/>
            <a:r>
              <a:rPr lang="fr-CA" dirty="0" smtClean="0"/>
              <a:t>11,Faire </a:t>
            </a:r>
            <a:r>
              <a:rPr lang="fr-CA" dirty="0"/>
              <a:t>confiance à l'équipe pour s'organiser elle-même, sans nécessiter une supervision constante.</a:t>
            </a:r>
          </a:p>
          <a:p>
            <a:pPr marL="0" indent="0">
              <a:buFont typeface="Arial" charset="0"/>
              <a:buNone/>
              <a:defRPr/>
            </a:pPr>
            <a:endParaRPr lang="fr-CA" dirty="0"/>
          </a:p>
          <a:p>
            <a:pPr marL="0" indent="0">
              <a:buFont typeface="Arial" charset="0"/>
              <a:buNone/>
              <a:defRPr/>
            </a:pPr>
            <a:r>
              <a:rPr lang="fr-CA" dirty="0" smtClean="0"/>
              <a:t>12,Encourager </a:t>
            </a:r>
            <a:r>
              <a:rPr lang="fr-CA" dirty="0"/>
              <a:t>une réflexion régulière sur les pratiques d'amélioration continue.</a:t>
            </a:r>
            <a:endParaRPr lang="fr-FR" dirty="0"/>
          </a:p>
        </p:txBody>
      </p:sp>
      <p:sp>
        <p:nvSpPr>
          <p:cNvPr id="51204" name="Espace réservé du numéro de diapositive 3">
            <a:extLst>
              <a:ext uri="{FF2B5EF4-FFF2-40B4-BE49-F238E27FC236}">
                <a16:creationId xmlns="" xmlns:a16="http://schemas.microsoft.com/office/drawing/2014/main" id="{82F211A6-83DA-2D07-F2C8-40A41446D97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4B0F49A0-24F6-4863-8548-4E37836B6B86}" type="slidenum">
              <a:rPr lang="fr-FR" altLang="fr-FR" sz="1400">
                <a:solidFill>
                  <a:srgbClr val="FFFFFF"/>
                </a:solidFill>
              </a:rPr>
              <a:pPr>
                <a:spcBef>
                  <a:spcPct val="0"/>
                </a:spcBef>
                <a:buClrTx/>
                <a:buSzTx/>
                <a:buFontTx/>
                <a:buNone/>
              </a:pPr>
              <a:t>54</a:t>
            </a:fld>
            <a:endParaRPr lang="fr-FR" altLang="fr-FR" sz="1400">
              <a:solidFill>
                <a:srgbClr val="FFFFFF"/>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En résumé</a:t>
            </a:r>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55</a:t>
            </a:fld>
            <a:endParaRPr lang="fr-FR" altLang="fr-F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988" y="1844824"/>
            <a:ext cx="8582025" cy="3888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3545654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30FE3F5C-44A2-B99A-5661-842D55CAFF95}"/>
              </a:ext>
            </a:extLst>
          </p:cNvPr>
          <p:cNvSpPr>
            <a:spLocks noGrp="1"/>
          </p:cNvSpPr>
          <p:nvPr>
            <p:ph type="title"/>
          </p:nvPr>
        </p:nvSpPr>
        <p:spPr/>
        <p:txBody>
          <a:bodyPr/>
          <a:lstStyle/>
          <a:p>
            <a:pPr>
              <a:defRPr/>
            </a:pPr>
            <a:endParaRPr lang="fr-FR"/>
          </a:p>
        </p:txBody>
      </p:sp>
      <p:sp>
        <p:nvSpPr>
          <p:cNvPr id="52227" name="Espace réservé du numéro de diapositive 3">
            <a:extLst>
              <a:ext uri="{FF2B5EF4-FFF2-40B4-BE49-F238E27FC236}">
                <a16:creationId xmlns="" xmlns:a16="http://schemas.microsoft.com/office/drawing/2014/main" id="{6DDD6925-FA23-1397-03E3-82B68D88730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3D4175E5-A05B-45EF-8A97-F8A36643EA43}" type="slidenum">
              <a:rPr lang="fr-FR" altLang="fr-FR" sz="1400">
                <a:solidFill>
                  <a:srgbClr val="FFFFFF"/>
                </a:solidFill>
              </a:rPr>
              <a:pPr>
                <a:spcBef>
                  <a:spcPct val="0"/>
                </a:spcBef>
                <a:buClrTx/>
                <a:buSzTx/>
                <a:buFontTx/>
                <a:buNone/>
              </a:pPr>
              <a:t>56</a:t>
            </a:fld>
            <a:endParaRPr lang="fr-FR" altLang="fr-FR" sz="1400">
              <a:solidFill>
                <a:srgbClr val="FFFFFF"/>
              </a:solidFill>
            </a:endParaRPr>
          </a:p>
        </p:txBody>
      </p:sp>
      <p:pic>
        <p:nvPicPr>
          <p:cNvPr id="52228" name="Picture 2">
            <a:extLst>
              <a:ext uri="{FF2B5EF4-FFF2-40B4-BE49-F238E27FC236}">
                <a16:creationId xmlns="" xmlns:a16="http://schemas.microsoft.com/office/drawing/2014/main" id="{E70C753D-804A-FA7E-AE8E-39FF6B14C0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3" y="1916113"/>
            <a:ext cx="8124825" cy="424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a:extLst>
              <a:ext uri="{FF2B5EF4-FFF2-40B4-BE49-F238E27FC236}">
                <a16:creationId xmlns="" xmlns:a16="http://schemas.microsoft.com/office/drawing/2014/main" id="{A560A68F-7AAD-517F-8025-3245052BFB01}"/>
              </a:ext>
            </a:extLst>
          </p:cNvPr>
          <p:cNvSpPr/>
          <p:nvPr/>
        </p:nvSpPr>
        <p:spPr>
          <a:xfrm>
            <a:off x="542925" y="5949950"/>
            <a:ext cx="6624638" cy="6477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fr-CA" dirty="0"/>
              <a:t>Agile est une approche qui se basent sur 4 valeurs et 12 principes et se manifeste à travers des pratiques</a:t>
            </a:r>
            <a:endParaRPr lang="fr-FR"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FB1E42CC-F40D-1392-C0A9-799AFEAEB73A}"/>
              </a:ext>
            </a:extLst>
          </p:cNvPr>
          <p:cNvSpPr>
            <a:spLocks noGrp="1"/>
          </p:cNvSpPr>
          <p:nvPr>
            <p:ph type="title"/>
          </p:nvPr>
        </p:nvSpPr>
        <p:spPr/>
        <p:txBody>
          <a:bodyPr/>
          <a:lstStyle/>
          <a:p>
            <a:pPr>
              <a:defRPr/>
            </a:pPr>
            <a:endParaRPr lang="fr-FR"/>
          </a:p>
        </p:txBody>
      </p:sp>
      <p:sp>
        <p:nvSpPr>
          <p:cNvPr id="53251" name="Espace réservé du numéro de diapositive 3">
            <a:extLst>
              <a:ext uri="{FF2B5EF4-FFF2-40B4-BE49-F238E27FC236}">
                <a16:creationId xmlns="" xmlns:a16="http://schemas.microsoft.com/office/drawing/2014/main" id="{A6426D2E-7683-4F95-A6A0-ED8E63C8DF5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51534296-E354-48AB-9594-627EA37D1923}" type="slidenum">
              <a:rPr lang="fr-FR" altLang="fr-FR" sz="1400">
                <a:solidFill>
                  <a:srgbClr val="FFFFFF"/>
                </a:solidFill>
              </a:rPr>
              <a:pPr>
                <a:spcBef>
                  <a:spcPct val="0"/>
                </a:spcBef>
                <a:buClrTx/>
                <a:buSzTx/>
                <a:buFontTx/>
                <a:buNone/>
              </a:pPr>
              <a:t>57</a:t>
            </a:fld>
            <a:endParaRPr lang="fr-FR" altLang="fr-FR" sz="1400">
              <a:solidFill>
                <a:srgbClr val="FFFFFF"/>
              </a:solidFill>
            </a:endParaRPr>
          </a:p>
        </p:txBody>
      </p:sp>
      <p:pic>
        <p:nvPicPr>
          <p:cNvPr id="53252" name="Picture 2">
            <a:extLst>
              <a:ext uri="{FF2B5EF4-FFF2-40B4-BE49-F238E27FC236}">
                <a16:creationId xmlns="" xmlns:a16="http://schemas.microsoft.com/office/drawing/2014/main" id="{1F0DDA3B-E2E8-96A9-F4D7-B027F85B49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2400" y="1989138"/>
            <a:ext cx="5545138" cy="4325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b="1" dirty="0"/>
              <a:t>Agilité</a:t>
            </a:r>
            <a:endParaRPr lang="fr-FR" dirty="0"/>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58</a:t>
            </a:fld>
            <a:endParaRPr lang="fr-FR" altLang="fr-FR"/>
          </a:p>
        </p:txBody>
      </p:sp>
      <p:sp>
        <p:nvSpPr>
          <p:cNvPr id="5" name="Espace réservé du contenu 4"/>
          <p:cNvSpPr>
            <a:spLocks noGrp="1"/>
          </p:cNvSpPr>
          <p:nvPr>
            <p:ph idx="1"/>
          </p:nvPr>
        </p:nvSpPr>
        <p:spPr>
          <a:prstGeom prst="rect">
            <a:avLst/>
          </a:prstGeom>
        </p:spPr>
        <p:txBody>
          <a:bodyPr wrap="square">
            <a:spAutoFit/>
          </a:bodyPr>
          <a:lstStyle/>
          <a:p>
            <a:r>
              <a:rPr lang="fr-CA" b="1" dirty="0"/>
              <a:t>Agilité = capacité d’une équipe à s’adapter rapidement aux changements tout en livrant régulièrement de la valeur au client</a:t>
            </a:r>
            <a:r>
              <a:rPr lang="fr-CA" dirty="0"/>
              <a:t>, grâce à des cycles courts, une communication constante et une organisation flexible.</a:t>
            </a:r>
            <a:endParaRPr lang="fr-FR" dirty="0"/>
          </a:p>
        </p:txBody>
      </p:sp>
    </p:spTree>
    <p:extLst>
      <p:ext uri="{BB962C8B-B14F-4D97-AF65-F5344CB8AC3E}">
        <p14:creationId xmlns:p14="http://schemas.microsoft.com/office/powerpoint/2010/main" val="265267388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BE18F26C-9192-1D72-1DBB-ED332ECAAB55}"/>
              </a:ext>
            </a:extLst>
          </p:cNvPr>
          <p:cNvSpPr>
            <a:spLocks noGrp="1"/>
          </p:cNvSpPr>
          <p:nvPr>
            <p:ph type="title"/>
          </p:nvPr>
        </p:nvSpPr>
        <p:spPr/>
        <p:txBody>
          <a:bodyPr/>
          <a:lstStyle/>
          <a:p>
            <a:pPr>
              <a:defRPr/>
            </a:pPr>
            <a:r>
              <a:rPr lang="fr-CA" b="1" dirty="0"/>
              <a:t>SCRUM</a:t>
            </a:r>
            <a:endParaRPr lang="fr-FR" b="1" dirty="0"/>
          </a:p>
        </p:txBody>
      </p:sp>
      <p:sp>
        <p:nvSpPr>
          <p:cNvPr id="54275" name="Espace réservé du contenu 2">
            <a:extLst>
              <a:ext uri="{FF2B5EF4-FFF2-40B4-BE49-F238E27FC236}">
                <a16:creationId xmlns="" xmlns:a16="http://schemas.microsoft.com/office/drawing/2014/main" id="{68B918BF-6B34-517A-73DC-4DD068FAFF1B}"/>
              </a:ext>
            </a:extLst>
          </p:cNvPr>
          <p:cNvSpPr>
            <a:spLocks noGrp="1"/>
          </p:cNvSpPr>
          <p:nvPr>
            <p:ph idx="1"/>
          </p:nvPr>
        </p:nvSpPr>
        <p:spPr/>
        <p:txBody>
          <a:bodyPr/>
          <a:lstStyle/>
          <a:p>
            <a:r>
              <a:rPr lang="fr-CA" altLang="fr-FR" dirty="0" err="1"/>
              <a:t>Scrum</a:t>
            </a:r>
            <a:r>
              <a:rPr lang="fr-CA" altLang="fr-FR" dirty="0"/>
              <a:t> est un cadre de travail (Framework) au sein duquel les acteurs peuvent aborder des problèmes complexes et adaptatifs, en livrant de manière efficace et créative des produits de la plus grande valeur possible</a:t>
            </a:r>
            <a:endParaRPr lang="fr-FR" altLang="fr-FR" dirty="0"/>
          </a:p>
        </p:txBody>
      </p:sp>
      <p:sp>
        <p:nvSpPr>
          <p:cNvPr id="54276" name="Espace réservé du numéro de diapositive 3">
            <a:extLst>
              <a:ext uri="{FF2B5EF4-FFF2-40B4-BE49-F238E27FC236}">
                <a16:creationId xmlns="" xmlns:a16="http://schemas.microsoft.com/office/drawing/2014/main" id="{BD135576-B631-A750-F1B0-BED1A69D368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91BF490A-04ED-44B7-81AC-23F9BF91D138}" type="slidenum">
              <a:rPr lang="fr-FR" altLang="fr-FR" sz="1400">
                <a:solidFill>
                  <a:srgbClr val="FFFFFF"/>
                </a:solidFill>
              </a:rPr>
              <a:pPr>
                <a:spcBef>
                  <a:spcPct val="0"/>
                </a:spcBef>
                <a:buClrTx/>
                <a:buSzTx/>
                <a:buFontTx/>
                <a:buNone/>
              </a:pPr>
              <a:t>59</a:t>
            </a:fld>
            <a:endParaRPr lang="fr-FR" altLang="fr-FR" sz="1400">
              <a:solidFill>
                <a:srgbClr val="FFFFFF"/>
              </a:solidFill>
            </a:endParaRPr>
          </a:p>
        </p:txBody>
      </p:sp>
      <p:sp>
        <p:nvSpPr>
          <p:cNvPr id="3" name="AutoShape 2" descr="Image générée : Du rugby au travail en équip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118" y="3068960"/>
            <a:ext cx="7416824" cy="3513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60</a:t>
            </a:fld>
            <a:endParaRPr lang="fr-FR" altLang="fr-FR"/>
          </a:p>
        </p:txBody>
      </p:sp>
      <p:sp>
        <p:nvSpPr>
          <p:cNvPr id="5" name="Rectangle 4"/>
          <p:cNvSpPr/>
          <p:nvPr/>
        </p:nvSpPr>
        <p:spPr>
          <a:xfrm>
            <a:off x="488253" y="1484784"/>
            <a:ext cx="8100392" cy="1477328"/>
          </a:xfrm>
          <a:prstGeom prst="rect">
            <a:avLst/>
          </a:prstGeom>
        </p:spPr>
        <p:txBody>
          <a:bodyPr wrap="square">
            <a:spAutoFit/>
          </a:bodyPr>
          <a:lstStyle/>
          <a:p>
            <a:r>
              <a:rPr lang="fr-CA" b="1" dirty="0" err="1" smtClean="0"/>
              <a:t>Scrum</a:t>
            </a:r>
            <a:r>
              <a:rPr lang="fr-CA" dirty="0" smtClean="0"/>
              <a:t> </a:t>
            </a:r>
            <a:r>
              <a:rPr lang="fr-CA" dirty="0"/>
              <a:t>est un </a:t>
            </a:r>
            <a:r>
              <a:rPr lang="fr-CA" b="1" dirty="0" err="1"/>
              <a:t>framework</a:t>
            </a:r>
            <a:r>
              <a:rPr lang="fr-CA" b="1" dirty="0"/>
              <a:t> Agile</a:t>
            </a:r>
            <a:r>
              <a:rPr lang="fr-CA" dirty="0"/>
              <a:t> qui permet de </a:t>
            </a:r>
            <a:r>
              <a:rPr lang="fr-CA" b="1" dirty="0"/>
              <a:t>développer un produit de manière itérative et collaborative</a:t>
            </a:r>
            <a:r>
              <a:rPr lang="fr-CA" dirty="0"/>
              <a:t>, en avançant par </a:t>
            </a:r>
            <a:r>
              <a:rPr lang="fr-CA" b="1" dirty="0"/>
              <a:t>Sprints</a:t>
            </a:r>
            <a:r>
              <a:rPr lang="fr-CA" dirty="0"/>
              <a:t>.</a:t>
            </a:r>
          </a:p>
          <a:p>
            <a:endParaRPr lang="fr-CA" dirty="0" smtClean="0"/>
          </a:p>
          <a:p>
            <a:r>
              <a:rPr lang="fr-CA" dirty="0" smtClean="0"/>
              <a:t> </a:t>
            </a:r>
            <a:r>
              <a:rPr lang="fr-CA" b="1" dirty="0"/>
              <a:t>En bref :</a:t>
            </a:r>
            <a:r>
              <a:rPr lang="fr-CA" dirty="0"/>
              <a:t/>
            </a:r>
            <a:br>
              <a:rPr lang="fr-CA" dirty="0"/>
            </a:br>
            <a:r>
              <a:rPr lang="fr-CA" b="1" dirty="0" err="1"/>
              <a:t>Scrum</a:t>
            </a:r>
            <a:r>
              <a:rPr lang="fr-CA" b="1" dirty="0"/>
              <a:t> = Rôles + Événements </a:t>
            </a:r>
            <a:r>
              <a:rPr lang="fr-CA" b="1"/>
              <a:t>+ </a:t>
            </a:r>
            <a:r>
              <a:rPr lang="fr-CA" b="1" smtClean="0"/>
              <a:t>Artefacts</a:t>
            </a:r>
            <a:endParaRPr lang="fr-CA" dirty="0"/>
          </a:p>
        </p:txBody>
      </p:sp>
      <p:sp>
        <p:nvSpPr>
          <p:cNvPr id="6" name="Titre 1">
            <a:extLst>
              <a:ext uri="{FF2B5EF4-FFF2-40B4-BE49-F238E27FC236}">
                <a16:creationId xmlns="" xmlns:a16="http://schemas.microsoft.com/office/drawing/2014/main" id="{3FD6E471-8755-6104-D63D-E5179F60A5C2}"/>
              </a:ext>
            </a:extLst>
          </p:cNvPr>
          <p:cNvSpPr>
            <a:spLocks noGrp="1"/>
          </p:cNvSpPr>
          <p:nvPr>
            <p:ph type="title"/>
          </p:nvPr>
        </p:nvSpPr>
        <p:spPr>
          <a:xfrm>
            <a:off x="457200" y="533400"/>
            <a:ext cx="8229600" cy="990600"/>
          </a:xfrm>
        </p:spPr>
        <p:txBody>
          <a:bodyPr/>
          <a:lstStyle/>
          <a:p>
            <a:pPr>
              <a:defRPr/>
            </a:pPr>
            <a:r>
              <a:rPr lang="fr-FR" b="1" dirty="0"/>
              <a:t>Framework SCRUM</a:t>
            </a:r>
          </a:p>
        </p:txBody>
      </p:sp>
    </p:spTree>
    <p:extLst>
      <p:ext uri="{BB962C8B-B14F-4D97-AF65-F5344CB8AC3E}">
        <p14:creationId xmlns:p14="http://schemas.microsoft.com/office/powerpoint/2010/main" val="70366641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Sprint</a:t>
            </a:r>
            <a:endParaRPr lang="fr-FR" b="1" dirty="0"/>
          </a:p>
        </p:txBody>
      </p:sp>
      <p:sp>
        <p:nvSpPr>
          <p:cNvPr id="3" name="Espace réservé du contenu 2"/>
          <p:cNvSpPr>
            <a:spLocks noGrp="1"/>
          </p:cNvSpPr>
          <p:nvPr>
            <p:ph idx="1"/>
          </p:nvPr>
        </p:nvSpPr>
        <p:spPr/>
        <p:txBody>
          <a:bodyPr/>
          <a:lstStyle/>
          <a:p>
            <a:r>
              <a:rPr lang="fr-CA" dirty="0"/>
              <a:t>Un </a:t>
            </a:r>
            <a:r>
              <a:rPr lang="fr-CA" b="1" dirty="0"/>
              <a:t>Sprint</a:t>
            </a:r>
            <a:r>
              <a:rPr lang="fr-CA" dirty="0"/>
              <a:t> est une période de travail </a:t>
            </a:r>
            <a:r>
              <a:rPr lang="fr-CA" b="1" dirty="0"/>
              <a:t>courte et fixe</a:t>
            </a:r>
            <a:r>
              <a:rPr lang="fr-CA" dirty="0"/>
              <a:t> (maximum </a:t>
            </a:r>
            <a:r>
              <a:rPr lang="fr-CA" b="1" dirty="0"/>
              <a:t>1 mois</a:t>
            </a:r>
            <a:r>
              <a:rPr lang="fr-CA" dirty="0"/>
              <a:t>) durant laquelle l’équipe développe un </a:t>
            </a:r>
            <a:r>
              <a:rPr lang="fr-CA" b="1" dirty="0" err="1"/>
              <a:t>Increment</a:t>
            </a:r>
            <a:r>
              <a:rPr lang="fr-CA" b="1" dirty="0"/>
              <a:t> utilisable du produit</a:t>
            </a:r>
            <a:r>
              <a:rPr lang="fr-CA" dirty="0"/>
              <a:t>.</a:t>
            </a:r>
            <a:endParaRPr lang="fr-FR" dirty="0"/>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61</a:t>
            </a:fld>
            <a:endParaRPr lang="fr-FR" altLang="fr-FR"/>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3212976"/>
            <a:ext cx="7560840" cy="31683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7324444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62</a:t>
            </a:fld>
            <a:endParaRPr lang="fr-FR" altLang="fr-F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692696"/>
            <a:ext cx="6624736" cy="4140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672" y="4836368"/>
            <a:ext cx="5472608" cy="14129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7217513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63</a:t>
            </a:fld>
            <a:endParaRPr lang="fr-FR" altLang="fr-F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650" y="1009650"/>
            <a:ext cx="8648700" cy="483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6871381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64</a:t>
            </a:fld>
            <a:endParaRPr lang="fr-FR" altLang="fr-F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038" y="809625"/>
            <a:ext cx="8543925" cy="5238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3967383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65</a:t>
            </a:fld>
            <a:endParaRPr lang="fr-FR" altLang="fr-FR"/>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980728"/>
            <a:ext cx="6915150" cy="513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8794302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3FD6E471-8755-6104-D63D-E5179F60A5C2}"/>
              </a:ext>
            </a:extLst>
          </p:cNvPr>
          <p:cNvSpPr>
            <a:spLocks noGrp="1"/>
          </p:cNvSpPr>
          <p:nvPr>
            <p:ph type="title"/>
          </p:nvPr>
        </p:nvSpPr>
        <p:spPr/>
        <p:txBody>
          <a:bodyPr/>
          <a:lstStyle/>
          <a:p>
            <a:pPr>
              <a:defRPr/>
            </a:pPr>
            <a:r>
              <a:rPr lang="fr-FR" dirty="0"/>
              <a:t>Framework SCRUM</a:t>
            </a:r>
          </a:p>
        </p:txBody>
      </p:sp>
      <p:sp>
        <p:nvSpPr>
          <p:cNvPr id="55299" name="Espace réservé du numéro de diapositive 3">
            <a:extLst>
              <a:ext uri="{FF2B5EF4-FFF2-40B4-BE49-F238E27FC236}">
                <a16:creationId xmlns="" xmlns:a16="http://schemas.microsoft.com/office/drawing/2014/main" id="{F2416569-6D9E-84FE-5058-C1E10C161AF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56105BF5-3932-4EC1-8833-BF9EFFA59431}" type="slidenum">
              <a:rPr lang="fr-FR" altLang="fr-FR" sz="1400">
                <a:solidFill>
                  <a:srgbClr val="FFFFFF"/>
                </a:solidFill>
              </a:rPr>
              <a:pPr>
                <a:spcBef>
                  <a:spcPct val="0"/>
                </a:spcBef>
                <a:buClrTx/>
                <a:buSzTx/>
                <a:buFontTx/>
                <a:buNone/>
              </a:pPr>
              <a:t>66</a:t>
            </a:fld>
            <a:endParaRPr lang="fr-FR" altLang="fr-FR" sz="1400">
              <a:solidFill>
                <a:srgbClr val="FFFFFF"/>
              </a:solidFill>
            </a:endParaRPr>
          </a:p>
        </p:txBody>
      </p:sp>
      <p:pic>
        <p:nvPicPr>
          <p:cNvPr id="55300" name="Picture 2">
            <a:extLst>
              <a:ext uri="{FF2B5EF4-FFF2-40B4-BE49-F238E27FC236}">
                <a16:creationId xmlns="" xmlns:a16="http://schemas.microsoft.com/office/drawing/2014/main" id="{EAAB792F-71A2-D850-C982-2694C95868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8888" y="1916113"/>
            <a:ext cx="6265862" cy="4751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1-Product </a:t>
            </a:r>
            <a:r>
              <a:rPr lang="fr-FR" b="1" dirty="0" err="1" smtClean="0"/>
              <a:t>backlog</a:t>
            </a:r>
            <a:endParaRPr lang="fr-FR" b="1" dirty="0"/>
          </a:p>
        </p:txBody>
      </p:sp>
      <p:sp>
        <p:nvSpPr>
          <p:cNvPr id="3" name="Espace réservé du contenu 2"/>
          <p:cNvSpPr>
            <a:spLocks noGrp="1"/>
          </p:cNvSpPr>
          <p:nvPr>
            <p:ph idx="1"/>
          </p:nvPr>
        </p:nvSpPr>
        <p:spPr/>
        <p:txBody>
          <a:bodyPr/>
          <a:lstStyle/>
          <a:p>
            <a:r>
              <a:rPr lang="fr-CA" b="1" dirty="0"/>
              <a:t>Product </a:t>
            </a:r>
            <a:r>
              <a:rPr lang="fr-CA" b="1" dirty="0" err="1"/>
              <a:t>Backlog</a:t>
            </a:r>
            <a:r>
              <a:rPr lang="fr-CA" dirty="0"/>
              <a:t> : c’est la </a:t>
            </a:r>
            <a:r>
              <a:rPr lang="fr-CA" b="1" dirty="0"/>
              <a:t>liste ordonnée de tout ce qu’il faut réaliser dans le produit</a:t>
            </a:r>
            <a:r>
              <a:rPr lang="fr-CA" dirty="0" smtClean="0"/>
              <a:t>.</a:t>
            </a:r>
            <a:endParaRPr lang="fr-CA" dirty="0"/>
          </a:p>
          <a:p>
            <a:endParaRPr lang="fr-CA" dirty="0"/>
          </a:p>
          <a:p>
            <a:endParaRPr lang="fr-FR" dirty="0"/>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67</a:t>
            </a:fld>
            <a:endParaRPr lang="fr-FR" altLang="fr-F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3068960"/>
            <a:ext cx="5904656" cy="3126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794285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User story</a:t>
            </a:r>
            <a:endParaRPr lang="fr-FR" b="1" dirty="0"/>
          </a:p>
        </p:txBody>
      </p:sp>
      <p:sp>
        <p:nvSpPr>
          <p:cNvPr id="3" name="Espace réservé du contenu 2"/>
          <p:cNvSpPr>
            <a:spLocks noGrp="1"/>
          </p:cNvSpPr>
          <p:nvPr>
            <p:ph idx="1"/>
          </p:nvPr>
        </p:nvSpPr>
        <p:spPr/>
        <p:txBody>
          <a:bodyPr/>
          <a:lstStyle/>
          <a:p>
            <a:r>
              <a:rPr lang="fr-CA" dirty="0"/>
              <a:t>Il se présente sous forme de - user </a:t>
            </a:r>
            <a:r>
              <a:rPr lang="fr-CA" dirty="0" smtClean="0"/>
              <a:t>stories-</a:t>
            </a:r>
            <a:endParaRPr lang="fr-CA" dirty="0"/>
          </a:p>
          <a:p>
            <a:endParaRPr lang="fr-FR" dirty="0"/>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68</a:t>
            </a:fld>
            <a:endParaRPr lang="fr-FR" altLang="fr-FR"/>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696" y="2114071"/>
            <a:ext cx="4824536" cy="3753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6135874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CA" b="1" dirty="0" smtClean="0"/>
              <a:t>2-Priorisation</a:t>
            </a:r>
            <a:r>
              <a:rPr lang="fr-CA" dirty="0"/>
              <a:t/>
            </a:r>
            <a:br>
              <a:rPr lang="fr-CA" dirty="0"/>
            </a:br>
            <a:endParaRPr lang="fr-FR" dirty="0"/>
          </a:p>
        </p:txBody>
      </p:sp>
      <p:sp>
        <p:nvSpPr>
          <p:cNvPr id="3" name="Espace réservé du contenu 2"/>
          <p:cNvSpPr>
            <a:spLocks noGrp="1"/>
          </p:cNvSpPr>
          <p:nvPr>
            <p:ph idx="1"/>
          </p:nvPr>
        </p:nvSpPr>
        <p:spPr>
          <a:xfrm>
            <a:off x="467544" y="1196752"/>
            <a:ext cx="8229600" cy="4876800"/>
          </a:xfrm>
        </p:spPr>
        <p:txBody>
          <a:bodyPr/>
          <a:lstStyle/>
          <a:p>
            <a:pPr marL="0" indent="0">
              <a:buNone/>
            </a:pPr>
            <a:r>
              <a:rPr lang="fr-CA" dirty="0" smtClean="0"/>
              <a:t> </a:t>
            </a:r>
            <a:r>
              <a:rPr lang="fr-CA" sz="1600" dirty="0"/>
              <a:t>Le </a:t>
            </a:r>
            <a:r>
              <a:rPr lang="fr-CA" sz="1600" b="1" dirty="0"/>
              <a:t>Product </a:t>
            </a:r>
            <a:r>
              <a:rPr lang="fr-CA" sz="1600" b="1" dirty="0" err="1"/>
              <a:t>Owner</a:t>
            </a:r>
            <a:r>
              <a:rPr lang="fr-CA" sz="1600" dirty="0"/>
              <a:t> ordonne les éléments selon leur priorité.</a:t>
            </a:r>
            <a:endParaRPr lang="fr-FR" sz="1600" dirty="0"/>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69</a:t>
            </a:fld>
            <a:endParaRPr lang="fr-FR" altLang="fr-F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1996977"/>
            <a:ext cx="7092081" cy="4319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7729705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FR" sz="3600" b="1" dirty="0" smtClean="0"/>
              <a:t>3-Préparation </a:t>
            </a:r>
            <a:r>
              <a:rPr lang="fr-FR" sz="3600" b="1" dirty="0"/>
              <a:t>/ </a:t>
            </a:r>
            <a:r>
              <a:rPr lang="fr-FR" sz="3600" b="1" dirty="0" err="1"/>
              <a:t>Refinement</a:t>
            </a:r>
            <a:r>
              <a:rPr lang="fr-FR" sz="3600" b="1" dirty="0"/>
              <a:t> (</a:t>
            </a:r>
            <a:r>
              <a:rPr lang="fr-FR" sz="3600" b="1" dirty="0" err="1"/>
              <a:t>Backlog</a:t>
            </a:r>
            <a:r>
              <a:rPr lang="fr-FR" sz="3600" b="1" dirty="0"/>
              <a:t> </a:t>
            </a:r>
            <a:r>
              <a:rPr lang="fr-FR" sz="3600" b="1" dirty="0" err="1"/>
              <a:t>Refinement</a:t>
            </a:r>
            <a:r>
              <a:rPr lang="fr-FR" sz="3600" b="1" dirty="0"/>
              <a:t>)</a:t>
            </a:r>
          </a:p>
        </p:txBody>
      </p:sp>
      <p:sp>
        <p:nvSpPr>
          <p:cNvPr id="3" name="Espace réservé du contenu 2"/>
          <p:cNvSpPr>
            <a:spLocks noGrp="1"/>
          </p:cNvSpPr>
          <p:nvPr>
            <p:ph idx="1"/>
          </p:nvPr>
        </p:nvSpPr>
        <p:spPr>
          <a:xfrm>
            <a:off x="467544" y="1391331"/>
            <a:ext cx="8229600" cy="4876800"/>
          </a:xfrm>
        </p:spPr>
        <p:txBody>
          <a:bodyPr/>
          <a:lstStyle/>
          <a:p>
            <a:r>
              <a:rPr lang="fr-CA" sz="1400" dirty="0"/>
              <a:t>On détaille les User Stories pour qu’elles soient suffisamment claires et compréhensibles</a:t>
            </a:r>
            <a:r>
              <a:rPr lang="fr-CA" dirty="0"/>
              <a:t>.</a:t>
            </a:r>
            <a:endParaRPr lang="fr-FR" dirty="0"/>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70</a:t>
            </a:fld>
            <a:endParaRPr lang="fr-FR" altLang="fr-F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3913" y="2132856"/>
            <a:ext cx="7630035" cy="4104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23835005"/>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t>4-Estimation de l’effort</a:t>
            </a:r>
          </a:p>
        </p:txBody>
      </p:sp>
      <p:sp>
        <p:nvSpPr>
          <p:cNvPr id="3" name="Espace réservé du contenu 2"/>
          <p:cNvSpPr>
            <a:spLocks noGrp="1"/>
          </p:cNvSpPr>
          <p:nvPr>
            <p:ph idx="1"/>
          </p:nvPr>
        </p:nvSpPr>
        <p:spPr/>
        <p:txBody>
          <a:bodyPr/>
          <a:lstStyle/>
          <a:p>
            <a:r>
              <a:rPr lang="fr-FR" dirty="0" smtClean="0"/>
              <a:t>Planning </a:t>
            </a:r>
            <a:r>
              <a:rPr lang="fr-FR" dirty="0" err="1" smtClean="0"/>
              <a:t>pocker</a:t>
            </a:r>
            <a:r>
              <a:rPr lang="fr-FR" dirty="0" smtClean="0"/>
              <a:t> </a:t>
            </a:r>
            <a:endParaRPr lang="fr-FR" dirty="0"/>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71</a:t>
            </a:fld>
            <a:endParaRPr lang="fr-FR" altLang="fr-FR"/>
          </a:p>
        </p:txBody>
      </p:sp>
      <p:pic>
        <p:nvPicPr>
          <p:cNvPr id="6" name="Picture 2">
            <a:extLst>
              <a:ext uri="{FF2B5EF4-FFF2-40B4-BE49-F238E27FC236}">
                <a16:creationId xmlns="" xmlns:a16="http://schemas.microsoft.com/office/drawing/2014/main" id="{AC602F12-59D6-9796-2110-167DEAD106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2187527"/>
            <a:ext cx="5772150" cy="365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60922949"/>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72</a:t>
            </a:fld>
            <a:endParaRPr lang="fr-FR" altLang="fr-F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124744"/>
            <a:ext cx="7776863" cy="5040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41040318"/>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Exemple :</a:t>
            </a:r>
            <a:endParaRPr lang="fr-FR" dirty="0"/>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73</a:t>
            </a:fld>
            <a:endParaRPr lang="fr-FR" altLang="fr-F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1988840"/>
            <a:ext cx="8136904" cy="37444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6314315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5-ready (user story)</a:t>
            </a:r>
            <a:endParaRPr lang="fr-FR" b="1" dirty="0"/>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74</a:t>
            </a:fld>
            <a:endParaRPr lang="fr-FR" altLang="fr-FR"/>
          </a:p>
        </p:txBody>
      </p:sp>
      <p:pic>
        <p:nvPicPr>
          <p:cNvPr id="5" name="Picture 3">
            <a:extLst>
              <a:ext uri="{FF2B5EF4-FFF2-40B4-BE49-F238E27FC236}">
                <a16:creationId xmlns="" xmlns:a16="http://schemas.microsoft.com/office/drawing/2014/main" id="{08642340-B5B8-F5D1-351C-1F4F673E37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1916832"/>
            <a:ext cx="6984776" cy="4320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09164431"/>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6-Sprint </a:t>
            </a:r>
            <a:r>
              <a:rPr lang="fr-FR" b="1" dirty="0"/>
              <a:t>Planning</a:t>
            </a:r>
          </a:p>
        </p:txBody>
      </p:sp>
      <p:sp>
        <p:nvSpPr>
          <p:cNvPr id="3" name="Espace réservé du contenu 2"/>
          <p:cNvSpPr>
            <a:spLocks noGrp="1"/>
          </p:cNvSpPr>
          <p:nvPr>
            <p:ph idx="1"/>
          </p:nvPr>
        </p:nvSpPr>
        <p:spPr/>
        <p:txBody>
          <a:bodyPr/>
          <a:lstStyle/>
          <a:p>
            <a:r>
              <a:rPr lang="fr-CA" dirty="0"/>
              <a:t>L’équipe sélectionne ensuite des éléments </a:t>
            </a:r>
            <a:r>
              <a:rPr lang="fr-CA" b="1" dirty="0" err="1"/>
              <a:t>Ready</a:t>
            </a:r>
            <a:r>
              <a:rPr lang="fr-CA" dirty="0"/>
              <a:t> du Product </a:t>
            </a:r>
            <a:r>
              <a:rPr lang="fr-CA" dirty="0" err="1"/>
              <a:t>Backlog</a:t>
            </a:r>
            <a:r>
              <a:rPr lang="fr-CA" dirty="0"/>
              <a:t> pour constituer le </a:t>
            </a:r>
            <a:r>
              <a:rPr lang="fr-CA" b="1" dirty="0"/>
              <a:t>Sprint </a:t>
            </a:r>
            <a:r>
              <a:rPr lang="fr-CA" b="1" dirty="0" err="1"/>
              <a:t>Backlog</a:t>
            </a:r>
            <a:r>
              <a:rPr lang="fr-CA" dirty="0"/>
              <a:t>.</a:t>
            </a:r>
            <a:endParaRPr lang="fr-FR" dirty="0"/>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75</a:t>
            </a:fld>
            <a:endParaRPr lang="fr-FR" altLang="fr-FR"/>
          </a:p>
        </p:txBody>
      </p:sp>
    </p:spTree>
    <p:extLst>
      <p:ext uri="{BB962C8B-B14F-4D97-AF65-F5344CB8AC3E}">
        <p14:creationId xmlns:p14="http://schemas.microsoft.com/office/powerpoint/2010/main" val="79127758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t>7-Sprint </a:t>
            </a:r>
            <a:r>
              <a:rPr lang="fr-FR" b="1" dirty="0" err="1" smtClean="0"/>
              <a:t>Backlog</a:t>
            </a:r>
            <a:endParaRPr lang="fr-FR" b="1" dirty="0"/>
          </a:p>
        </p:txBody>
      </p:sp>
      <p:sp>
        <p:nvSpPr>
          <p:cNvPr id="3" name="Espace réservé du contenu 2"/>
          <p:cNvSpPr>
            <a:spLocks noGrp="1"/>
          </p:cNvSpPr>
          <p:nvPr>
            <p:ph idx="1"/>
          </p:nvPr>
        </p:nvSpPr>
        <p:spPr/>
        <p:txBody>
          <a:bodyPr/>
          <a:lstStyle/>
          <a:p>
            <a:r>
              <a:rPr lang="fr-CA" sz="2000" dirty="0"/>
              <a:t>Le </a:t>
            </a:r>
            <a:r>
              <a:rPr lang="fr-CA" sz="2000" b="1" dirty="0"/>
              <a:t>Sprint Planning</a:t>
            </a:r>
            <a:r>
              <a:rPr lang="fr-CA" sz="2000" dirty="0"/>
              <a:t> est la réunion où l’équipe </a:t>
            </a:r>
            <a:r>
              <a:rPr lang="fr-CA" sz="2000" b="1" dirty="0"/>
              <a:t>prépare le Sprint à venir</a:t>
            </a:r>
            <a:r>
              <a:rPr lang="fr-CA" sz="2000" dirty="0"/>
              <a:t>.</a:t>
            </a:r>
          </a:p>
          <a:p>
            <a:r>
              <a:rPr lang="fr-CA" sz="2000" dirty="0"/>
              <a:t>En bref :</a:t>
            </a:r>
          </a:p>
          <a:p>
            <a:r>
              <a:rPr lang="fr-CA" sz="2000" b="1" dirty="0"/>
              <a:t>Product </a:t>
            </a:r>
            <a:r>
              <a:rPr lang="fr-CA" sz="2000" b="1" dirty="0" err="1"/>
              <a:t>Owner</a:t>
            </a:r>
            <a:r>
              <a:rPr lang="fr-CA" sz="2000" dirty="0"/>
              <a:t> → présente les priorités du Product </a:t>
            </a:r>
            <a:r>
              <a:rPr lang="fr-CA" sz="2000" dirty="0" err="1"/>
              <a:t>Backlog</a:t>
            </a:r>
            <a:r>
              <a:rPr lang="fr-CA" sz="2000" dirty="0"/>
              <a:t>. </a:t>
            </a:r>
          </a:p>
          <a:p>
            <a:r>
              <a:rPr lang="fr-CA" sz="2000" b="1" dirty="0"/>
              <a:t>Équipe de développement</a:t>
            </a:r>
            <a:r>
              <a:rPr lang="fr-CA" sz="2000" dirty="0"/>
              <a:t> → sélectionne les User Stories réalisables. </a:t>
            </a:r>
          </a:p>
          <a:p>
            <a:r>
              <a:rPr lang="fr-CA" sz="2000" b="1" dirty="0"/>
              <a:t>Équipe </a:t>
            </a:r>
            <a:r>
              <a:rPr lang="fr-CA" sz="2000" b="1" dirty="0" err="1"/>
              <a:t>Scrum</a:t>
            </a:r>
            <a:r>
              <a:rPr lang="fr-CA" sz="2000" dirty="0"/>
              <a:t> → définit </a:t>
            </a:r>
            <a:r>
              <a:rPr lang="fr-CA" sz="2000" b="1" dirty="0"/>
              <a:t>l’objectif du Sprint (Sprint Goal)</a:t>
            </a:r>
            <a:r>
              <a:rPr lang="fr-CA" sz="2000" dirty="0"/>
              <a:t>. </a:t>
            </a:r>
          </a:p>
          <a:p>
            <a:r>
              <a:rPr lang="fr-CA" sz="2000" dirty="0"/>
              <a:t>Les User Stories sélectionnées deviennent le </a:t>
            </a:r>
            <a:r>
              <a:rPr lang="fr-CA" sz="2000" b="1" dirty="0"/>
              <a:t>Sprint </a:t>
            </a:r>
            <a:r>
              <a:rPr lang="fr-CA" sz="2000" b="1" dirty="0" err="1"/>
              <a:t>Backlog</a:t>
            </a:r>
            <a:r>
              <a:rPr lang="fr-CA" sz="2000" dirty="0"/>
              <a:t>. </a:t>
            </a:r>
          </a:p>
          <a:p>
            <a:r>
              <a:rPr lang="fr-CA" sz="2000" dirty="0" smtClean="0"/>
              <a:t> </a:t>
            </a:r>
            <a:r>
              <a:rPr lang="fr-CA" sz="2000" b="1" dirty="0"/>
              <a:t>Product </a:t>
            </a:r>
            <a:r>
              <a:rPr lang="fr-CA" sz="2000" b="1" dirty="0" err="1"/>
              <a:t>Backlog</a:t>
            </a:r>
            <a:r>
              <a:rPr lang="fr-CA" sz="2000" b="1" dirty="0"/>
              <a:t> → Sprint Planning → Sprint </a:t>
            </a:r>
            <a:r>
              <a:rPr lang="fr-CA" sz="2000" b="1" dirty="0" err="1"/>
              <a:t>Backlog</a:t>
            </a:r>
            <a:r>
              <a:rPr lang="fr-CA" sz="2000" b="1" dirty="0"/>
              <a:t> → Développement</a:t>
            </a:r>
            <a:r>
              <a:rPr lang="fr-CA" sz="2000" dirty="0"/>
              <a:t>.</a:t>
            </a:r>
          </a:p>
          <a:p>
            <a:endParaRPr lang="fr-FR" dirty="0"/>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76</a:t>
            </a:fld>
            <a:endParaRPr lang="fr-FR" altLang="fr-FR"/>
          </a:p>
        </p:txBody>
      </p:sp>
    </p:spTree>
    <p:extLst>
      <p:ext uri="{BB962C8B-B14F-4D97-AF65-F5344CB8AC3E}">
        <p14:creationId xmlns:p14="http://schemas.microsoft.com/office/powerpoint/2010/main" val="132602793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77</a:t>
            </a:fld>
            <a:endParaRPr lang="fr-FR" altLang="fr-F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64" y="1628800"/>
            <a:ext cx="9180512" cy="41808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7395815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38E4422D-53B4-2E80-A2B6-9C3FFA070B0D}"/>
              </a:ext>
            </a:extLst>
          </p:cNvPr>
          <p:cNvSpPr>
            <a:spLocks noGrp="1"/>
          </p:cNvSpPr>
          <p:nvPr>
            <p:ph type="title"/>
          </p:nvPr>
        </p:nvSpPr>
        <p:spPr/>
        <p:txBody>
          <a:bodyPr>
            <a:normAutofit fontScale="90000"/>
          </a:bodyPr>
          <a:lstStyle/>
          <a:p>
            <a:pPr>
              <a:defRPr/>
            </a:pPr>
            <a:r>
              <a:rPr lang="fr-CA" altLang="fr-FR" b="1" dirty="0" smtClean="0"/>
              <a:t>suivi </a:t>
            </a:r>
            <a:r>
              <a:rPr lang="fr-CA" altLang="fr-FR" b="1" dirty="0"/>
              <a:t>du Sprint (tableau des taches)</a:t>
            </a:r>
            <a:r>
              <a:rPr lang="fr-FR" altLang="fr-FR" b="1" dirty="0"/>
              <a:t/>
            </a:r>
            <a:br>
              <a:rPr lang="fr-FR" altLang="fr-FR" b="1" dirty="0"/>
            </a:br>
            <a:endParaRPr lang="fr-FR" b="1" dirty="0"/>
          </a:p>
        </p:txBody>
      </p:sp>
      <p:sp>
        <p:nvSpPr>
          <p:cNvPr id="69636" name="Espace réservé du numéro de diapositive 3">
            <a:extLst>
              <a:ext uri="{FF2B5EF4-FFF2-40B4-BE49-F238E27FC236}">
                <a16:creationId xmlns="" xmlns:a16="http://schemas.microsoft.com/office/drawing/2014/main" id="{E7B0AD0B-A1EA-C12D-FF5D-01FEB81C846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E5C32833-CF5A-48A8-8F45-5458CE8E0067}" type="slidenum">
              <a:rPr lang="fr-FR" altLang="fr-FR" sz="1400">
                <a:solidFill>
                  <a:srgbClr val="FFFFFF"/>
                </a:solidFill>
              </a:rPr>
              <a:pPr>
                <a:spcBef>
                  <a:spcPct val="0"/>
                </a:spcBef>
                <a:buClrTx/>
                <a:buSzTx/>
                <a:buFontTx/>
                <a:buNone/>
              </a:pPr>
              <a:t>78</a:t>
            </a:fld>
            <a:endParaRPr lang="fr-FR" altLang="fr-FR" sz="1400">
              <a:solidFill>
                <a:srgbClr val="FFFFFF"/>
              </a:solidFill>
            </a:endParaRPr>
          </a:p>
        </p:txBody>
      </p:sp>
      <p:sp>
        <p:nvSpPr>
          <p:cNvPr id="69637" name="Rectangle 2">
            <a:extLst>
              <a:ext uri="{FF2B5EF4-FFF2-40B4-BE49-F238E27FC236}">
                <a16:creationId xmlns="" xmlns:a16="http://schemas.microsoft.com/office/drawing/2014/main" id="{199108E6-F770-3959-7612-AD6DD96B852F}"/>
              </a:ext>
            </a:extLst>
          </p:cNvPr>
          <p:cNvSpPr>
            <a:spLocks noChangeArrowheads="1"/>
          </p:cNvSpPr>
          <p:nvPr/>
        </p:nvSpPr>
        <p:spPr bwMode="auto">
          <a:xfrm>
            <a:off x="1115616" y="1844824"/>
            <a:ext cx="60483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eaLnBrk="1" hangingPunct="1">
              <a:spcBef>
                <a:spcPct val="0"/>
              </a:spcBef>
              <a:buClrTx/>
              <a:buSzTx/>
              <a:buFontTx/>
              <a:buNone/>
            </a:pPr>
            <a:r>
              <a:rPr lang="fr-CA" altLang="fr-FR" sz="1800" dirty="0"/>
              <a:t>Un sprint de 2 semaines peut contenir une trentaine de cartes</a:t>
            </a:r>
            <a:endParaRPr lang="fr-FR" altLang="fr-FR" sz="1800" dirty="0"/>
          </a:p>
        </p:txBody>
      </p:sp>
      <p:pic>
        <p:nvPicPr>
          <p:cNvPr id="69638" name="Picture 5">
            <a:extLst>
              <a:ext uri="{FF2B5EF4-FFF2-40B4-BE49-F238E27FC236}">
                <a16:creationId xmlns="" xmlns:a16="http://schemas.microsoft.com/office/drawing/2014/main" id="{0ADB98E1-8BFE-3DE0-EB55-1BAA167D65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5094" y="2708920"/>
            <a:ext cx="7134225" cy="288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7878843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3068BFF0-D285-7093-4D6B-5BE35BD77550}"/>
              </a:ext>
            </a:extLst>
          </p:cNvPr>
          <p:cNvSpPr>
            <a:spLocks noGrp="1"/>
          </p:cNvSpPr>
          <p:nvPr>
            <p:ph type="title"/>
          </p:nvPr>
        </p:nvSpPr>
        <p:spPr/>
        <p:txBody>
          <a:bodyPr/>
          <a:lstStyle/>
          <a:p>
            <a:pPr>
              <a:defRPr/>
            </a:pPr>
            <a:endParaRPr lang="fr-FR"/>
          </a:p>
        </p:txBody>
      </p:sp>
      <p:sp>
        <p:nvSpPr>
          <p:cNvPr id="70659" name="Espace réservé du contenu 2">
            <a:extLst>
              <a:ext uri="{FF2B5EF4-FFF2-40B4-BE49-F238E27FC236}">
                <a16:creationId xmlns="" xmlns:a16="http://schemas.microsoft.com/office/drawing/2014/main" id="{E84CDC52-D564-5948-C930-1EEE37D8B09B}"/>
              </a:ext>
            </a:extLst>
          </p:cNvPr>
          <p:cNvSpPr>
            <a:spLocks noGrp="1"/>
          </p:cNvSpPr>
          <p:nvPr>
            <p:ph idx="1"/>
          </p:nvPr>
        </p:nvSpPr>
        <p:spPr/>
        <p:txBody>
          <a:bodyPr/>
          <a:lstStyle/>
          <a:p>
            <a:r>
              <a:rPr lang="fr-CA" altLang="fr-FR"/>
              <a:t>Un burndown chart ou BDC est une représentation graphique de l'évolution de quantité de travail réalisée par rapport au temps sur une période de temps donnée.</a:t>
            </a:r>
            <a:endParaRPr lang="fr-FR" altLang="fr-FR"/>
          </a:p>
        </p:txBody>
      </p:sp>
      <p:sp>
        <p:nvSpPr>
          <p:cNvPr id="70660" name="Espace réservé du numéro de diapositive 3">
            <a:extLst>
              <a:ext uri="{FF2B5EF4-FFF2-40B4-BE49-F238E27FC236}">
                <a16:creationId xmlns="" xmlns:a16="http://schemas.microsoft.com/office/drawing/2014/main" id="{F94C2EFD-2B8A-9A2E-D6EA-A2517F6E2BA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106D6A75-A036-4F2C-9729-2F9DCDC4CDAD}" type="slidenum">
              <a:rPr lang="fr-FR" altLang="fr-FR" sz="1400">
                <a:solidFill>
                  <a:srgbClr val="FFFFFF"/>
                </a:solidFill>
              </a:rPr>
              <a:pPr>
                <a:spcBef>
                  <a:spcPct val="0"/>
                </a:spcBef>
                <a:buClrTx/>
                <a:buSzTx/>
                <a:buFontTx/>
                <a:buNone/>
              </a:pPr>
              <a:t>79</a:t>
            </a:fld>
            <a:endParaRPr lang="fr-FR" altLang="fr-FR" sz="1400">
              <a:solidFill>
                <a:srgbClr val="FFFFFF"/>
              </a:solidFill>
            </a:endParaRPr>
          </a:p>
        </p:txBody>
      </p:sp>
      <p:pic>
        <p:nvPicPr>
          <p:cNvPr id="70661" name="Picture 2">
            <a:extLst>
              <a:ext uri="{FF2B5EF4-FFF2-40B4-BE49-F238E27FC236}">
                <a16:creationId xmlns="" xmlns:a16="http://schemas.microsoft.com/office/drawing/2014/main" id="{33ED0090-0BAF-972F-126C-A30190F414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2924175"/>
            <a:ext cx="6829425" cy="337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9174100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CA" b="1" dirty="0" smtClean="0"/>
              <a:t>7-Pendant </a:t>
            </a:r>
            <a:r>
              <a:rPr lang="fr-CA" b="1" dirty="0"/>
              <a:t>le Sprint </a:t>
            </a:r>
            <a:r>
              <a:rPr lang="fr-CA" dirty="0"/>
              <a:t/>
            </a:r>
            <a:br>
              <a:rPr lang="fr-CA" dirty="0"/>
            </a:br>
            <a:endParaRPr lang="fr-FR" dirty="0"/>
          </a:p>
        </p:txBody>
      </p:sp>
      <p:sp>
        <p:nvSpPr>
          <p:cNvPr id="3" name="Espace réservé du contenu 2"/>
          <p:cNvSpPr>
            <a:spLocks noGrp="1"/>
          </p:cNvSpPr>
          <p:nvPr>
            <p:ph idx="1"/>
          </p:nvPr>
        </p:nvSpPr>
        <p:spPr/>
        <p:txBody>
          <a:bodyPr/>
          <a:lstStyle/>
          <a:p>
            <a:r>
              <a:rPr lang="fr-CA" dirty="0"/>
              <a:t>Les </a:t>
            </a:r>
            <a:r>
              <a:rPr lang="fr-CA" dirty="0" err="1"/>
              <a:t>Developers</a:t>
            </a:r>
            <a:r>
              <a:rPr lang="fr-CA" dirty="0"/>
              <a:t> développent et testent ces fonctionnalités. </a:t>
            </a:r>
            <a:endParaRPr lang="fr-CA" dirty="0" smtClean="0"/>
          </a:p>
          <a:p>
            <a:endParaRPr lang="fr-CA" dirty="0"/>
          </a:p>
          <a:p>
            <a:r>
              <a:rPr lang="fr-CA" dirty="0" smtClean="0"/>
              <a:t>Chaque jour commence par un </a:t>
            </a:r>
            <a:r>
              <a:rPr lang="fr-CA" b="1" dirty="0"/>
              <a:t>Daily </a:t>
            </a:r>
            <a:r>
              <a:rPr lang="fr-CA" b="1" dirty="0" err="1"/>
              <a:t>Scrum</a:t>
            </a:r>
            <a:r>
              <a:rPr lang="fr-CA" dirty="0"/>
              <a:t>.</a:t>
            </a:r>
            <a:endParaRPr lang="fr-FR" dirty="0"/>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80</a:t>
            </a:fld>
            <a:endParaRPr lang="fr-FR" altLang="fr-FR"/>
          </a:p>
        </p:txBody>
      </p:sp>
    </p:spTree>
    <p:extLst>
      <p:ext uri="{BB962C8B-B14F-4D97-AF65-F5344CB8AC3E}">
        <p14:creationId xmlns:p14="http://schemas.microsoft.com/office/powerpoint/2010/main" val="358627599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b="1" dirty="0" smtClean="0"/>
              <a:t>8-</a:t>
            </a:r>
            <a:r>
              <a:rPr lang="fr-CA" b="1" dirty="0"/>
              <a:t>Daily </a:t>
            </a:r>
            <a:r>
              <a:rPr lang="fr-CA" b="1" dirty="0" err="1"/>
              <a:t>Scrum</a:t>
            </a:r>
            <a:r>
              <a:rPr lang="fr-CA" b="1" dirty="0"/>
              <a:t/>
            </a:r>
            <a:br>
              <a:rPr lang="fr-CA" b="1" dirty="0"/>
            </a:br>
            <a:endParaRPr lang="fr-FR" dirty="0"/>
          </a:p>
        </p:txBody>
      </p:sp>
      <p:sp>
        <p:nvSpPr>
          <p:cNvPr id="3" name="Espace réservé du contenu 2"/>
          <p:cNvSpPr>
            <a:spLocks noGrp="1"/>
          </p:cNvSpPr>
          <p:nvPr>
            <p:ph idx="1"/>
          </p:nvPr>
        </p:nvSpPr>
        <p:spPr/>
        <p:txBody>
          <a:bodyPr/>
          <a:lstStyle/>
          <a:p>
            <a:r>
              <a:rPr lang="fr-CA" dirty="0" smtClean="0"/>
              <a:t>Le </a:t>
            </a:r>
            <a:r>
              <a:rPr lang="fr-CA" b="1" dirty="0"/>
              <a:t>Daily </a:t>
            </a:r>
            <a:r>
              <a:rPr lang="fr-CA" b="1" dirty="0" err="1"/>
              <a:t>Scrum</a:t>
            </a:r>
            <a:r>
              <a:rPr lang="fr-CA" dirty="0"/>
              <a:t> est une </a:t>
            </a:r>
            <a:r>
              <a:rPr lang="fr-CA" b="1" dirty="0"/>
              <a:t>courte réunion quotidienne (15 min)</a:t>
            </a:r>
            <a:r>
              <a:rPr lang="fr-CA" dirty="0"/>
              <a:t> pendant le Sprint.</a:t>
            </a:r>
          </a:p>
          <a:p>
            <a:r>
              <a:rPr lang="fr-CA" dirty="0"/>
              <a:t>Chaque membre de l’équipe de développement répond généralement à :</a:t>
            </a:r>
          </a:p>
          <a:p>
            <a:r>
              <a:rPr lang="fr-CA" b="1" dirty="0"/>
              <a:t>Qu’ai-je fait hier ?</a:t>
            </a:r>
            <a:r>
              <a:rPr lang="fr-CA" dirty="0"/>
              <a:t> </a:t>
            </a:r>
          </a:p>
          <a:p>
            <a:r>
              <a:rPr lang="fr-CA" b="1" dirty="0"/>
              <a:t>Que vais-je faire aujourd’hui ?</a:t>
            </a:r>
            <a:r>
              <a:rPr lang="fr-CA" dirty="0"/>
              <a:t> </a:t>
            </a:r>
          </a:p>
          <a:p>
            <a:r>
              <a:rPr lang="fr-CA" b="1" dirty="0"/>
              <a:t>Y a-t-il un obstacle / blocage ?</a:t>
            </a:r>
            <a:r>
              <a:rPr lang="fr-CA" dirty="0"/>
              <a:t> </a:t>
            </a:r>
          </a:p>
          <a:p>
            <a:r>
              <a:rPr lang="fr-CA" b="1" dirty="0"/>
              <a:t>Participants :</a:t>
            </a:r>
            <a:r>
              <a:rPr lang="fr-CA" dirty="0"/>
              <a:t> principalement les </a:t>
            </a:r>
            <a:r>
              <a:rPr lang="fr-CA" b="1" dirty="0"/>
              <a:t>Développeurs</a:t>
            </a:r>
            <a:r>
              <a:rPr lang="fr-CA" dirty="0"/>
              <a:t> ; le </a:t>
            </a:r>
            <a:r>
              <a:rPr lang="fr-CA" b="1" dirty="0" err="1"/>
              <a:t>Scrum</a:t>
            </a:r>
            <a:r>
              <a:rPr lang="fr-CA" b="1" dirty="0"/>
              <a:t> Master</a:t>
            </a:r>
            <a:r>
              <a:rPr lang="fr-CA" dirty="0"/>
              <a:t> facilite si nécessaire.</a:t>
            </a:r>
          </a:p>
          <a:p>
            <a:r>
              <a:rPr lang="fr-CA" dirty="0" smtClean="0"/>
              <a:t> </a:t>
            </a:r>
            <a:r>
              <a:rPr lang="fr-CA" b="1" dirty="0"/>
              <a:t>Objectif : synchroniser l’équipe et identifier rapidement les blocages.</a:t>
            </a:r>
            <a:endParaRPr lang="fr-CA" dirty="0"/>
          </a:p>
          <a:p>
            <a:endParaRPr lang="fr-FR" dirty="0"/>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81</a:t>
            </a:fld>
            <a:endParaRPr lang="fr-FR" altLang="fr-FR"/>
          </a:p>
        </p:txBody>
      </p:sp>
    </p:spTree>
    <p:extLst>
      <p:ext uri="{BB962C8B-B14F-4D97-AF65-F5344CB8AC3E}">
        <p14:creationId xmlns:p14="http://schemas.microsoft.com/office/powerpoint/2010/main" val="185937687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t>9-Fin du Sprint</a:t>
            </a:r>
          </a:p>
        </p:txBody>
      </p:sp>
      <p:sp>
        <p:nvSpPr>
          <p:cNvPr id="3" name="Espace réservé du contenu 2"/>
          <p:cNvSpPr>
            <a:spLocks noGrp="1"/>
          </p:cNvSpPr>
          <p:nvPr>
            <p:ph idx="1"/>
          </p:nvPr>
        </p:nvSpPr>
        <p:spPr/>
        <p:txBody>
          <a:bodyPr/>
          <a:lstStyle/>
          <a:p>
            <a:r>
              <a:rPr lang="fr-CA" dirty="0"/>
              <a:t>L’</a:t>
            </a:r>
            <a:r>
              <a:rPr lang="fr-CA" b="1" dirty="0" err="1"/>
              <a:t>Increment</a:t>
            </a:r>
            <a:r>
              <a:rPr lang="fr-CA" dirty="0"/>
              <a:t> est la </a:t>
            </a:r>
            <a:r>
              <a:rPr lang="fr-CA" b="1" dirty="0"/>
              <a:t>version fonctionnelle et utilisable du produit</a:t>
            </a:r>
            <a:r>
              <a:rPr lang="fr-CA" dirty="0"/>
              <a:t> obtenue à la fin du Sprint.</a:t>
            </a:r>
            <a:endParaRPr lang="fr-FR" dirty="0"/>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82</a:t>
            </a:fld>
            <a:endParaRPr lang="fr-FR" altLang="fr-FR"/>
          </a:p>
        </p:txBody>
      </p:sp>
    </p:spTree>
    <p:extLst>
      <p:ext uri="{BB962C8B-B14F-4D97-AF65-F5344CB8AC3E}">
        <p14:creationId xmlns:p14="http://schemas.microsoft.com/office/powerpoint/2010/main" val="268933594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t>10-Sprint </a:t>
            </a:r>
            <a:r>
              <a:rPr lang="fr-FR" b="1" dirty="0" err="1"/>
              <a:t>Review</a:t>
            </a:r>
            <a:endParaRPr lang="fr-FR" b="1" dirty="0"/>
          </a:p>
        </p:txBody>
      </p:sp>
      <p:sp>
        <p:nvSpPr>
          <p:cNvPr id="3" name="Espace réservé du contenu 2"/>
          <p:cNvSpPr>
            <a:spLocks noGrp="1"/>
          </p:cNvSpPr>
          <p:nvPr>
            <p:ph idx="1"/>
          </p:nvPr>
        </p:nvSpPr>
        <p:spPr/>
        <p:txBody>
          <a:bodyPr/>
          <a:lstStyle/>
          <a:p>
            <a:r>
              <a:rPr lang="fr-CA" dirty="0"/>
              <a:t>La </a:t>
            </a:r>
            <a:r>
              <a:rPr lang="fr-CA" b="1" dirty="0"/>
              <a:t>Sprint </a:t>
            </a:r>
            <a:r>
              <a:rPr lang="fr-CA" b="1" dirty="0" err="1"/>
              <a:t>Review</a:t>
            </a:r>
            <a:r>
              <a:rPr lang="fr-CA" dirty="0"/>
              <a:t> est une réunion à la </a:t>
            </a:r>
            <a:r>
              <a:rPr lang="fr-CA" b="1" dirty="0"/>
              <a:t>fin du Sprint</a:t>
            </a:r>
            <a:r>
              <a:rPr lang="fr-CA" dirty="0"/>
              <a:t> pour </a:t>
            </a:r>
            <a:r>
              <a:rPr lang="fr-CA" b="1" dirty="0"/>
              <a:t>présenter l’</a:t>
            </a:r>
            <a:r>
              <a:rPr lang="fr-CA" b="1" dirty="0" err="1"/>
              <a:t>Increment</a:t>
            </a:r>
            <a:r>
              <a:rPr lang="fr-CA" dirty="0"/>
              <a:t> et recueillir les retours.</a:t>
            </a:r>
          </a:p>
          <a:p>
            <a:r>
              <a:rPr lang="fr-CA" b="1" dirty="0"/>
              <a:t>Équipe </a:t>
            </a:r>
            <a:r>
              <a:rPr lang="fr-CA" b="1" dirty="0" err="1"/>
              <a:t>Scrum</a:t>
            </a:r>
            <a:r>
              <a:rPr lang="fr-CA" dirty="0"/>
              <a:t> → présente le travail réalisé. </a:t>
            </a:r>
          </a:p>
          <a:p>
            <a:r>
              <a:rPr lang="fr-CA" b="1" dirty="0"/>
              <a:t>Product </a:t>
            </a:r>
            <a:r>
              <a:rPr lang="fr-CA" b="1" dirty="0" err="1"/>
              <a:t>Owner</a:t>
            </a:r>
            <a:r>
              <a:rPr lang="fr-CA" b="1" dirty="0"/>
              <a:t> + </a:t>
            </a:r>
            <a:r>
              <a:rPr lang="fr-CA" b="1" dirty="0" err="1"/>
              <a:t>Stakeholders</a:t>
            </a:r>
            <a:r>
              <a:rPr lang="fr-CA" dirty="0"/>
              <a:t> → donnent leurs retours. </a:t>
            </a:r>
          </a:p>
          <a:p>
            <a:r>
              <a:rPr lang="fr-CA" dirty="0"/>
              <a:t>Le </a:t>
            </a:r>
            <a:r>
              <a:rPr lang="fr-CA" b="1" dirty="0"/>
              <a:t>Product </a:t>
            </a:r>
            <a:r>
              <a:rPr lang="fr-CA" b="1" dirty="0" err="1"/>
              <a:t>Backlog</a:t>
            </a:r>
            <a:r>
              <a:rPr lang="fr-CA" b="1" dirty="0"/>
              <a:t> peut être ajusté</a:t>
            </a:r>
            <a:r>
              <a:rPr lang="fr-CA" dirty="0"/>
              <a:t> selon les nouvelles informations. </a:t>
            </a:r>
          </a:p>
          <a:p>
            <a:pPr marL="0" indent="0">
              <a:buNone/>
            </a:pPr>
            <a:endParaRPr lang="fr-CA" dirty="0" smtClean="0"/>
          </a:p>
          <a:p>
            <a:pPr marL="0" indent="0">
              <a:buNone/>
            </a:pPr>
            <a:r>
              <a:rPr lang="fr-CA" dirty="0" smtClean="0"/>
              <a:t> </a:t>
            </a:r>
            <a:r>
              <a:rPr lang="fr-CA" b="1" dirty="0"/>
              <a:t>Objectif : inspecter le résultat du Sprint et adapter la suite du produit.</a:t>
            </a:r>
            <a:endParaRPr lang="fr-CA" dirty="0"/>
          </a:p>
          <a:p>
            <a:endParaRPr lang="fr-FR" dirty="0"/>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83</a:t>
            </a:fld>
            <a:endParaRPr lang="fr-FR" altLang="fr-FR"/>
          </a:p>
        </p:txBody>
      </p:sp>
    </p:spTree>
    <p:extLst>
      <p:ext uri="{BB962C8B-B14F-4D97-AF65-F5344CB8AC3E}">
        <p14:creationId xmlns:p14="http://schemas.microsoft.com/office/powerpoint/2010/main" val="146271421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a:t>11-Sprint </a:t>
            </a:r>
            <a:r>
              <a:rPr lang="fr-FR" b="1" dirty="0" err="1"/>
              <a:t>Retrospective</a:t>
            </a:r>
            <a:endParaRPr lang="fr-FR" b="1" dirty="0"/>
          </a:p>
        </p:txBody>
      </p:sp>
      <p:sp>
        <p:nvSpPr>
          <p:cNvPr id="3" name="Espace réservé du contenu 2"/>
          <p:cNvSpPr>
            <a:spLocks noGrp="1"/>
          </p:cNvSpPr>
          <p:nvPr>
            <p:ph idx="1"/>
          </p:nvPr>
        </p:nvSpPr>
        <p:spPr/>
        <p:txBody>
          <a:bodyPr/>
          <a:lstStyle/>
          <a:p>
            <a:r>
              <a:rPr lang="fr-CA" dirty="0"/>
              <a:t>La </a:t>
            </a:r>
            <a:r>
              <a:rPr lang="fr-CA" b="1" dirty="0"/>
              <a:t>Sprint </a:t>
            </a:r>
            <a:r>
              <a:rPr lang="fr-CA" b="1" dirty="0" err="1"/>
              <a:t>Retrospective</a:t>
            </a:r>
            <a:r>
              <a:rPr lang="fr-CA" dirty="0"/>
              <a:t> est une réunion à la fin du Sprint pour </a:t>
            </a:r>
            <a:r>
              <a:rPr lang="fr-CA" b="1" dirty="0"/>
              <a:t>améliorer la façon de travailler de l’équipe</a:t>
            </a:r>
            <a:r>
              <a:rPr lang="fr-CA" dirty="0"/>
              <a:t>.</a:t>
            </a:r>
          </a:p>
          <a:p>
            <a:r>
              <a:rPr lang="fr-CA" dirty="0"/>
              <a:t>Qu’est-ce qui a </a:t>
            </a:r>
            <a:r>
              <a:rPr lang="fr-CA" b="1" dirty="0"/>
              <a:t>bien fonctionné</a:t>
            </a:r>
            <a:r>
              <a:rPr lang="fr-CA" dirty="0"/>
              <a:t> ? </a:t>
            </a:r>
          </a:p>
          <a:p>
            <a:r>
              <a:rPr lang="fr-CA" dirty="0"/>
              <a:t>Qu’est-ce qui a </a:t>
            </a:r>
            <a:r>
              <a:rPr lang="fr-CA" b="1" dirty="0"/>
              <a:t>posé problème</a:t>
            </a:r>
            <a:r>
              <a:rPr lang="fr-CA" dirty="0"/>
              <a:t> ? </a:t>
            </a:r>
          </a:p>
          <a:p>
            <a:r>
              <a:rPr lang="fr-CA" dirty="0"/>
              <a:t>Qu’est-ce qu’on peut </a:t>
            </a:r>
            <a:r>
              <a:rPr lang="fr-CA" b="1" dirty="0"/>
              <a:t>améliorer au prochain Sprint</a:t>
            </a:r>
            <a:r>
              <a:rPr lang="fr-CA" dirty="0"/>
              <a:t> ? </a:t>
            </a:r>
          </a:p>
          <a:p>
            <a:endParaRPr lang="fr-CA" dirty="0" smtClean="0"/>
          </a:p>
          <a:p>
            <a:r>
              <a:rPr lang="fr-CA" dirty="0" smtClean="0"/>
              <a:t> </a:t>
            </a:r>
            <a:r>
              <a:rPr lang="fr-CA" b="1" dirty="0"/>
              <a:t>Objectif : améliorer continuellement le travail de l’équipe.</a:t>
            </a:r>
            <a:endParaRPr lang="fr-CA" dirty="0"/>
          </a:p>
          <a:p>
            <a:endParaRPr lang="fr-FR" dirty="0"/>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84</a:t>
            </a:fld>
            <a:endParaRPr lang="fr-FR" altLang="fr-FR"/>
          </a:p>
        </p:txBody>
      </p:sp>
    </p:spTree>
    <p:extLst>
      <p:ext uri="{BB962C8B-B14F-4D97-AF65-F5344CB8AC3E}">
        <p14:creationId xmlns:p14="http://schemas.microsoft.com/office/powerpoint/2010/main" val="327469877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t>12-</a:t>
            </a:r>
            <a:r>
              <a:rPr lang="fr-FR" b="1" dirty="0"/>
              <a:t>Sprint suivant</a:t>
            </a:r>
            <a:r>
              <a:rPr lang="fr-FR" dirty="0"/>
              <a:t> </a:t>
            </a:r>
          </a:p>
        </p:txBody>
      </p:sp>
      <p:sp>
        <p:nvSpPr>
          <p:cNvPr id="3" name="Espace réservé du contenu 2"/>
          <p:cNvSpPr>
            <a:spLocks noGrp="1"/>
          </p:cNvSpPr>
          <p:nvPr>
            <p:ph idx="1"/>
          </p:nvPr>
        </p:nvSpPr>
        <p:spPr/>
        <p:txBody>
          <a:bodyPr/>
          <a:lstStyle/>
          <a:p>
            <a:r>
              <a:rPr lang="fr-CA" dirty="0"/>
              <a:t>on retourne au </a:t>
            </a:r>
            <a:r>
              <a:rPr lang="fr-CA" b="1" dirty="0"/>
              <a:t>Product </a:t>
            </a:r>
            <a:r>
              <a:rPr lang="fr-CA" b="1" dirty="0" err="1"/>
              <a:t>Backlog</a:t>
            </a:r>
            <a:r>
              <a:rPr lang="fr-CA" dirty="0"/>
              <a:t>, qui peut être réorganisé en fonction des nouveaux retours.</a:t>
            </a:r>
            <a:endParaRPr lang="fr-FR" dirty="0"/>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85</a:t>
            </a:fld>
            <a:endParaRPr lang="fr-FR" altLang="fr-FR"/>
          </a:p>
        </p:txBody>
      </p:sp>
    </p:spTree>
    <p:extLst>
      <p:ext uri="{BB962C8B-B14F-4D97-AF65-F5344CB8AC3E}">
        <p14:creationId xmlns:p14="http://schemas.microsoft.com/office/powerpoint/2010/main" val="1712140071"/>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4" name="Espace réservé du numéro de diapositive 3">
            <a:extLst>
              <a:ext uri="{FF2B5EF4-FFF2-40B4-BE49-F238E27FC236}">
                <a16:creationId xmlns="" xmlns:a16="http://schemas.microsoft.com/office/drawing/2014/main" id="{DF7154FE-7FDC-CEDF-9360-71C5D086E82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4FE43637-A90E-4246-9FDA-3736182C571E}" type="slidenum">
              <a:rPr lang="fr-FR" altLang="fr-FR" sz="1400">
                <a:solidFill>
                  <a:srgbClr val="FFFFFF"/>
                </a:solidFill>
              </a:rPr>
              <a:pPr>
                <a:spcBef>
                  <a:spcPct val="0"/>
                </a:spcBef>
                <a:buClrTx/>
                <a:buSzTx/>
                <a:buFontTx/>
                <a:buNone/>
              </a:pPr>
              <a:t>86</a:t>
            </a:fld>
            <a:endParaRPr lang="fr-FR" altLang="fr-FR" sz="1400">
              <a:solidFill>
                <a:srgbClr val="FFFFFF"/>
              </a:solidFill>
            </a:endParaRPr>
          </a:p>
        </p:txBody>
      </p:sp>
      <p:pic>
        <p:nvPicPr>
          <p:cNvPr id="14338" name="Picture 2" descr="C:\Users\Admin\Desktop\rolescrum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183955"/>
            <a:ext cx="9441919" cy="6502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87</a:t>
            </a:fld>
            <a:endParaRPr lang="fr-FR" altLang="fr-FR"/>
          </a:p>
        </p:txBody>
      </p:sp>
      <p:pic>
        <p:nvPicPr>
          <p:cNvPr id="13314" name="Picture 2" descr="C:\Users\Admin\Desktop\scrumevent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55600"/>
            <a:ext cx="9341296" cy="6502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8561782"/>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88</a:t>
            </a:fld>
            <a:endParaRPr lang="fr-FR" altLang="fr-FR"/>
          </a:p>
        </p:txBody>
      </p:sp>
      <p:pic>
        <p:nvPicPr>
          <p:cNvPr id="1638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1340768"/>
            <a:ext cx="7920880" cy="48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5704933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89</a:t>
            </a:fld>
            <a:endParaRPr lang="fr-FR" altLang="fr-FR"/>
          </a:p>
        </p:txBody>
      </p:sp>
      <p:pic>
        <p:nvPicPr>
          <p:cNvPr id="15362" name="Picture 2" descr="C:\Users\Admin\Desktop\artefactsscrum.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40" y="500674"/>
            <a:ext cx="9155840" cy="6179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596848"/>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90</a:t>
            </a:fld>
            <a:endParaRPr lang="fr-FR" altLang="fr-F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4658" y="836712"/>
            <a:ext cx="6917701" cy="51125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85472168"/>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CA" b="1" dirty="0"/>
              <a:t>Exemple concret</a:t>
            </a:r>
            <a:br>
              <a:rPr lang="fr-CA" b="1" dirty="0"/>
            </a:br>
            <a:endParaRPr lang="fr-FR" dirty="0"/>
          </a:p>
        </p:txBody>
      </p:sp>
      <p:sp>
        <p:nvSpPr>
          <p:cNvPr id="3" name="Espace réservé du contenu 2"/>
          <p:cNvSpPr>
            <a:spLocks noGrp="1"/>
          </p:cNvSpPr>
          <p:nvPr>
            <p:ph idx="1"/>
          </p:nvPr>
        </p:nvSpPr>
        <p:spPr/>
        <p:txBody>
          <a:bodyPr/>
          <a:lstStyle/>
          <a:p>
            <a:r>
              <a:rPr lang="fr-CA" dirty="0"/>
              <a:t>Au début, le PO crée une première liste de 15 stories pour lancer une application mobile.</a:t>
            </a:r>
            <a:br>
              <a:rPr lang="fr-CA" dirty="0"/>
            </a:br>
            <a:r>
              <a:rPr lang="fr-CA" dirty="0"/>
              <a:t>- Après le Sprint 2, les retours utilisateurs montrent que certaines fonctionnalités sont inutiles → on les retire.</a:t>
            </a:r>
            <a:br>
              <a:rPr lang="fr-CA" dirty="0"/>
            </a:br>
            <a:r>
              <a:rPr lang="fr-CA" dirty="0"/>
              <a:t>- L’équipe propose une idée innovante → ajout d’une nouvelle story prioritaire.</a:t>
            </a:r>
            <a:br>
              <a:rPr lang="fr-CA" dirty="0"/>
            </a:br>
            <a:r>
              <a:rPr lang="fr-CA" dirty="0"/>
              <a:t>- Une story estimée à 5 points est redécoupée en 2 stories plus simples.</a:t>
            </a:r>
          </a:p>
          <a:p>
            <a:pPr marL="0" indent="0">
              <a:buNone/>
            </a:pPr>
            <a:endParaRPr lang="fr-CA" dirty="0" smtClean="0"/>
          </a:p>
          <a:p>
            <a:pPr marL="0" indent="0">
              <a:buNone/>
            </a:pPr>
            <a:r>
              <a:rPr lang="fr-CA" dirty="0" smtClean="0"/>
              <a:t>Résultat </a:t>
            </a:r>
            <a:r>
              <a:rPr lang="fr-CA" dirty="0"/>
              <a:t>: le </a:t>
            </a:r>
            <a:r>
              <a:rPr lang="fr-CA" dirty="0" err="1"/>
              <a:t>backlog</a:t>
            </a:r>
            <a:r>
              <a:rPr lang="fr-CA" dirty="0"/>
              <a:t> initial </a:t>
            </a:r>
            <a:r>
              <a:rPr lang="fr-CA" b="1" dirty="0"/>
              <a:t>a changé</a:t>
            </a:r>
            <a:r>
              <a:rPr lang="fr-CA" dirty="0"/>
              <a:t>, il s’est </a:t>
            </a:r>
            <a:r>
              <a:rPr lang="fr-CA" b="1" dirty="0"/>
              <a:t>affiné</a:t>
            </a:r>
            <a:r>
              <a:rPr lang="fr-CA" dirty="0"/>
              <a:t> pour mieux coller à la réalité.</a:t>
            </a:r>
          </a:p>
          <a:p>
            <a:endParaRPr lang="fr-FR" dirty="0"/>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91</a:t>
            </a:fld>
            <a:endParaRPr lang="fr-FR" altLang="fr-FR"/>
          </a:p>
        </p:txBody>
      </p:sp>
    </p:spTree>
    <p:extLst>
      <p:ext uri="{BB962C8B-B14F-4D97-AF65-F5344CB8AC3E}">
        <p14:creationId xmlns:p14="http://schemas.microsoft.com/office/powerpoint/2010/main" val="3415927560"/>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DF62A84D-6784-FA8C-8207-0EC3A367E0D5}"/>
              </a:ext>
            </a:extLst>
          </p:cNvPr>
          <p:cNvSpPr>
            <a:spLocks noGrp="1"/>
          </p:cNvSpPr>
          <p:nvPr>
            <p:ph type="title"/>
          </p:nvPr>
        </p:nvSpPr>
        <p:spPr/>
        <p:txBody>
          <a:bodyPr/>
          <a:lstStyle/>
          <a:p>
            <a:pPr>
              <a:defRPr/>
            </a:pPr>
            <a:r>
              <a:rPr lang="fr-CA" dirty="0" err="1"/>
              <a:t>Jira</a:t>
            </a:r>
            <a:endParaRPr lang="fr-FR" dirty="0"/>
          </a:p>
        </p:txBody>
      </p:sp>
      <p:sp>
        <p:nvSpPr>
          <p:cNvPr id="74755" name="Espace réservé du contenu 2">
            <a:extLst>
              <a:ext uri="{FF2B5EF4-FFF2-40B4-BE49-F238E27FC236}">
                <a16:creationId xmlns="" xmlns:a16="http://schemas.microsoft.com/office/drawing/2014/main" id="{4C035192-C58D-FF04-28FA-C857D323EC66}"/>
              </a:ext>
            </a:extLst>
          </p:cNvPr>
          <p:cNvSpPr>
            <a:spLocks noGrp="1"/>
          </p:cNvSpPr>
          <p:nvPr>
            <p:ph idx="1"/>
          </p:nvPr>
        </p:nvSpPr>
        <p:spPr/>
        <p:txBody>
          <a:bodyPr/>
          <a:lstStyle/>
          <a:p>
            <a:r>
              <a:rPr lang="fr-CA" altLang="fr-FR" b="1"/>
              <a:t>Jira</a:t>
            </a:r>
            <a:r>
              <a:rPr lang="fr-CA" altLang="fr-FR"/>
              <a:t> est un </a:t>
            </a:r>
            <a:r>
              <a:rPr lang="fr-CA" altLang="fr-FR">
                <a:hlinkClick r:id="rId2" tooltip="Logiciel de suivi de problèmes"/>
              </a:rPr>
              <a:t>système </a:t>
            </a:r>
            <a:r>
              <a:rPr lang="fr-CA" altLang="fr-FR"/>
              <a:t> de </a:t>
            </a:r>
            <a:r>
              <a:rPr lang="fr-CA" altLang="fr-FR">
                <a:hlinkClick r:id="rId3" tooltip="Gestion de projets"/>
              </a:rPr>
              <a:t>gestion de projets</a:t>
            </a:r>
            <a:r>
              <a:rPr lang="fr-CA" altLang="fr-FR"/>
              <a:t> développé par </a:t>
            </a:r>
            <a:r>
              <a:rPr lang="fr-CA" altLang="fr-FR">
                <a:hlinkClick r:id="rId4" tooltip="Atlassian"/>
              </a:rPr>
              <a:t>Atlassian</a:t>
            </a:r>
            <a:r>
              <a:rPr lang="fr-CA" altLang="fr-FR"/>
              <a:t> et publié pour la première fois en 2002</a:t>
            </a:r>
          </a:p>
          <a:p>
            <a:r>
              <a:rPr lang="fr-CA" altLang="fr-FR"/>
              <a:t>Il permet d’organiser votre backlog en sprints</a:t>
            </a:r>
          </a:p>
          <a:p>
            <a:endParaRPr lang="fr-CA" altLang="fr-FR"/>
          </a:p>
          <a:p>
            <a:endParaRPr lang="fr-CA" altLang="fr-FR"/>
          </a:p>
          <a:p>
            <a:r>
              <a:rPr lang="fr-FR" altLang="fr-FR"/>
              <a:t>https://www.atlassian.com/fr/try/cloud/signup?bundle=jira-software&amp;edition=free</a:t>
            </a:r>
          </a:p>
        </p:txBody>
      </p:sp>
      <p:sp>
        <p:nvSpPr>
          <p:cNvPr id="74756" name="Espace réservé du numéro de diapositive 3">
            <a:extLst>
              <a:ext uri="{FF2B5EF4-FFF2-40B4-BE49-F238E27FC236}">
                <a16:creationId xmlns="" xmlns:a16="http://schemas.microsoft.com/office/drawing/2014/main" id="{E9963827-C1CB-F028-C908-CAC5C506E4F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FE0A9E63-D9C0-422A-8390-37CBE83D0778}" type="slidenum">
              <a:rPr lang="fr-FR" altLang="fr-FR" sz="1400">
                <a:solidFill>
                  <a:srgbClr val="FFFFFF"/>
                </a:solidFill>
              </a:rPr>
              <a:pPr>
                <a:spcBef>
                  <a:spcPct val="0"/>
                </a:spcBef>
                <a:buClrTx/>
                <a:buSzTx/>
                <a:buFontTx/>
                <a:buNone/>
              </a:pPr>
              <a:t>92</a:t>
            </a:fld>
            <a:endParaRPr lang="fr-FR" altLang="fr-FR" sz="1400">
              <a:solidFill>
                <a:srgbClr val="FFFFFF"/>
              </a:solidFill>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93</a:t>
            </a:fld>
            <a:endParaRPr lang="fr-FR" altLang="fr-F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3728" y="775623"/>
            <a:ext cx="4572000" cy="5346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5330162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Créer un espace</a:t>
            </a:r>
            <a:endParaRPr lang="fr-FR" dirty="0"/>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94</a:t>
            </a:fld>
            <a:endParaRPr lang="fr-FR" altLang="fr-F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24128" y="908720"/>
            <a:ext cx="2813050" cy="549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6926209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Choisir model </a:t>
            </a:r>
            <a:r>
              <a:rPr lang="fr-FR" dirty="0" err="1" smtClean="0"/>
              <a:t>scrum</a:t>
            </a:r>
            <a:endParaRPr lang="fr-FR" dirty="0"/>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95</a:t>
            </a:fld>
            <a:endParaRPr lang="fr-FR" altLang="fr-F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2060848"/>
            <a:ext cx="7812360" cy="3312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2194410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96</a:t>
            </a:fld>
            <a:endParaRPr lang="fr-FR" altLang="fr-F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3728" y="1047064"/>
            <a:ext cx="4752528" cy="5556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6243175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97</a:t>
            </a:fld>
            <a:endParaRPr lang="fr-FR" altLang="fr-F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1340768"/>
            <a:ext cx="5664200" cy="4972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4429461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98</a:t>
            </a:fld>
            <a:endParaRPr lang="fr-FR" altLang="fr-F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916832"/>
            <a:ext cx="7897606" cy="3550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6641220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99</a:t>
            </a:fld>
            <a:endParaRPr lang="fr-FR" altLang="fr-F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1628800"/>
            <a:ext cx="8738759" cy="3855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4125088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100</a:t>
            </a:fld>
            <a:endParaRPr lang="fr-FR" altLang="fr-F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1844824"/>
            <a:ext cx="8542541" cy="36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3540305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Créer le </a:t>
            </a:r>
            <a:r>
              <a:rPr lang="fr-FR" dirty="0" err="1" smtClean="0"/>
              <a:t>product</a:t>
            </a:r>
            <a:r>
              <a:rPr lang="fr-FR" dirty="0" smtClean="0"/>
              <a:t> </a:t>
            </a:r>
            <a:r>
              <a:rPr lang="fr-FR" dirty="0" err="1" smtClean="0"/>
              <a:t>backlog</a:t>
            </a:r>
            <a:endParaRPr lang="fr-FR" dirty="0"/>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101</a:t>
            </a:fld>
            <a:endParaRPr lang="fr-FR" altLang="fr-FR"/>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2348880"/>
            <a:ext cx="8496944" cy="209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7330760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102</a:t>
            </a:fld>
            <a:endParaRPr lang="fr-FR" altLang="fr-FR"/>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548680"/>
            <a:ext cx="7704856" cy="3442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Rectangle 5"/>
          <p:cNvSpPr/>
          <p:nvPr/>
        </p:nvSpPr>
        <p:spPr>
          <a:xfrm>
            <a:off x="539552" y="4221088"/>
            <a:ext cx="6840760" cy="2246769"/>
          </a:xfrm>
          <a:prstGeom prst="rect">
            <a:avLst/>
          </a:prstGeom>
        </p:spPr>
        <p:txBody>
          <a:bodyPr wrap="square">
            <a:spAutoFit/>
          </a:bodyPr>
          <a:lstStyle/>
          <a:p>
            <a:r>
              <a:rPr lang="fr-CA" sz="1400" dirty="0"/>
              <a:t>Dans </a:t>
            </a:r>
            <a:r>
              <a:rPr lang="fr-CA" sz="1400" b="1" dirty="0"/>
              <a:t>Agile / </a:t>
            </a:r>
            <a:r>
              <a:rPr lang="fr-CA" sz="1400" b="1" dirty="0" err="1"/>
              <a:t>Scrum</a:t>
            </a:r>
            <a:r>
              <a:rPr lang="fr-CA" sz="1400" b="1" dirty="0"/>
              <a:t> / </a:t>
            </a:r>
            <a:r>
              <a:rPr lang="fr-CA" sz="1400" b="1" dirty="0" err="1"/>
              <a:t>Jira</a:t>
            </a:r>
            <a:r>
              <a:rPr lang="fr-CA" sz="1400" dirty="0"/>
              <a:t>, une </a:t>
            </a:r>
            <a:r>
              <a:rPr lang="fr-CA" sz="1400" b="1" dirty="0" err="1"/>
              <a:t>Epic</a:t>
            </a:r>
            <a:r>
              <a:rPr lang="fr-CA" sz="1400" dirty="0"/>
              <a:t> est une </a:t>
            </a:r>
            <a:r>
              <a:rPr lang="fr-CA" sz="1400" b="1" dirty="0"/>
              <a:t>grande fonctionnalité ou un grand objectif</a:t>
            </a:r>
            <a:r>
              <a:rPr lang="fr-CA" sz="1400" dirty="0"/>
              <a:t> qui regroupe plusieurs </a:t>
            </a:r>
            <a:r>
              <a:rPr lang="fr-CA" sz="1400" b="1" dirty="0"/>
              <a:t>User Stories liées</a:t>
            </a:r>
            <a:r>
              <a:rPr lang="fr-CA" sz="1400" dirty="0"/>
              <a:t>.</a:t>
            </a:r>
          </a:p>
          <a:p>
            <a:r>
              <a:rPr lang="fr-CA" sz="1400" b="1" dirty="0"/>
              <a:t>Exemple avec </a:t>
            </a:r>
            <a:r>
              <a:rPr lang="fr-CA" sz="1400" b="1" dirty="0" err="1"/>
              <a:t>QuickAnnonces</a:t>
            </a:r>
            <a:endParaRPr lang="fr-CA" sz="1400" b="1" dirty="0"/>
          </a:p>
          <a:p>
            <a:r>
              <a:rPr lang="fr-CA" sz="1400" b="1" dirty="0" err="1"/>
              <a:t>Epic</a:t>
            </a:r>
            <a:r>
              <a:rPr lang="fr-CA" sz="1400" b="1" dirty="0"/>
              <a:t> : Gestion des annonces</a:t>
            </a:r>
            <a:endParaRPr lang="fr-CA" sz="1400" dirty="0"/>
          </a:p>
          <a:p>
            <a:r>
              <a:rPr lang="fr-CA" sz="1400" dirty="0"/>
              <a:t>Elle peut contenir :</a:t>
            </a:r>
          </a:p>
          <a:p>
            <a:r>
              <a:rPr lang="fr-CA" sz="1400" dirty="0"/>
              <a:t>User Story 1 : Créer une annonce → 3 points </a:t>
            </a:r>
          </a:p>
          <a:p>
            <a:r>
              <a:rPr lang="fr-CA" sz="1400" dirty="0"/>
              <a:t>User Story 2 : Modifier une annonce → 3 points </a:t>
            </a:r>
          </a:p>
          <a:p>
            <a:r>
              <a:rPr lang="fr-CA" sz="1400" dirty="0"/>
              <a:t>User Story 3 : Supprimer une annonce → 2 points </a:t>
            </a:r>
          </a:p>
          <a:p>
            <a:r>
              <a:rPr lang="fr-CA" sz="1400" dirty="0"/>
              <a:t>User Story 4 : Publier une annonce → 5 points </a:t>
            </a:r>
          </a:p>
          <a:p>
            <a:r>
              <a:rPr lang="fr-CA" sz="1400" dirty="0"/>
              <a:t>User Story 5 : Rechercher une annonce → 5 points</a:t>
            </a:r>
          </a:p>
        </p:txBody>
      </p:sp>
    </p:spTree>
    <p:extLst>
      <p:ext uri="{BB962C8B-B14F-4D97-AF65-F5344CB8AC3E}">
        <p14:creationId xmlns:p14="http://schemas.microsoft.com/office/powerpoint/2010/main" val="253249721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103</a:t>
            </a:fld>
            <a:endParaRPr lang="fr-FR" altLang="fr-FR"/>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2600325"/>
            <a:ext cx="7486650" cy="165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3462943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dirty="0"/>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104</a:t>
            </a:fld>
            <a:endParaRPr lang="fr-FR" altLang="fr-FR"/>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2204864"/>
            <a:ext cx="7766050" cy="292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840031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105</a:t>
            </a:fld>
            <a:endParaRPr lang="fr-FR" altLang="fr-FR"/>
          </a:p>
        </p:txBody>
      </p:sp>
      <p:pic>
        <p:nvPicPr>
          <p:cNvPr id="1229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1844824"/>
            <a:ext cx="7556500" cy="425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4579460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F6BDF644-A8D1-E4E8-8173-7FBE5D51BB76}"/>
              </a:ext>
            </a:extLst>
          </p:cNvPr>
          <p:cNvSpPr>
            <a:spLocks noGrp="1"/>
          </p:cNvSpPr>
          <p:nvPr>
            <p:ph type="title"/>
          </p:nvPr>
        </p:nvSpPr>
        <p:spPr/>
        <p:txBody>
          <a:bodyPr/>
          <a:lstStyle/>
          <a:p>
            <a:pPr>
              <a:defRPr/>
            </a:pPr>
            <a:r>
              <a:rPr lang="fr-CA" dirty="0"/>
              <a:t>Quiz 1</a:t>
            </a:r>
            <a:endParaRPr lang="fr-FR" dirty="0"/>
          </a:p>
        </p:txBody>
      </p:sp>
      <p:sp>
        <p:nvSpPr>
          <p:cNvPr id="83971" name="Espace réservé du numéro de diapositive 3">
            <a:extLst>
              <a:ext uri="{FF2B5EF4-FFF2-40B4-BE49-F238E27FC236}">
                <a16:creationId xmlns="" xmlns:a16="http://schemas.microsoft.com/office/drawing/2014/main" id="{4C151E24-4F0E-B261-7CC5-58DD4CAF4B5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8A942145-42B3-4420-9407-4836A35C6141}" type="slidenum">
              <a:rPr lang="fr-FR" altLang="fr-FR" sz="1400">
                <a:solidFill>
                  <a:srgbClr val="FFFFFF"/>
                </a:solidFill>
              </a:rPr>
              <a:pPr>
                <a:spcBef>
                  <a:spcPct val="0"/>
                </a:spcBef>
                <a:buClrTx/>
                <a:buSzTx/>
                <a:buFontTx/>
                <a:buNone/>
              </a:pPr>
              <a:t>106</a:t>
            </a:fld>
            <a:endParaRPr lang="fr-FR" altLang="fr-FR" sz="1400">
              <a:solidFill>
                <a:srgbClr val="FFFFFF"/>
              </a:solidFill>
            </a:endParaRPr>
          </a:p>
        </p:txBody>
      </p:sp>
      <p:pic>
        <p:nvPicPr>
          <p:cNvPr id="83972" name="Picture 2">
            <a:extLst>
              <a:ext uri="{FF2B5EF4-FFF2-40B4-BE49-F238E27FC236}">
                <a16:creationId xmlns="" xmlns:a16="http://schemas.microsoft.com/office/drawing/2014/main" id="{50E9D520-6EB2-BCC1-7E5A-5F004F57BC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9925" y="2368550"/>
            <a:ext cx="7804150" cy="2120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3973" name="Picture 3">
            <a:extLst>
              <a:ext uri="{FF2B5EF4-FFF2-40B4-BE49-F238E27FC236}">
                <a16:creationId xmlns="" xmlns:a16="http://schemas.microsoft.com/office/drawing/2014/main" id="{58E8AD7B-6757-66DE-8A27-0890888F67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9925" y="4797425"/>
            <a:ext cx="823912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3BFF03B7-7DC7-6FA7-C608-2DA855297A40}"/>
              </a:ext>
            </a:extLst>
          </p:cNvPr>
          <p:cNvSpPr>
            <a:spLocks noGrp="1"/>
          </p:cNvSpPr>
          <p:nvPr>
            <p:ph type="title"/>
          </p:nvPr>
        </p:nvSpPr>
        <p:spPr/>
        <p:txBody>
          <a:bodyPr/>
          <a:lstStyle/>
          <a:p>
            <a:pPr>
              <a:defRPr/>
            </a:pPr>
            <a:endParaRPr lang="fr-FR"/>
          </a:p>
        </p:txBody>
      </p:sp>
      <p:sp>
        <p:nvSpPr>
          <p:cNvPr id="84995" name="Espace réservé du numéro de diapositive 3">
            <a:extLst>
              <a:ext uri="{FF2B5EF4-FFF2-40B4-BE49-F238E27FC236}">
                <a16:creationId xmlns="" xmlns:a16="http://schemas.microsoft.com/office/drawing/2014/main" id="{3E21F5D6-7436-33F5-1C4F-734D3793A84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1DCEAA91-D2E2-4523-835D-1A3337712A40}" type="slidenum">
              <a:rPr lang="fr-FR" altLang="fr-FR" sz="1400">
                <a:solidFill>
                  <a:srgbClr val="FFFFFF"/>
                </a:solidFill>
              </a:rPr>
              <a:pPr>
                <a:spcBef>
                  <a:spcPct val="0"/>
                </a:spcBef>
                <a:buClrTx/>
                <a:buSzTx/>
                <a:buFontTx/>
                <a:buNone/>
              </a:pPr>
              <a:t>107</a:t>
            </a:fld>
            <a:endParaRPr lang="fr-FR" altLang="fr-FR" sz="1400">
              <a:solidFill>
                <a:srgbClr val="FFFFFF"/>
              </a:solidFill>
            </a:endParaRPr>
          </a:p>
        </p:txBody>
      </p:sp>
      <p:pic>
        <p:nvPicPr>
          <p:cNvPr id="84996" name="Picture 2">
            <a:extLst>
              <a:ext uri="{FF2B5EF4-FFF2-40B4-BE49-F238E27FC236}">
                <a16:creationId xmlns="" xmlns:a16="http://schemas.microsoft.com/office/drawing/2014/main" id="{18E6136D-ACBB-F86B-8E2E-204DC880FB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188" y="2420938"/>
            <a:ext cx="7518400" cy="291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C42D08F4-2AC7-4FCB-EEAA-AF96B71AC111}"/>
              </a:ext>
            </a:extLst>
          </p:cNvPr>
          <p:cNvSpPr>
            <a:spLocks noGrp="1"/>
          </p:cNvSpPr>
          <p:nvPr>
            <p:ph type="title"/>
          </p:nvPr>
        </p:nvSpPr>
        <p:spPr/>
        <p:txBody>
          <a:bodyPr/>
          <a:lstStyle/>
          <a:p>
            <a:pPr>
              <a:defRPr/>
            </a:pPr>
            <a:endParaRPr lang="fr-FR"/>
          </a:p>
        </p:txBody>
      </p:sp>
      <p:sp>
        <p:nvSpPr>
          <p:cNvPr id="86019" name="Espace réservé du numéro de diapositive 3">
            <a:extLst>
              <a:ext uri="{FF2B5EF4-FFF2-40B4-BE49-F238E27FC236}">
                <a16:creationId xmlns="" xmlns:a16="http://schemas.microsoft.com/office/drawing/2014/main" id="{80CB598D-6CCA-E2E1-387C-0C6137E5FCF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3703F5BD-8C88-42E8-9993-4B0BF8B4FCC0}" type="slidenum">
              <a:rPr lang="fr-FR" altLang="fr-FR" sz="1400">
                <a:solidFill>
                  <a:srgbClr val="FFFFFF"/>
                </a:solidFill>
              </a:rPr>
              <a:pPr>
                <a:spcBef>
                  <a:spcPct val="0"/>
                </a:spcBef>
                <a:buClrTx/>
                <a:buSzTx/>
                <a:buFontTx/>
                <a:buNone/>
              </a:pPr>
              <a:t>108</a:t>
            </a:fld>
            <a:endParaRPr lang="fr-FR" altLang="fr-FR" sz="1400">
              <a:solidFill>
                <a:srgbClr val="FFFFFF"/>
              </a:solidFill>
            </a:endParaRPr>
          </a:p>
        </p:txBody>
      </p:sp>
      <p:pic>
        <p:nvPicPr>
          <p:cNvPr id="86020" name="Picture 2">
            <a:extLst>
              <a:ext uri="{FF2B5EF4-FFF2-40B4-BE49-F238E27FC236}">
                <a16:creationId xmlns="" xmlns:a16="http://schemas.microsoft.com/office/drawing/2014/main" id="{757D7368-8C97-BD4F-9AF2-49346B38EE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2752725"/>
            <a:ext cx="8740775" cy="2725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A9216299-6657-2387-2A99-3B316C058442}"/>
              </a:ext>
            </a:extLst>
          </p:cNvPr>
          <p:cNvSpPr>
            <a:spLocks noGrp="1"/>
          </p:cNvSpPr>
          <p:nvPr>
            <p:ph type="title"/>
          </p:nvPr>
        </p:nvSpPr>
        <p:spPr/>
        <p:txBody>
          <a:bodyPr/>
          <a:lstStyle/>
          <a:p>
            <a:pPr>
              <a:defRPr/>
            </a:pPr>
            <a:endParaRPr lang="fr-FR"/>
          </a:p>
        </p:txBody>
      </p:sp>
      <p:sp>
        <p:nvSpPr>
          <p:cNvPr id="87043" name="Espace réservé du numéro de diapositive 3">
            <a:extLst>
              <a:ext uri="{FF2B5EF4-FFF2-40B4-BE49-F238E27FC236}">
                <a16:creationId xmlns="" xmlns:a16="http://schemas.microsoft.com/office/drawing/2014/main" id="{23B029E1-513F-8D2E-B633-FEED941F753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B25E1CE2-965C-4073-9912-83DD2A8DF4D2}" type="slidenum">
              <a:rPr lang="fr-FR" altLang="fr-FR" sz="1400">
                <a:solidFill>
                  <a:srgbClr val="FFFFFF"/>
                </a:solidFill>
              </a:rPr>
              <a:pPr>
                <a:spcBef>
                  <a:spcPct val="0"/>
                </a:spcBef>
                <a:buClrTx/>
                <a:buSzTx/>
                <a:buFontTx/>
                <a:buNone/>
              </a:pPr>
              <a:t>109</a:t>
            </a:fld>
            <a:endParaRPr lang="fr-FR" altLang="fr-FR" sz="1400">
              <a:solidFill>
                <a:srgbClr val="FFFFFF"/>
              </a:solidFill>
            </a:endParaRPr>
          </a:p>
        </p:txBody>
      </p:sp>
      <p:pic>
        <p:nvPicPr>
          <p:cNvPr id="87044" name="Picture 3">
            <a:extLst>
              <a:ext uri="{FF2B5EF4-FFF2-40B4-BE49-F238E27FC236}">
                <a16:creationId xmlns="" xmlns:a16="http://schemas.microsoft.com/office/drawing/2014/main" id="{E1F2B07E-9006-04B1-84C9-F2C63B4A74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025" y="2924175"/>
            <a:ext cx="7981950" cy="189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BF569F68-180A-332D-D7D7-DD8814F7250E}"/>
              </a:ext>
            </a:extLst>
          </p:cNvPr>
          <p:cNvSpPr>
            <a:spLocks noGrp="1"/>
          </p:cNvSpPr>
          <p:nvPr>
            <p:ph type="title"/>
          </p:nvPr>
        </p:nvSpPr>
        <p:spPr/>
        <p:txBody>
          <a:bodyPr/>
          <a:lstStyle/>
          <a:p>
            <a:pPr>
              <a:defRPr/>
            </a:pPr>
            <a:r>
              <a:rPr lang="fr-CA" b="1" dirty="0"/>
              <a:t>Questions 1 (ce qui est faux)</a:t>
            </a:r>
            <a:endParaRPr lang="fr-FR" dirty="0"/>
          </a:p>
        </p:txBody>
      </p:sp>
      <p:sp>
        <p:nvSpPr>
          <p:cNvPr id="88067" name="Espace réservé du contenu 2">
            <a:extLst>
              <a:ext uri="{FF2B5EF4-FFF2-40B4-BE49-F238E27FC236}">
                <a16:creationId xmlns="" xmlns:a16="http://schemas.microsoft.com/office/drawing/2014/main" id="{07B287EA-5B6E-7616-C4D4-173DBAB57D5B}"/>
              </a:ext>
            </a:extLst>
          </p:cNvPr>
          <p:cNvSpPr>
            <a:spLocks noGrp="1"/>
          </p:cNvSpPr>
          <p:nvPr>
            <p:ph idx="1"/>
          </p:nvPr>
        </p:nvSpPr>
        <p:spPr>
          <a:xfrm>
            <a:off x="395288" y="1412875"/>
            <a:ext cx="8229600" cy="4876800"/>
          </a:xfrm>
        </p:spPr>
        <p:txBody>
          <a:bodyPr/>
          <a:lstStyle/>
          <a:p>
            <a:r>
              <a:rPr lang="fr-CA" altLang="fr-FR" sz="1800" dirty="0"/>
              <a:t>Vous lisez une offre d’emploi indiquant qu’une société de services recherche un chef de projet </a:t>
            </a:r>
            <a:r>
              <a:rPr lang="fr-CA" altLang="fr-FR" sz="1800" dirty="0" err="1"/>
              <a:t>Scrum</a:t>
            </a:r>
            <a:endParaRPr lang="fr-CA" altLang="fr-FR" sz="1800" dirty="0"/>
          </a:p>
          <a:p>
            <a:r>
              <a:rPr lang="fr-CA" altLang="fr-FR" sz="1800" dirty="0"/>
              <a:t>A – Vous essayez d’en savoir plus</a:t>
            </a:r>
          </a:p>
          <a:p>
            <a:r>
              <a:rPr lang="fr-CA" altLang="fr-FR" sz="1800" dirty="0"/>
              <a:t>B – Vous passez à autre chose</a:t>
            </a:r>
          </a:p>
          <a:p>
            <a:r>
              <a:rPr lang="fr-CA" altLang="fr-FR" sz="1800" dirty="0"/>
              <a:t>Vous arrivez dans une équipe </a:t>
            </a:r>
            <a:r>
              <a:rPr lang="fr-CA" altLang="fr-FR" sz="1800" dirty="0" err="1"/>
              <a:t>Scrum</a:t>
            </a:r>
            <a:r>
              <a:rPr lang="fr-CA" altLang="fr-FR" sz="1800" dirty="0"/>
              <a:t> et on vous présente le Product </a:t>
            </a:r>
            <a:r>
              <a:rPr lang="fr-CA" altLang="fr-FR" sz="1800" dirty="0" err="1"/>
              <a:t>Owner</a:t>
            </a:r>
            <a:endParaRPr lang="fr-CA" altLang="fr-FR" sz="1800" dirty="0"/>
          </a:p>
          <a:p>
            <a:r>
              <a:rPr lang="fr-CA" altLang="fr-FR" sz="1800" dirty="0"/>
              <a:t>A – Il s’agit désormais de votre responsable hiérarchique</a:t>
            </a:r>
          </a:p>
          <a:p>
            <a:r>
              <a:rPr lang="fr-CA" altLang="fr-FR" sz="1800" dirty="0"/>
              <a:t>B – Il s’agit de la personne qui est responsable du produit</a:t>
            </a:r>
          </a:p>
          <a:p>
            <a:r>
              <a:rPr lang="fr-CA" altLang="fr-FR" sz="1800" dirty="0"/>
              <a:t>Un bon </a:t>
            </a:r>
            <a:r>
              <a:rPr lang="fr-CA" altLang="fr-FR" sz="1800" dirty="0" err="1"/>
              <a:t>Scrum</a:t>
            </a:r>
            <a:r>
              <a:rPr lang="fr-CA" altLang="fr-FR" sz="1800" dirty="0"/>
              <a:t> Master est</a:t>
            </a:r>
          </a:p>
          <a:p>
            <a:r>
              <a:rPr lang="fr-CA" altLang="fr-FR" sz="1800" dirty="0"/>
              <a:t>A – Une personne qui sert l’équipe</a:t>
            </a:r>
          </a:p>
          <a:p>
            <a:r>
              <a:rPr lang="fr-CA" altLang="fr-FR" sz="1800" dirty="0"/>
              <a:t>B – Une personne qui prend les décisions</a:t>
            </a:r>
          </a:p>
          <a:p>
            <a:r>
              <a:rPr lang="fr-CA" altLang="fr-FR" sz="1800" dirty="0"/>
              <a:t>En tant que Développeur vous êtes</a:t>
            </a:r>
          </a:p>
          <a:p>
            <a:r>
              <a:rPr lang="fr-CA" altLang="fr-FR" sz="1800" dirty="0"/>
              <a:t>A – Responsable solidaire des objectifs de l’équipe</a:t>
            </a:r>
          </a:p>
          <a:p>
            <a:r>
              <a:rPr lang="fr-CA" altLang="fr-FR" sz="1800" dirty="0"/>
              <a:t>B – Avant tout un codeur</a:t>
            </a:r>
          </a:p>
          <a:p>
            <a:r>
              <a:rPr lang="fr-CA" altLang="fr-FR" sz="1800" dirty="0"/>
              <a:t>Participer à la réunion quotidienne est pour un développeur</a:t>
            </a:r>
          </a:p>
          <a:p>
            <a:r>
              <a:rPr lang="fr-CA" altLang="fr-FR" sz="1800" dirty="0"/>
              <a:t>A - Une corvée</a:t>
            </a:r>
          </a:p>
          <a:p>
            <a:r>
              <a:rPr lang="fr-CA" altLang="fr-FR" sz="1800" dirty="0"/>
              <a:t>B - Un plaisir</a:t>
            </a:r>
          </a:p>
          <a:p>
            <a:endParaRPr lang="fr-FR" altLang="fr-FR" sz="1800" dirty="0"/>
          </a:p>
        </p:txBody>
      </p:sp>
      <p:sp>
        <p:nvSpPr>
          <p:cNvPr id="88068" name="Espace réservé du numéro de diapositive 3">
            <a:extLst>
              <a:ext uri="{FF2B5EF4-FFF2-40B4-BE49-F238E27FC236}">
                <a16:creationId xmlns="" xmlns:a16="http://schemas.microsoft.com/office/drawing/2014/main" id="{9A107DB3-C31C-6601-EC24-C984A6EC9F2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059C9B63-5E31-42F5-88B7-3AEDB6AF213C}" type="slidenum">
              <a:rPr lang="fr-FR" altLang="fr-FR" sz="1400">
                <a:solidFill>
                  <a:srgbClr val="FFFFFF"/>
                </a:solidFill>
              </a:rPr>
              <a:pPr>
                <a:spcBef>
                  <a:spcPct val="0"/>
                </a:spcBef>
                <a:buClrTx/>
                <a:buSzTx/>
                <a:buFontTx/>
                <a:buNone/>
              </a:pPr>
              <a:t>110</a:t>
            </a:fld>
            <a:endParaRPr lang="fr-FR" altLang="fr-FR" sz="1400">
              <a:solidFill>
                <a:srgbClr val="FFFFFF"/>
              </a:solidFill>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A0CDC865-0D42-EC7A-87FD-9898C9ABCC25}"/>
              </a:ext>
            </a:extLst>
          </p:cNvPr>
          <p:cNvSpPr>
            <a:spLocks noGrp="1"/>
          </p:cNvSpPr>
          <p:nvPr>
            <p:ph type="title"/>
          </p:nvPr>
        </p:nvSpPr>
        <p:spPr>
          <a:xfrm>
            <a:off x="468313" y="404813"/>
            <a:ext cx="8229600" cy="990600"/>
          </a:xfrm>
        </p:spPr>
        <p:txBody>
          <a:bodyPr/>
          <a:lstStyle/>
          <a:p>
            <a:pPr>
              <a:defRPr/>
            </a:pPr>
            <a:r>
              <a:rPr lang="fr-CA" dirty="0"/>
              <a:t>Réponses 1( ce qui est faux)</a:t>
            </a:r>
            <a:endParaRPr lang="fr-FR" dirty="0"/>
          </a:p>
        </p:txBody>
      </p:sp>
      <p:sp>
        <p:nvSpPr>
          <p:cNvPr id="89091" name="Espace réservé du contenu 2">
            <a:extLst>
              <a:ext uri="{FF2B5EF4-FFF2-40B4-BE49-F238E27FC236}">
                <a16:creationId xmlns="" xmlns:a16="http://schemas.microsoft.com/office/drawing/2014/main" id="{CD9A9BD5-B1A4-4A3D-E6D1-4F17A8A095DC}"/>
              </a:ext>
            </a:extLst>
          </p:cNvPr>
          <p:cNvSpPr>
            <a:spLocks noGrp="1"/>
          </p:cNvSpPr>
          <p:nvPr>
            <p:ph idx="1"/>
          </p:nvPr>
        </p:nvSpPr>
        <p:spPr>
          <a:xfrm>
            <a:off x="468313" y="1557338"/>
            <a:ext cx="8229600" cy="4876800"/>
          </a:xfrm>
        </p:spPr>
        <p:txBody>
          <a:bodyPr/>
          <a:lstStyle/>
          <a:p>
            <a:r>
              <a:rPr lang="fr-CA" altLang="fr-FR" sz="1400"/>
              <a:t>Vous lisez une offre d’emploi indiquant qu’une société de services recherche un chef de projet Scrum</a:t>
            </a:r>
          </a:p>
          <a:p>
            <a:r>
              <a:rPr lang="fr-CA" altLang="fr-FR" sz="1400"/>
              <a:t>A – Vous essayez d’en savoir plus</a:t>
            </a:r>
          </a:p>
          <a:p>
            <a:r>
              <a:rPr lang="fr-CA" altLang="fr-FR" sz="1400"/>
              <a:t>B – Vous passez à autre chose</a:t>
            </a:r>
          </a:p>
          <a:p>
            <a:r>
              <a:rPr lang="fr-CA" altLang="fr-FR" sz="1400"/>
              <a:t>1 - Réponse A</a:t>
            </a:r>
          </a:p>
          <a:p>
            <a:r>
              <a:rPr lang="fr-CA" altLang="fr-FR" sz="1400"/>
              <a:t>Vous arrivez dans une équipe Scrum et on vous présente le Product Owner</a:t>
            </a:r>
          </a:p>
          <a:p>
            <a:r>
              <a:rPr lang="fr-CA" altLang="fr-FR" sz="1400"/>
              <a:t>A – Il s’agit désormais de votre responsable hiérarchique</a:t>
            </a:r>
          </a:p>
          <a:p>
            <a:r>
              <a:rPr lang="fr-CA" altLang="fr-FR" sz="1400"/>
              <a:t>B – Il s’agit de la personne qui est responsable du produit</a:t>
            </a:r>
          </a:p>
          <a:p>
            <a:r>
              <a:rPr lang="fr-CA" altLang="fr-FR" sz="1400"/>
              <a:t>2 - Réponse A</a:t>
            </a:r>
          </a:p>
          <a:p>
            <a:r>
              <a:rPr lang="fr-CA" altLang="fr-FR" sz="1400"/>
              <a:t>Un bon Scrum Master est</a:t>
            </a:r>
          </a:p>
          <a:p>
            <a:r>
              <a:rPr lang="fr-CA" altLang="fr-FR" sz="1400"/>
              <a:t>A – Une personne qui sert l’équipe</a:t>
            </a:r>
          </a:p>
          <a:p>
            <a:r>
              <a:rPr lang="fr-CA" altLang="fr-FR" sz="1400"/>
              <a:t>B – Une personne qui prend les décisions</a:t>
            </a:r>
          </a:p>
          <a:p>
            <a:r>
              <a:rPr lang="fr-CA" altLang="fr-FR" sz="1400"/>
              <a:t>3 - Réponse B</a:t>
            </a:r>
          </a:p>
          <a:p>
            <a:r>
              <a:rPr lang="fr-CA" altLang="fr-FR" sz="1400"/>
              <a:t>En tant que Développeur vous êtes</a:t>
            </a:r>
          </a:p>
          <a:p>
            <a:r>
              <a:rPr lang="fr-CA" altLang="fr-FR" sz="1400"/>
              <a:t>A – Responsable solidaire des objectifs de l’équipe</a:t>
            </a:r>
          </a:p>
          <a:p>
            <a:r>
              <a:rPr lang="fr-CA" altLang="fr-FR" sz="1400"/>
              <a:t>B – Avant tout un codeur</a:t>
            </a:r>
          </a:p>
          <a:p>
            <a:r>
              <a:rPr lang="fr-CA" altLang="fr-FR" sz="1400"/>
              <a:t>4 - Réponse B</a:t>
            </a:r>
          </a:p>
          <a:p>
            <a:r>
              <a:rPr lang="fr-CA" altLang="fr-FR" sz="1400"/>
              <a:t>Participer à la réunion quotidienne est pour un développeur</a:t>
            </a:r>
          </a:p>
          <a:p>
            <a:r>
              <a:rPr lang="fr-CA" altLang="fr-FR" sz="1400"/>
              <a:t>A - Une corvée</a:t>
            </a:r>
          </a:p>
          <a:p>
            <a:r>
              <a:rPr lang="fr-CA" altLang="fr-FR" sz="1400"/>
              <a:t>B - Un plaisir</a:t>
            </a:r>
          </a:p>
          <a:p>
            <a:r>
              <a:rPr lang="fr-CA" altLang="fr-FR" sz="1400"/>
              <a:t>5 - Réponse A</a:t>
            </a:r>
          </a:p>
          <a:p>
            <a:endParaRPr lang="fr-FR" altLang="fr-FR" sz="1400"/>
          </a:p>
        </p:txBody>
      </p:sp>
      <p:sp>
        <p:nvSpPr>
          <p:cNvPr id="89092" name="Espace réservé du numéro de diapositive 3">
            <a:extLst>
              <a:ext uri="{FF2B5EF4-FFF2-40B4-BE49-F238E27FC236}">
                <a16:creationId xmlns="" xmlns:a16="http://schemas.microsoft.com/office/drawing/2014/main" id="{EA816B79-234C-EF04-11B1-07896287200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684508D2-0835-4F55-8583-60444BA72CB6}" type="slidenum">
              <a:rPr lang="fr-FR" altLang="fr-FR" sz="1400">
                <a:solidFill>
                  <a:srgbClr val="FFFFFF"/>
                </a:solidFill>
              </a:rPr>
              <a:pPr>
                <a:spcBef>
                  <a:spcPct val="0"/>
                </a:spcBef>
                <a:buClrTx/>
                <a:buSzTx/>
                <a:buFontTx/>
                <a:buNone/>
              </a:pPr>
              <a:t>111</a:t>
            </a:fld>
            <a:endParaRPr lang="fr-FR" altLang="fr-FR" sz="1400">
              <a:solidFill>
                <a:srgbClr val="FFFFFF"/>
              </a:solidFill>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30DDCD19-F9D4-A229-8808-B3CF5C8BF27A}"/>
              </a:ext>
            </a:extLst>
          </p:cNvPr>
          <p:cNvSpPr>
            <a:spLocks noGrp="1"/>
          </p:cNvSpPr>
          <p:nvPr>
            <p:ph type="title"/>
          </p:nvPr>
        </p:nvSpPr>
        <p:spPr/>
        <p:txBody>
          <a:bodyPr/>
          <a:lstStyle/>
          <a:p>
            <a:pPr>
              <a:defRPr/>
            </a:pPr>
            <a:r>
              <a:rPr lang="fr-CA" dirty="0"/>
              <a:t>Questions 2</a:t>
            </a:r>
            <a:endParaRPr lang="fr-FR" dirty="0"/>
          </a:p>
        </p:txBody>
      </p:sp>
      <p:sp>
        <p:nvSpPr>
          <p:cNvPr id="90115" name="Espace réservé du contenu 2">
            <a:extLst>
              <a:ext uri="{FF2B5EF4-FFF2-40B4-BE49-F238E27FC236}">
                <a16:creationId xmlns="" xmlns:a16="http://schemas.microsoft.com/office/drawing/2014/main" id="{2B9884E3-65CB-1811-290E-73BD91D03448}"/>
              </a:ext>
            </a:extLst>
          </p:cNvPr>
          <p:cNvSpPr>
            <a:spLocks noGrp="1"/>
          </p:cNvSpPr>
          <p:nvPr>
            <p:ph idx="1"/>
          </p:nvPr>
        </p:nvSpPr>
        <p:spPr/>
        <p:txBody>
          <a:bodyPr/>
          <a:lstStyle/>
          <a:p>
            <a:r>
              <a:rPr lang="fr-CA" altLang="fr-FR" sz="1200"/>
              <a:t>Vous êtes Scrum Master</a:t>
            </a:r>
          </a:p>
          <a:p>
            <a:r>
              <a:rPr lang="fr-CA" altLang="fr-FR" sz="1200"/>
              <a:t>Le Product Owner présente la 4ème carte</a:t>
            </a:r>
          </a:p>
          <a:p>
            <a:r>
              <a:rPr lang="fr-CA" altLang="fr-FR" sz="1200"/>
              <a:t>Au bout de 2 minutes, vous demandez à l’équipe de développement d’estimer l’effort via le jeu de Planning Poker</a:t>
            </a:r>
          </a:p>
          <a:p>
            <a:r>
              <a:rPr lang="fr-CA" altLang="fr-FR" sz="1200"/>
              <a:t>- 5 cartes avec la valeur 5</a:t>
            </a:r>
          </a:p>
          <a:p>
            <a:r>
              <a:rPr lang="fr-CA" altLang="fr-FR" sz="1200"/>
              <a:t>- Catherine a montré sa carte avec la valeur 40</a:t>
            </a:r>
          </a:p>
          <a:p>
            <a:r>
              <a:rPr lang="fr-CA" altLang="fr-FR" sz="1200"/>
              <a:t>Que faîtes-vous ?</a:t>
            </a:r>
          </a:p>
          <a:p>
            <a:r>
              <a:rPr lang="fr-CA" altLang="fr-FR" sz="1200"/>
              <a:t/>
            </a:r>
            <a:br>
              <a:rPr lang="fr-CA" altLang="fr-FR" sz="1200"/>
            </a:br>
            <a:endParaRPr lang="fr-CA" altLang="fr-FR" sz="1200"/>
          </a:p>
          <a:p>
            <a:r>
              <a:rPr lang="fr-CA" altLang="fr-FR" sz="1200"/>
              <a:t>A - Vous indiquez que le plus grand nombre a choisi 5</a:t>
            </a:r>
          </a:p>
          <a:p>
            <a:r>
              <a:rPr lang="fr-CA" altLang="fr-FR" sz="1200"/>
              <a:t>B - Vous demandez à Catherine pourquoi elle estime cette valeur</a:t>
            </a:r>
          </a:p>
          <a:p>
            <a:r>
              <a:rPr lang="fr-CA" altLang="fr-FR" sz="1200"/>
              <a:t>Vous êtes Archibald, Développeur</a:t>
            </a:r>
          </a:p>
          <a:p>
            <a:r>
              <a:rPr lang="fr-CA" altLang="fr-FR" sz="1200"/>
              <a:t>Le Product Owner présente la 4ème carte</a:t>
            </a:r>
          </a:p>
          <a:p>
            <a:r>
              <a:rPr lang="fr-CA" altLang="fr-FR" sz="1200"/>
              <a:t>Au bout de 2 minutes, il demande à l’équipe d’estimer l’effort via le jeu de Planning Poker</a:t>
            </a:r>
          </a:p>
          <a:p>
            <a:r>
              <a:rPr lang="fr-CA" altLang="fr-FR" sz="1200"/>
              <a:t>- 5 cartes avec la valeur 5</a:t>
            </a:r>
          </a:p>
          <a:p>
            <a:r>
              <a:rPr lang="fr-CA" altLang="fr-FR" sz="1200"/>
              <a:t>- Vous hésitez à mettre la même valeur de carte que les autres membres car vous n’avez pas bien compris les explications du Product Owner</a:t>
            </a:r>
          </a:p>
          <a:p>
            <a:r>
              <a:rPr lang="fr-CA" altLang="fr-FR" sz="1200"/>
              <a:t>Quelle serait selon vous la meilleure situation à faire pour Archibald ?</a:t>
            </a:r>
          </a:p>
          <a:p>
            <a:r>
              <a:rPr lang="fr-CA" altLang="fr-FR" sz="1200"/>
              <a:t/>
            </a:r>
            <a:br>
              <a:rPr lang="fr-CA" altLang="fr-FR" sz="1200"/>
            </a:br>
            <a:endParaRPr lang="fr-CA" altLang="fr-FR" sz="1200"/>
          </a:p>
          <a:p>
            <a:r>
              <a:rPr lang="fr-CA" altLang="fr-FR" sz="1200"/>
              <a:t>A - Montrer la carte ?</a:t>
            </a:r>
          </a:p>
          <a:p>
            <a:r>
              <a:rPr lang="fr-CA" altLang="fr-FR" sz="1200"/>
              <a:t>B - Montrer la carte 5</a:t>
            </a:r>
          </a:p>
          <a:p>
            <a:endParaRPr lang="fr-FR" altLang="fr-FR"/>
          </a:p>
        </p:txBody>
      </p:sp>
      <p:sp>
        <p:nvSpPr>
          <p:cNvPr id="90116" name="Espace réservé du numéro de diapositive 3">
            <a:extLst>
              <a:ext uri="{FF2B5EF4-FFF2-40B4-BE49-F238E27FC236}">
                <a16:creationId xmlns="" xmlns:a16="http://schemas.microsoft.com/office/drawing/2014/main" id="{741DD3D1-67FC-A616-B327-45750FAFCEE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BBDC9915-9945-4F9B-A566-3A7B5F052370}" type="slidenum">
              <a:rPr lang="fr-FR" altLang="fr-FR" sz="1400">
                <a:solidFill>
                  <a:srgbClr val="FFFFFF"/>
                </a:solidFill>
              </a:rPr>
              <a:pPr>
                <a:spcBef>
                  <a:spcPct val="0"/>
                </a:spcBef>
                <a:buClrTx/>
                <a:buSzTx/>
                <a:buFontTx/>
                <a:buNone/>
              </a:pPr>
              <a:t>112</a:t>
            </a:fld>
            <a:endParaRPr lang="fr-FR" altLang="fr-FR" sz="1400">
              <a:solidFill>
                <a:srgbClr val="FFFFFF"/>
              </a:solidFill>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AAF33FA5-2AF2-2EE7-1A39-796C6D5B2EBB}"/>
              </a:ext>
            </a:extLst>
          </p:cNvPr>
          <p:cNvSpPr>
            <a:spLocks noGrp="1"/>
          </p:cNvSpPr>
          <p:nvPr>
            <p:ph type="title"/>
          </p:nvPr>
        </p:nvSpPr>
        <p:spPr/>
        <p:txBody>
          <a:bodyPr/>
          <a:lstStyle/>
          <a:p>
            <a:pPr>
              <a:defRPr/>
            </a:pPr>
            <a:r>
              <a:rPr lang="fr-CA" dirty="0"/>
              <a:t>Réponses 2</a:t>
            </a:r>
            <a:endParaRPr lang="fr-FR" dirty="0"/>
          </a:p>
        </p:txBody>
      </p:sp>
      <p:sp>
        <p:nvSpPr>
          <p:cNvPr id="91139" name="Espace réservé du contenu 2">
            <a:extLst>
              <a:ext uri="{FF2B5EF4-FFF2-40B4-BE49-F238E27FC236}">
                <a16:creationId xmlns="" xmlns:a16="http://schemas.microsoft.com/office/drawing/2014/main" id="{BB11E46C-AD84-9AEE-8F20-56135D92CB6A}"/>
              </a:ext>
            </a:extLst>
          </p:cNvPr>
          <p:cNvSpPr>
            <a:spLocks noGrp="1"/>
          </p:cNvSpPr>
          <p:nvPr>
            <p:ph idx="1"/>
          </p:nvPr>
        </p:nvSpPr>
        <p:spPr/>
        <p:txBody>
          <a:bodyPr/>
          <a:lstStyle/>
          <a:p>
            <a:r>
              <a:rPr lang="fr-CA" altLang="fr-FR" sz="1200"/>
              <a:t>Vous êtes Scrum Master</a:t>
            </a:r>
          </a:p>
          <a:p>
            <a:r>
              <a:rPr lang="fr-CA" altLang="fr-FR" sz="1200"/>
              <a:t>Le Product Owner présente la 4ème carte</a:t>
            </a:r>
          </a:p>
          <a:p>
            <a:r>
              <a:rPr lang="fr-CA" altLang="fr-FR" sz="1200"/>
              <a:t>Au bout de 2 minutes, vous demandez à l’équipe de développement d’estimer l’effort via le jeu de Planning Poker</a:t>
            </a:r>
          </a:p>
          <a:p>
            <a:r>
              <a:rPr lang="fr-CA" altLang="fr-FR" sz="1200"/>
              <a:t>- 5 cartes avec la valeur 5</a:t>
            </a:r>
          </a:p>
          <a:p>
            <a:r>
              <a:rPr lang="fr-CA" altLang="fr-FR" sz="1200"/>
              <a:t>- Catherine a montré sa carte avec la valeur 40</a:t>
            </a:r>
          </a:p>
          <a:p>
            <a:r>
              <a:rPr lang="fr-CA" altLang="fr-FR" sz="1200"/>
              <a:t>Que faîtes-vous ?</a:t>
            </a:r>
          </a:p>
          <a:p>
            <a:r>
              <a:rPr lang="fr-CA" altLang="fr-FR" sz="1200"/>
              <a:t/>
            </a:r>
            <a:br>
              <a:rPr lang="fr-CA" altLang="fr-FR" sz="1200"/>
            </a:br>
            <a:endParaRPr lang="fr-CA" altLang="fr-FR" sz="1200"/>
          </a:p>
          <a:p>
            <a:r>
              <a:rPr lang="fr-CA" altLang="fr-FR" sz="1200"/>
              <a:t>A - Vous indiquez que le plus grand nombre a choisi 5</a:t>
            </a:r>
          </a:p>
          <a:p>
            <a:r>
              <a:rPr lang="fr-CA" altLang="fr-FR" sz="1200"/>
              <a:t>B - Vous demandez à Catherine pourquoi elle estime cette valeur</a:t>
            </a:r>
          </a:p>
          <a:p>
            <a:r>
              <a:rPr lang="fr-CA" altLang="fr-FR" sz="1200"/>
              <a:t>1 - Réponse B</a:t>
            </a:r>
          </a:p>
          <a:p>
            <a:r>
              <a:rPr lang="fr-CA" altLang="fr-FR" sz="1200"/>
              <a:t>Vous êtes Archibald, Développeur</a:t>
            </a:r>
          </a:p>
          <a:p>
            <a:r>
              <a:rPr lang="fr-CA" altLang="fr-FR" sz="1200"/>
              <a:t>Le Product Owner présente la 4ème carte</a:t>
            </a:r>
          </a:p>
          <a:p>
            <a:r>
              <a:rPr lang="fr-CA" altLang="fr-FR" sz="1200"/>
              <a:t>Au bout de 2 minutes, il demande à l’équipe d’estimer l’effort via le jeu de Planning Poker</a:t>
            </a:r>
          </a:p>
          <a:p>
            <a:r>
              <a:rPr lang="fr-CA" altLang="fr-FR" sz="1200"/>
              <a:t>- 5 cartes avec la valeur 5</a:t>
            </a:r>
          </a:p>
          <a:p>
            <a:r>
              <a:rPr lang="fr-CA" altLang="fr-FR" sz="1200"/>
              <a:t>- Vous hésitez à mettre la même valeur de carte que les autres membres car vous n’avez pas bien compris les explications du Product Owner</a:t>
            </a:r>
          </a:p>
          <a:p>
            <a:r>
              <a:rPr lang="fr-CA" altLang="fr-FR" sz="1200"/>
              <a:t>Quelle serait selon vous la meilleure situation à faire pour Archibald ?</a:t>
            </a:r>
          </a:p>
          <a:p>
            <a:r>
              <a:rPr lang="fr-CA" altLang="fr-FR" sz="1200"/>
              <a:t/>
            </a:r>
            <a:br>
              <a:rPr lang="fr-CA" altLang="fr-FR" sz="1200"/>
            </a:br>
            <a:endParaRPr lang="fr-CA" altLang="fr-FR" sz="1200"/>
          </a:p>
          <a:p>
            <a:r>
              <a:rPr lang="fr-CA" altLang="fr-FR" sz="1200"/>
              <a:t>A - Montrer la carte ?</a:t>
            </a:r>
          </a:p>
          <a:p>
            <a:r>
              <a:rPr lang="fr-CA" altLang="fr-FR" sz="1200"/>
              <a:t>B - Montrer la carte 5</a:t>
            </a:r>
          </a:p>
          <a:p>
            <a:r>
              <a:rPr lang="fr-CA" altLang="fr-FR" sz="1200"/>
              <a:t>2 - Réponse A</a:t>
            </a:r>
          </a:p>
          <a:p>
            <a:endParaRPr lang="fr-FR" altLang="fr-FR"/>
          </a:p>
        </p:txBody>
      </p:sp>
      <p:sp>
        <p:nvSpPr>
          <p:cNvPr id="91140" name="Espace réservé du numéro de diapositive 3">
            <a:extLst>
              <a:ext uri="{FF2B5EF4-FFF2-40B4-BE49-F238E27FC236}">
                <a16:creationId xmlns="" xmlns:a16="http://schemas.microsoft.com/office/drawing/2014/main" id="{D4A36DEE-26EC-8FF2-42A1-B949F1DAA5C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3A37D945-88D7-4B83-A39A-3CBEB715120A}" type="slidenum">
              <a:rPr lang="fr-FR" altLang="fr-FR" sz="1400">
                <a:solidFill>
                  <a:srgbClr val="FFFFFF"/>
                </a:solidFill>
              </a:rPr>
              <a:pPr>
                <a:spcBef>
                  <a:spcPct val="0"/>
                </a:spcBef>
                <a:buClrTx/>
                <a:buSzTx/>
                <a:buFontTx/>
                <a:buNone/>
              </a:pPr>
              <a:t>113</a:t>
            </a:fld>
            <a:endParaRPr lang="fr-FR" altLang="fr-FR" sz="1400">
              <a:solidFill>
                <a:srgbClr val="FFFFFF"/>
              </a:solidFill>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303E7B86-31C0-6002-3EDC-DA19349B70EE}"/>
              </a:ext>
            </a:extLst>
          </p:cNvPr>
          <p:cNvSpPr>
            <a:spLocks noGrp="1"/>
          </p:cNvSpPr>
          <p:nvPr>
            <p:ph type="title"/>
          </p:nvPr>
        </p:nvSpPr>
        <p:spPr/>
        <p:txBody>
          <a:bodyPr/>
          <a:lstStyle/>
          <a:p>
            <a:pPr>
              <a:defRPr/>
            </a:pPr>
            <a:r>
              <a:rPr lang="fr-CA" dirty="0"/>
              <a:t>Questions 3</a:t>
            </a:r>
            <a:endParaRPr lang="fr-FR" dirty="0"/>
          </a:p>
        </p:txBody>
      </p:sp>
      <p:sp>
        <p:nvSpPr>
          <p:cNvPr id="92163" name="Espace réservé du contenu 2">
            <a:extLst>
              <a:ext uri="{FF2B5EF4-FFF2-40B4-BE49-F238E27FC236}">
                <a16:creationId xmlns="" xmlns:a16="http://schemas.microsoft.com/office/drawing/2014/main" id="{34DC271B-BBBB-375D-E2B1-B13D2E8FFE61}"/>
              </a:ext>
            </a:extLst>
          </p:cNvPr>
          <p:cNvSpPr>
            <a:spLocks noGrp="1"/>
          </p:cNvSpPr>
          <p:nvPr>
            <p:ph idx="1"/>
          </p:nvPr>
        </p:nvSpPr>
        <p:spPr/>
        <p:txBody>
          <a:bodyPr/>
          <a:lstStyle/>
          <a:p>
            <a:r>
              <a:rPr lang="fr-CA" altLang="fr-FR" sz="1200"/>
              <a:t>Vous êtes Scrum Master et effectuez un Daily Scrum avec les développeurs</a:t>
            </a:r>
          </a:p>
          <a:p>
            <a:r>
              <a:rPr lang="fr-CA" altLang="fr-FR" sz="1200"/>
              <a:t>Un développeur prend la parole et explique un problème qu’il a rencontré la veille</a:t>
            </a:r>
          </a:p>
          <a:p>
            <a:r>
              <a:rPr lang="fr-CA" altLang="fr-FR" sz="1200"/>
              <a:t>Comment réagissez-vous ?</a:t>
            </a:r>
          </a:p>
          <a:p>
            <a:r>
              <a:rPr lang="fr-CA" altLang="fr-FR" sz="1200"/>
              <a:t/>
            </a:r>
            <a:br>
              <a:rPr lang="fr-CA" altLang="fr-FR" sz="1200"/>
            </a:br>
            <a:endParaRPr lang="fr-CA" altLang="fr-FR" sz="1200"/>
          </a:p>
          <a:p>
            <a:r>
              <a:rPr lang="fr-CA" altLang="fr-FR" sz="1200"/>
              <a:t>A – Vous lui demandez d’en savoir plus au détriment du temps de parole des autres développeurs</a:t>
            </a:r>
          </a:p>
          <a:p>
            <a:r>
              <a:rPr lang="fr-CA" altLang="fr-FR" sz="1200"/>
              <a:t>B – Vous lui dites que vous prenez en compte son problème, et que vous le verrez après le meeting pour en connaître les détails</a:t>
            </a:r>
          </a:p>
          <a:p>
            <a:r>
              <a:rPr lang="fr-CA" altLang="fr-FR" sz="1200"/>
              <a:t>Vous êtes Product Owner et participez au Daily Scrum avec les développeurs et le Scrum Master</a:t>
            </a:r>
          </a:p>
          <a:p>
            <a:r>
              <a:rPr lang="fr-CA" altLang="fr-FR" sz="1200"/>
              <a:t>Un développeur prend la parole et explique un problème de compréhension qu’il a eu la veille d’une carte en cours</a:t>
            </a:r>
          </a:p>
          <a:p>
            <a:r>
              <a:rPr lang="fr-CA" altLang="fr-FR" sz="1200"/>
              <a:t>Comment réagissez-vous ?</a:t>
            </a:r>
          </a:p>
          <a:p>
            <a:r>
              <a:rPr lang="fr-CA" altLang="fr-FR" sz="1200"/>
              <a:t/>
            </a:r>
            <a:br>
              <a:rPr lang="fr-CA" altLang="fr-FR" sz="1200"/>
            </a:br>
            <a:endParaRPr lang="fr-CA" altLang="fr-FR" sz="1200"/>
          </a:p>
          <a:p>
            <a:r>
              <a:rPr lang="fr-CA" altLang="fr-FR" sz="1200"/>
              <a:t>A – Vous lui expliquez ce qu’il faut faire</a:t>
            </a:r>
          </a:p>
          <a:p>
            <a:r>
              <a:rPr lang="fr-CA" altLang="fr-FR" sz="1200"/>
              <a:t>B – Vous attendez que le Scrum Master prenne en compte ce problème et qu’il programme un point entre vous 3</a:t>
            </a:r>
          </a:p>
          <a:p>
            <a:r>
              <a:rPr lang="fr-CA" altLang="fr-FR"/>
              <a:t/>
            </a:r>
            <a:br>
              <a:rPr lang="fr-CA" altLang="fr-FR"/>
            </a:br>
            <a:endParaRPr lang="fr-FR" altLang="fr-FR"/>
          </a:p>
        </p:txBody>
      </p:sp>
      <p:sp>
        <p:nvSpPr>
          <p:cNvPr id="92164" name="Espace réservé du numéro de diapositive 3">
            <a:extLst>
              <a:ext uri="{FF2B5EF4-FFF2-40B4-BE49-F238E27FC236}">
                <a16:creationId xmlns="" xmlns:a16="http://schemas.microsoft.com/office/drawing/2014/main" id="{229B4E6B-0C00-467F-CE44-BBB22FEC755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3A03B5BC-8FFC-4365-B8F2-A575D11B5BD7}" type="slidenum">
              <a:rPr lang="fr-FR" altLang="fr-FR" sz="1400">
                <a:solidFill>
                  <a:srgbClr val="FFFFFF"/>
                </a:solidFill>
              </a:rPr>
              <a:pPr>
                <a:spcBef>
                  <a:spcPct val="0"/>
                </a:spcBef>
                <a:buClrTx/>
                <a:buSzTx/>
                <a:buFontTx/>
                <a:buNone/>
              </a:pPr>
              <a:t>114</a:t>
            </a:fld>
            <a:endParaRPr lang="fr-FR" altLang="fr-FR" sz="1400">
              <a:solidFill>
                <a:srgbClr val="FFFFFF"/>
              </a:solidFill>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B6815592-C246-FE5C-BAB0-D71185E4F451}"/>
              </a:ext>
            </a:extLst>
          </p:cNvPr>
          <p:cNvSpPr>
            <a:spLocks noGrp="1"/>
          </p:cNvSpPr>
          <p:nvPr>
            <p:ph type="title"/>
          </p:nvPr>
        </p:nvSpPr>
        <p:spPr/>
        <p:txBody>
          <a:bodyPr/>
          <a:lstStyle/>
          <a:p>
            <a:pPr>
              <a:defRPr/>
            </a:pPr>
            <a:r>
              <a:rPr lang="fr-CA" dirty="0"/>
              <a:t>Réponses 3</a:t>
            </a:r>
            <a:endParaRPr lang="fr-FR" dirty="0"/>
          </a:p>
        </p:txBody>
      </p:sp>
      <p:sp>
        <p:nvSpPr>
          <p:cNvPr id="93187" name="Espace réservé du contenu 2">
            <a:extLst>
              <a:ext uri="{FF2B5EF4-FFF2-40B4-BE49-F238E27FC236}">
                <a16:creationId xmlns="" xmlns:a16="http://schemas.microsoft.com/office/drawing/2014/main" id="{DB4FF8C4-15EE-13C6-F420-8E8FBA32D844}"/>
              </a:ext>
            </a:extLst>
          </p:cNvPr>
          <p:cNvSpPr>
            <a:spLocks noGrp="1"/>
          </p:cNvSpPr>
          <p:nvPr>
            <p:ph idx="1"/>
          </p:nvPr>
        </p:nvSpPr>
        <p:spPr/>
        <p:txBody>
          <a:bodyPr/>
          <a:lstStyle/>
          <a:p>
            <a:r>
              <a:rPr lang="fr-CA" altLang="fr-FR" sz="1200" dirty="0"/>
              <a:t>Vous êtes </a:t>
            </a:r>
            <a:r>
              <a:rPr lang="fr-CA" altLang="fr-FR" sz="1200" dirty="0" err="1"/>
              <a:t>Scrum</a:t>
            </a:r>
            <a:r>
              <a:rPr lang="fr-CA" altLang="fr-FR" sz="1200" dirty="0"/>
              <a:t> Master et effectuez un Daily </a:t>
            </a:r>
            <a:r>
              <a:rPr lang="fr-CA" altLang="fr-FR" sz="1200" dirty="0" err="1"/>
              <a:t>Scrum</a:t>
            </a:r>
            <a:r>
              <a:rPr lang="fr-CA" altLang="fr-FR" sz="1200" dirty="0"/>
              <a:t> avec les développeurs</a:t>
            </a:r>
          </a:p>
          <a:p>
            <a:r>
              <a:rPr lang="fr-CA" altLang="fr-FR" sz="1200" dirty="0"/>
              <a:t>Un développeur prend la parole et explique un problème qu’il a rencontré la veille</a:t>
            </a:r>
          </a:p>
          <a:p>
            <a:r>
              <a:rPr lang="fr-CA" altLang="fr-FR" sz="1200" dirty="0"/>
              <a:t>Comment réagissez-vous ?</a:t>
            </a:r>
          </a:p>
          <a:p>
            <a:r>
              <a:rPr lang="fr-CA" altLang="fr-FR" sz="1200" dirty="0"/>
              <a:t/>
            </a:r>
            <a:br>
              <a:rPr lang="fr-CA" altLang="fr-FR" sz="1200" dirty="0"/>
            </a:br>
            <a:endParaRPr lang="fr-CA" altLang="fr-FR" sz="1200" dirty="0"/>
          </a:p>
          <a:p>
            <a:r>
              <a:rPr lang="fr-CA" altLang="fr-FR" sz="1200" dirty="0"/>
              <a:t>A – Vous lui demandez d’en savoir plus au détriment du temps de parole des autres développeurs</a:t>
            </a:r>
          </a:p>
          <a:p>
            <a:r>
              <a:rPr lang="fr-CA" altLang="fr-FR" sz="1200" dirty="0"/>
              <a:t>B – Vous lui dites que vous prenez en compte son problème, et que vous le verrez après le meeting pour en connaître les détails</a:t>
            </a:r>
          </a:p>
          <a:p>
            <a:r>
              <a:rPr lang="fr-CA" altLang="fr-FR" sz="1200" dirty="0"/>
              <a:t>1 - Réponse B</a:t>
            </a:r>
          </a:p>
          <a:p>
            <a:r>
              <a:rPr lang="fr-CA" altLang="fr-FR" sz="1200" dirty="0"/>
              <a:t>Vous êtes Product </a:t>
            </a:r>
            <a:r>
              <a:rPr lang="fr-CA" altLang="fr-FR" sz="1200" dirty="0" err="1"/>
              <a:t>Owner</a:t>
            </a:r>
            <a:r>
              <a:rPr lang="fr-CA" altLang="fr-FR" sz="1200" dirty="0"/>
              <a:t> et participez au Daily </a:t>
            </a:r>
            <a:r>
              <a:rPr lang="fr-CA" altLang="fr-FR" sz="1200" dirty="0" err="1"/>
              <a:t>Scrum</a:t>
            </a:r>
            <a:r>
              <a:rPr lang="fr-CA" altLang="fr-FR" sz="1200" dirty="0"/>
              <a:t> avec les développeurs et le </a:t>
            </a:r>
            <a:r>
              <a:rPr lang="fr-CA" altLang="fr-FR" sz="1200" dirty="0" err="1"/>
              <a:t>Scrum</a:t>
            </a:r>
            <a:r>
              <a:rPr lang="fr-CA" altLang="fr-FR" sz="1200" dirty="0"/>
              <a:t> Master</a:t>
            </a:r>
          </a:p>
          <a:p>
            <a:r>
              <a:rPr lang="fr-CA" altLang="fr-FR" sz="1200" dirty="0"/>
              <a:t>Un développeur prend la parole et explique un problème de compréhension qu’il a eu la veille d’une carte en cours</a:t>
            </a:r>
          </a:p>
          <a:p>
            <a:r>
              <a:rPr lang="fr-CA" altLang="fr-FR" sz="1200" dirty="0"/>
              <a:t>Comment réagissez-vous ?</a:t>
            </a:r>
          </a:p>
          <a:p>
            <a:r>
              <a:rPr lang="fr-CA" altLang="fr-FR" sz="1200" dirty="0"/>
              <a:t/>
            </a:r>
            <a:br>
              <a:rPr lang="fr-CA" altLang="fr-FR" sz="1200" dirty="0"/>
            </a:br>
            <a:endParaRPr lang="fr-CA" altLang="fr-FR" sz="1200" dirty="0"/>
          </a:p>
          <a:p>
            <a:r>
              <a:rPr lang="fr-CA" altLang="fr-FR" sz="1200" dirty="0"/>
              <a:t>A – Vous lui expliquez ce qu’il faut faire</a:t>
            </a:r>
          </a:p>
          <a:p>
            <a:r>
              <a:rPr lang="fr-CA" altLang="fr-FR" sz="1200" dirty="0"/>
              <a:t>B – Vous attendez que le </a:t>
            </a:r>
            <a:r>
              <a:rPr lang="fr-CA" altLang="fr-FR" sz="1200" dirty="0" err="1"/>
              <a:t>Scrum</a:t>
            </a:r>
            <a:r>
              <a:rPr lang="fr-CA" altLang="fr-FR" sz="1200" dirty="0"/>
              <a:t> Master prenne en compte ce problème et qu’il programme un point entre vous 3</a:t>
            </a:r>
          </a:p>
          <a:p>
            <a:r>
              <a:rPr lang="fr-CA" altLang="fr-FR" sz="1200" dirty="0"/>
              <a:t>2 - Réponse B</a:t>
            </a:r>
          </a:p>
          <a:p>
            <a:endParaRPr lang="fr-FR" altLang="fr-FR" dirty="0"/>
          </a:p>
        </p:txBody>
      </p:sp>
      <p:sp>
        <p:nvSpPr>
          <p:cNvPr id="93188" name="Espace réservé du numéro de diapositive 3">
            <a:extLst>
              <a:ext uri="{FF2B5EF4-FFF2-40B4-BE49-F238E27FC236}">
                <a16:creationId xmlns="" xmlns:a16="http://schemas.microsoft.com/office/drawing/2014/main" id="{B274884F-E242-04CF-A2B4-E18B4894931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75947385-E05E-4E69-97FC-14CEEBDF91D5}" type="slidenum">
              <a:rPr lang="fr-FR" altLang="fr-FR" sz="1400">
                <a:solidFill>
                  <a:srgbClr val="FFFFFF"/>
                </a:solidFill>
              </a:rPr>
              <a:pPr>
                <a:spcBef>
                  <a:spcPct val="0"/>
                </a:spcBef>
                <a:buClrTx/>
                <a:buSzTx/>
                <a:buFontTx/>
                <a:buNone/>
              </a:pPr>
              <a:t>115</a:t>
            </a:fld>
            <a:endParaRPr lang="fr-FR" altLang="fr-FR" sz="1400">
              <a:solidFill>
                <a:srgbClr val="FFFFFF"/>
              </a:solidFill>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4C9FD874-EDBA-B5AD-FBB6-F00F8A66ACAE}"/>
              </a:ext>
            </a:extLst>
          </p:cNvPr>
          <p:cNvSpPr>
            <a:spLocks noGrp="1"/>
          </p:cNvSpPr>
          <p:nvPr>
            <p:ph type="title"/>
          </p:nvPr>
        </p:nvSpPr>
        <p:spPr/>
        <p:txBody>
          <a:bodyPr/>
          <a:lstStyle/>
          <a:p>
            <a:pPr>
              <a:defRPr/>
            </a:pPr>
            <a:r>
              <a:rPr lang="fr-CA" dirty="0"/>
              <a:t>Quiz2</a:t>
            </a:r>
            <a:endParaRPr lang="fr-FR" dirty="0"/>
          </a:p>
        </p:txBody>
      </p:sp>
      <p:sp>
        <p:nvSpPr>
          <p:cNvPr id="94211" name="Espace réservé du numéro de diapositive 3">
            <a:extLst>
              <a:ext uri="{FF2B5EF4-FFF2-40B4-BE49-F238E27FC236}">
                <a16:creationId xmlns="" xmlns:a16="http://schemas.microsoft.com/office/drawing/2014/main" id="{ED1BB7D8-48AD-CF6B-7287-0EF5C962AAE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1ECBEA46-A235-4AB0-AD4D-DCBFB59F9369}" type="slidenum">
              <a:rPr lang="fr-FR" altLang="fr-FR" sz="1400">
                <a:solidFill>
                  <a:srgbClr val="FFFFFF"/>
                </a:solidFill>
              </a:rPr>
              <a:pPr>
                <a:spcBef>
                  <a:spcPct val="0"/>
                </a:spcBef>
                <a:buClrTx/>
                <a:buSzTx/>
                <a:buFontTx/>
                <a:buNone/>
              </a:pPr>
              <a:t>116</a:t>
            </a:fld>
            <a:endParaRPr lang="fr-FR" altLang="fr-FR" sz="1400">
              <a:solidFill>
                <a:srgbClr val="FFFFFF"/>
              </a:solidFill>
            </a:endParaRPr>
          </a:p>
        </p:txBody>
      </p:sp>
      <p:pic>
        <p:nvPicPr>
          <p:cNvPr id="94212" name="Picture 2">
            <a:extLst>
              <a:ext uri="{FF2B5EF4-FFF2-40B4-BE49-F238E27FC236}">
                <a16:creationId xmlns="" xmlns:a16="http://schemas.microsoft.com/office/drawing/2014/main" id="{3264ADF6-66DD-1A54-7884-FF6B30DEC6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2636838"/>
            <a:ext cx="8086725" cy="189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6A4C7147-9F8E-D253-7A7E-5B266AB3976A}"/>
              </a:ext>
            </a:extLst>
          </p:cNvPr>
          <p:cNvSpPr>
            <a:spLocks noGrp="1"/>
          </p:cNvSpPr>
          <p:nvPr>
            <p:ph type="title"/>
          </p:nvPr>
        </p:nvSpPr>
        <p:spPr/>
        <p:txBody>
          <a:bodyPr/>
          <a:lstStyle/>
          <a:p>
            <a:pPr>
              <a:defRPr/>
            </a:pPr>
            <a:endParaRPr lang="fr-FR"/>
          </a:p>
        </p:txBody>
      </p:sp>
      <p:sp>
        <p:nvSpPr>
          <p:cNvPr id="95235" name="Espace réservé du numéro de diapositive 3">
            <a:extLst>
              <a:ext uri="{FF2B5EF4-FFF2-40B4-BE49-F238E27FC236}">
                <a16:creationId xmlns="" xmlns:a16="http://schemas.microsoft.com/office/drawing/2014/main" id="{D1B84C94-38B3-E919-A911-D5A4036A0B9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29C45677-E066-432B-948A-A5182C658B9B}" type="slidenum">
              <a:rPr lang="fr-FR" altLang="fr-FR" sz="1400">
                <a:solidFill>
                  <a:srgbClr val="FFFFFF"/>
                </a:solidFill>
              </a:rPr>
              <a:pPr>
                <a:spcBef>
                  <a:spcPct val="0"/>
                </a:spcBef>
                <a:buClrTx/>
                <a:buSzTx/>
                <a:buFontTx/>
                <a:buNone/>
              </a:pPr>
              <a:t>117</a:t>
            </a:fld>
            <a:endParaRPr lang="fr-FR" altLang="fr-FR" sz="1400">
              <a:solidFill>
                <a:srgbClr val="FFFFFF"/>
              </a:solidFill>
            </a:endParaRPr>
          </a:p>
        </p:txBody>
      </p:sp>
      <p:pic>
        <p:nvPicPr>
          <p:cNvPr id="95236" name="Picture 2">
            <a:extLst>
              <a:ext uri="{FF2B5EF4-FFF2-40B4-BE49-F238E27FC236}">
                <a16:creationId xmlns="" xmlns:a16="http://schemas.microsoft.com/office/drawing/2014/main" id="{0E4B25B5-2EF0-DD78-0AEC-0FDBE1D181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2565400"/>
            <a:ext cx="6400800" cy="156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AFB1FF65-A0BC-5B3A-BC32-B2D070C5153A}"/>
              </a:ext>
            </a:extLst>
          </p:cNvPr>
          <p:cNvSpPr>
            <a:spLocks noGrp="1"/>
          </p:cNvSpPr>
          <p:nvPr>
            <p:ph type="title"/>
          </p:nvPr>
        </p:nvSpPr>
        <p:spPr/>
        <p:txBody>
          <a:bodyPr/>
          <a:lstStyle/>
          <a:p>
            <a:pPr>
              <a:defRPr/>
            </a:pPr>
            <a:endParaRPr lang="fr-FR"/>
          </a:p>
        </p:txBody>
      </p:sp>
      <p:sp>
        <p:nvSpPr>
          <p:cNvPr id="96259" name="Espace réservé du numéro de diapositive 3">
            <a:extLst>
              <a:ext uri="{FF2B5EF4-FFF2-40B4-BE49-F238E27FC236}">
                <a16:creationId xmlns="" xmlns:a16="http://schemas.microsoft.com/office/drawing/2014/main" id="{36A2A801-7E8C-9798-45B4-40B562CA973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6ADE245C-B34A-4F6A-9B47-C28610D7CE41}" type="slidenum">
              <a:rPr lang="fr-FR" altLang="fr-FR" sz="1400">
                <a:solidFill>
                  <a:srgbClr val="FFFFFF"/>
                </a:solidFill>
              </a:rPr>
              <a:pPr>
                <a:spcBef>
                  <a:spcPct val="0"/>
                </a:spcBef>
                <a:buClrTx/>
                <a:buSzTx/>
                <a:buFontTx/>
                <a:buNone/>
              </a:pPr>
              <a:t>118</a:t>
            </a:fld>
            <a:endParaRPr lang="fr-FR" altLang="fr-FR" sz="1400">
              <a:solidFill>
                <a:srgbClr val="FFFFFF"/>
              </a:solidFill>
            </a:endParaRPr>
          </a:p>
        </p:txBody>
      </p:sp>
      <p:pic>
        <p:nvPicPr>
          <p:cNvPr id="96260" name="Picture 2">
            <a:extLst>
              <a:ext uri="{FF2B5EF4-FFF2-40B4-BE49-F238E27FC236}">
                <a16:creationId xmlns="" xmlns:a16="http://schemas.microsoft.com/office/drawing/2014/main" id="{6C4EF594-2EA8-F457-61BB-8A9DC934A8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88" y="2781300"/>
            <a:ext cx="8959850" cy="2303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C2F1DD8A-F115-4804-55F2-75F41E978621}"/>
              </a:ext>
            </a:extLst>
          </p:cNvPr>
          <p:cNvSpPr>
            <a:spLocks noGrp="1"/>
          </p:cNvSpPr>
          <p:nvPr>
            <p:ph type="title"/>
          </p:nvPr>
        </p:nvSpPr>
        <p:spPr/>
        <p:txBody>
          <a:bodyPr/>
          <a:lstStyle/>
          <a:p>
            <a:pPr>
              <a:defRPr/>
            </a:pPr>
            <a:endParaRPr lang="fr-FR"/>
          </a:p>
        </p:txBody>
      </p:sp>
      <p:sp>
        <p:nvSpPr>
          <p:cNvPr id="97283" name="Espace réservé du numéro de diapositive 3">
            <a:extLst>
              <a:ext uri="{FF2B5EF4-FFF2-40B4-BE49-F238E27FC236}">
                <a16:creationId xmlns="" xmlns:a16="http://schemas.microsoft.com/office/drawing/2014/main" id="{AB8B4159-97A1-8D5D-6CB7-C7C1D0CECC2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10273E60-3256-45CE-8302-A458E1E673EC}" type="slidenum">
              <a:rPr lang="fr-FR" altLang="fr-FR" sz="1400">
                <a:solidFill>
                  <a:srgbClr val="FFFFFF"/>
                </a:solidFill>
              </a:rPr>
              <a:pPr>
                <a:spcBef>
                  <a:spcPct val="0"/>
                </a:spcBef>
                <a:buClrTx/>
                <a:buSzTx/>
                <a:buFontTx/>
                <a:buNone/>
              </a:pPr>
              <a:t>119</a:t>
            </a:fld>
            <a:endParaRPr lang="fr-FR" altLang="fr-FR" sz="1400">
              <a:solidFill>
                <a:srgbClr val="FFFFFF"/>
              </a:solidFill>
            </a:endParaRPr>
          </a:p>
        </p:txBody>
      </p:sp>
      <p:pic>
        <p:nvPicPr>
          <p:cNvPr id="97284" name="Picture 2">
            <a:extLst>
              <a:ext uri="{FF2B5EF4-FFF2-40B4-BE49-F238E27FC236}">
                <a16:creationId xmlns="" xmlns:a16="http://schemas.microsoft.com/office/drawing/2014/main" id="{1C449A87-84E9-D597-5217-173B4B57A1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2781300"/>
            <a:ext cx="6496050" cy="156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E292E205-1547-F2D2-D0FE-399331700DB1}"/>
              </a:ext>
            </a:extLst>
          </p:cNvPr>
          <p:cNvSpPr>
            <a:spLocks noGrp="1"/>
          </p:cNvSpPr>
          <p:nvPr>
            <p:ph type="title"/>
          </p:nvPr>
        </p:nvSpPr>
        <p:spPr/>
        <p:txBody>
          <a:bodyPr/>
          <a:lstStyle/>
          <a:p>
            <a:pPr>
              <a:defRPr/>
            </a:pPr>
            <a:endParaRPr lang="fr-FR"/>
          </a:p>
        </p:txBody>
      </p:sp>
      <p:sp>
        <p:nvSpPr>
          <p:cNvPr id="98307" name="Espace réservé du numéro de diapositive 3">
            <a:extLst>
              <a:ext uri="{FF2B5EF4-FFF2-40B4-BE49-F238E27FC236}">
                <a16:creationId xmlns="" xmlns:a16="http://schemas.microsoft.com/office/drawing/2014/main" id="{3330A837-3C7F-85EA-E949-6C91CD9C89B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8587FE5A-593F-4EA0-856B-E3FE922D4020}" type="slidenum">
              <a:rPr lang="fr-FR" altLang="fr-FR" sz="1400">
                <a:solidFill>
                  <a:srgbClr val="FFFFFF"/>
                </a:solidFill>
              </a:rPr>
              <a:pPr>
                <a:spcBef>
                  <a:spcPct val="0"/>
                </a:spcBef>
                <a:buClrTx/>
                <a:buSzTx/>
                <a:buFontTx/>
                <a:buNone/>
              </a:pPr>
              <a:t>120</a:t>
            </a:fld>
            <a:endParaRPr lang="fr-FR" altLang="fr-FR" sz="1400">
              <a:solidFill>
                <a:srgbClr val="FFFFFF"/>
              </a:solidFill>
            </a:endParaRPr>
          </a:p>
        </p:txBody>
      </p:sp>
      <p:pic>
        <p:nvPicPr>
          <p:cNvPr id="98308" name="Picture 2">
            <a:extLst>
              <a:ext uri="{FF2B5EF4-FFF2-40B4-BE49-F238E27FC236}">
                <a16:creationId xmlns="" xmlns:a16="http://schemas.microsoft.com/office/drawing/2014/main" id="{174DCC4D-AD86-5AF9-34CB-543B9EAAEC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113" y="2420938"/>
            <a:ext cx="7497762" cy="2087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BE8DAA15-CD08-1B5C-1E94-6B30F3504055}"/>
              </a:ext>
            </a:extLst>
          </p:cNvPr>
          <p:cNvSpPr>
            <a:spLocks noGrp="1"/>
          </p:cNvSpPr>
          <p:nvPr>
            <p:ph type="title"/>
          </p:nvPr>
        </p:nvSpPr>
        <p:spPr/>
        <p:txBody>
          <a:bodyPr/>
          <a:lstStyle/>
          <a:p>
            <a:pPr>
              <a:defRPr/>
            </a:pPr>
            <a:endParaRPr lang="fr-FR"/>
          </a:p>
        </p:txBody>
      </p:sp>
      <p:sp>
        <p:nvSpPr>
          <p:cNvPr id="99331" name="Espace réservé du numéro de diapositive 3">
            <a:extLst>
              <a:ext uri="{FF2B5EF4-FFF2-40B4-BE49-F238E27FC236}">
                <a16:creationId xmlns="" xmlns:a16="http://schemas.microsoft.com/office/drawing/2014/main" id="{AC6EFFE6-91BB-BC1B-5651-D80A69ADF92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A51D88B1-7263-41D9-A8EE-7F5D3BCC7355}" type="slidenum">
              <a:rPr lang="fr-FR" altLang="fr-FR" sz="1400">
                <a:solidFill>
                  <a:srgbClr val="FFFFFF"/>
                </a:solidFill>
              </a:rPr>
              <a:pPr>
                <a:spcBef>
                  <a:spcPct val="0"/>
                </a:spcBef>
                <a:buClrTx/>
                <a:buSzTx/>
                <a:buFontTx/>
                <a:buNone/>
              </a:pPr>
              <a:t>121</a:t>
            </a:fld>
            <a:endParaRPr lang="fr-FR" altLang="fr-FR" sz="1400">
              <a:solidFill>
                <a:srgbClr val="FFFFFF"/>
              </a:solidFill>
            </a:endParaRPr>
          </a:p>
        </p:txBody>
      </p:sp>
      <p:pic>
        <p:nvPicPr>
          <p:cNvPr id="99332" name="Picture 2">
            <a:extLst>
              <a:ext uri="{FF2B5EF4-FFF2-40B4-BE49-F238E27FC236}">
                <a16:creationId xmlns="" xmlns:a16="http://schemas.microsoft.com/office/drawing/2014/main" id="{CC22E248-A0AF-58BC-C597-5B1CA08729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2924175"/>
            <a:ext cx="8139112" cy="209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6B8C96AA-F0CC-6355-DD39-E372C2D4E2E1}"/>
              </a:ext>
            </a:extLst>
          </p:cNvPr>
          <p:cNvSpPr>
            <a:spLocks noGrp="1"/>
          </p:cNvSpPr>
          <p:nvPr>
            <p:ph type="title"/>
          </p:nvPr>
        </p:nvSpPr>
        <p:spPr/>
        <p:txBody>
          <a:bodyPr/>
          <a:lstStyle/>
          <a:p>
            <a:pPr>
              <a:defRPr/>
            </a:pPr>
            <a:endParaRPr lang="fr-FR"/>
          </a:p>
        </p:txBody>
      </p:sp>
      <p:sp>
        <p:nvSpPr>
          <p:cNvPr id="100355" name="Espace réservé du numéro de diapositive 3">
            <a:extLst>
              <a:ext uri="{FF2B5EF4-FFF2-40B4-BE49-F238E27FC236}">
                <a16:creationId xmlns="" xmlns:a16="http://schemas.microsoft.com/office/drawing/2014/main" id="{3D33309E-02A4-91F3-A87E-BEF0254392B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6D0D9AC5-75C7-411B-828D-36DE64F413C5}" type="slidenum">
              <a:rPr lang="fr-FR" altLang="fr-FR" sz="1400">
                <a:solidFill>
                  <a:srgbClr val="FFFFFF"/>
                </a:solidFill>
              </a:rPr>
              <a:pPr>
                <a:spcBef>
                  <a:spcPct val="0"/>
                </a:spcBef>
                <a:buClrTx/>
                <a:buSzTx/>
                <a:buFontTx/>
                <a:buNone/>
              </a:pPr>
              <a:t>122</a:t>
            </a:fld>
            <a:endParaRPr lang="fr-FR" altLang="fr-FR" sz="1400">
              <a:solidFill>
                <a:srgbClr val="FFFFFF"/>
              </a:solidFill>
            </a:endParaRPr>
          </a:p>
        </p:txBody>
      </p:sp>
      <p:pic>
        <p:nvPicPr>
          <p:cNvPr id="100356" name="Picture 2">
            <a:extLst>
              <a:ext uri="{FF2B5EF4-FFF2-40B4-BE49-F238E27FC236}">
                <a16:creationId xmlns="" xmlns:a16="http://schemas.microsoft.com/office/drawing/2014/main" id="{9431A139-1B62-5957-4302-015D95B15B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450" y="2671763"/>
            <a:ext cx="6273800" cy="146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017EE6EA-FFBB-FD45-77C8-CB37F6AEA80B}"/>
              </a:ext>
            </a:extLst>
          </p:cNvPr>
          <p:cNvSpPr>
            <a:spLocks noGrp="1"/>
          </p:cNvSpPr>
          <p:nvPr>
            <p:ph type="title"/>
          </p:nvPr>
        </p:nvSpPr>
        <p:spPr/>
        <p:txBody>
          <a:bodyPr/>
          <a:lstStyle/>
          <a:p>
            <a:pPr>
              <a:defRPr/>
            </a:pPr>
            <a:endParaRPr lang="fr-FR"/>
          </a:p>
        </p:txBody>
      </p:sp>
      <p:sp>
        <p:nvSpPr>
          <p:cNvPr id="101379" name="Espace réservé du numéro de diapositive 3">
            <a:extLst>
              <a:ext uri="{FF2B5EF4-FFF2-40B4-BE49-F238E27FC236}">
                <a16:creationId xmlns="" xmlns:a16="http://schemas.microsoft.com/office/drawing/2014/main" id="{0BBAF5C6-2856-671D-9E4A-F43A4EAC073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CE6E100D-AE0A-4627-89A8-F1ABF600C600}" type="slidenum">
              <a:rPr lang="fr-FR" altLang="fr-FR" sz="1400">
                <a:solidFill>
                  <a:srgbClr val="FFFFFF"/>
                </a:solidFill>
              </a:rPr>
              <a:pPr>
                <a:spcBef>
                  <a:spcPct val="0"/>
                </a:spcBef>
                <a:buClrTx/>
                <a:buSzTx/>
                <a:buFontTx/>
                <a:buNone/>
              </a:pPr>
              <a:t>123</a:t>
            </a:fld>
            <a:endParaRPr lang="fr-FR" altLang="fr-FR" sz="1400">
              <a:solidFill>
                <a:srgbClr val="FFFFFF"/>
              </a:solidFill>
            </a:endParaRPr>
          </a:p>
        </p:txBody>
      </p:sp>
      <p:pic>
        <p:nvPicPr>
          <p:cNvPr id="101380" name="Picture 2">
            <a:extLst>
              <a:ext uri="{FF2B5EF4-FFF2-40B4-BE49-F238E27FC236}">
                <a16:creationId xmlns="" xmlns:a16="http://schemas.microsoft.com/office/drawing/2014/main" id="{10F94C22-C594-A48D-F27D-B7CE61BD57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2492375"/>
            <a:ext cx="6242050" cy="154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5432B598-D830-B28F-FE71-59F8FC876864}"/>
              </a:ext>
            </a:extLst>
          </p:cNvPr>
          <p:cNvSpPr>
            <a:spLocks noGrp="1"/>
          </p:cNvSpPr>
          <p:nvPr>
            <p:ph type="title"/>
          </p:nvPr>
        </p:nvSpPr>
        <p:spPr/>
        <p:txBody>
          <a:bodyPr/>
          <a:lstStyle/>
          <a:p>
            <a:pPr>
              <a:defRPr/>
            </a:pPr>
            <a:endParaRPr lang="fr-FR"/>
          </a:p>
        </p:txBody>
      </p:sp>
      <p:sp>
        <p:nvSpPr>
          <p:cNvPr id="102403" name="Espace réservé du numéro de diapositive 3">
            <a:extLst>
              <a:ext uri="{FF2B5EF4-FFF2-40B4-BE49-F238E27FC236}">
                <a16:creationId xmlns="" xmlns:a16="http://schemas.microsoft.com/office/drawing/2014/main" id="{A38FD2E7-DBD2-A0A5-D572-65D3EC8747B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9EC1365F-A6E6-4557-83CB-DB315395D025}" type="slidenum">
              <a:rPr lang="fr-FR" altLang="fr-FR" sz="1400">
                <a:solidFill>
                  <a:srgbClr val="FFFFFF"/>
                </a:solidFill>
              </a:rPr>
              <a:pPr>
                <a:spcBef>
                  <a:spcPct val="0"/>
                </a:spcBef>
                <a:buClrTx/>
                <a:buSzTx/>
                <a:buFontTx/>
                <a:buNone/>
              </a:pPr>
              <a:t>124</a:t>
            </a:fld>
            <a:endParaRPr lang="fr-FR" altLang="fr-FR" sz="1400">
              <a:solidFill>
                <a:srgbClr val="FFFFFF"/>
              </a:solidFill>
            </a:endParaRPr>
          </a:p>
        </p:txBody>
      </p:sp>
      <p:pic>
        <p:nvPicPr>
          <p:cNvPr id="102404" name="Picture 2">
            <a:extLst>
              <a:ext uri="{FF2B5EF4-FFF2-40B4-BE49-F238E27FC236}">
                <a16:creationId xmlns="" xmlns:a16="http://schemas.microsoft.com/office/drawing/2014/main" id="{0C4F32C7-665A-90CE-90A5-9AD4A694F0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6013" y="2384425"/>
            <a:ext cx="6508750" cy="2089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ECA9961E-1C55-6B18-EEA6-4882BF7F86E1}"/>
              </a:ext>
            </a:extLst>
          </p:cNvPr>
          <p:cNvSpPr>
            <a:spLocks noGrp="1"/>
          </p:cNvSpPr>
          <p:nvPr>
            <p:ph type="title"/>
          </p:nvPr>
        </p:nvSpPr>
        <p:spPr/>
        <p:txBody>
          <a:bodyPr/>
          <a:lstStyle/>
          <a:p>
            <a:pPr>
              <a:defRPr/>
            </a:pPr>
            <a:endParaRPr lang="fr-FR"/>
          </a:p>
        </p:txBody>
      </p:sp>
      <p:sp>
        <p:nvSpPr>
          <p:cNvPr id="103427" name="Espace réservé du numéro de diapositive 3">
            <a:extLst>
              <a:ext uri="{FF2B5EF4-FFF2-40B4-BE49-F238E27FC236}">
                <a16:creationId xmlns="" xmlns:a16="http://schemas.microsoft.com/office/drawing/2014/main" id="{475D1C4B-2E35-52D8-44C8-78E4B60CEA4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26FF2CE2-CBE3-4260-B59B-732BC3CEBB26}" type="slidenum">
              <a:rPr lang="fr-FR" altLang="fr-FR" sz="1400">
                <a:solidFill>
                  <a:srgbClr val="FFFFFF"/>
                </a:solidFill>
              </a:rPr>
              <a:pPr>
                <a:spcBef>
                  <a:spcPct val="0"/>
                </a:spcBef>
                <a:buClrTx/>
                <a:buSzTx/>
                <a:buFontTx/>
                <a:buNone/>
              </a:pPr>
              <a:t>125</a:t>
            </a:fld>
            <a:endParaRPr lang="fr-FR" altLang="fr-FR" sz="1400">
              <a:solidFill>
                <a:srgbClr val="FFFFFF"/>
              </a:solidFill>
            </a:endParaRPr>
          </a:p>
        </p:txBody>
      </p:sp>
      <p:pic>
        <p:nvPicPr>
          <p:cNvPr id="103428" name="Picture 2">
            <a:extLst>
              <a:ext uri="{FF2B5EF4-FFF2-40B4-BE49-F238E27FC236}">
                <a16:creationId xmlns="" xmlns:a16="http://schemas.microsoft.com/office/drawing/2014/main" id="{A3A9FAFD-E379-5C37-3ED0-099B98EEC5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2636838"/>
            <a:ext cx="6388100" cy="172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E89AA897-77CC-7F2F-A898-8A03EEC05012}"/>
              </a:ext>
            </a:extLst>
          </p:cNvPr>
          <p:cNvSpPr>
            <a:spLocks noGrp="1"/>
          </p:cNvSpPr>
          <p:nvPr>
            <p:ph type="title"/>
          </p:nvPr>
        </p:nvSpPr>
        <p:spPr/>
        <p:txBody>
          <a:bodyPr/>
          <a:lstStyle/>
          <a:p>
            <a:pPr>
              <a:defRPr/>
            </a:pPr>
            <a:endParaRPr lang="fr-FR"/>
          </a:p>
        </p:txBody>
      </p:sp>
      <p:sp>
        <p:nvSpPr>
          <p:cNvPr id="104451" name="Espace réservé du numéro de diapositive 3">
            <a:extLst>
              <a:ext uri="{FF2B5EF4-FFF2-40B4-BE49-F238E27FC236}">
                <a16:creationId xmlns="" xmlns:a16="http://schemas.microsoft.com/office/drawing/2014/main" id="{1FAD2DDE-8699-1290-544A-FDCC3105A09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80A553FA-F096-463B-9EEE-8BF807B9A893}" type="slidenum">
              <a:rPr lang="fr-FR" altLang="fr-FR" sz="1400">
                <a:solidFill>
                  <a:srgbClr val="FFFFFF"/>
                </a:solidFill>
              </a:rPr>
              <a:pPr>
                <a:spcBef>
                  <a:spcPct val="0"/>
                </a:spcBef>
                <a:buClrTx/>
                <a:buSzTx/>
                <a:buFontTx/>
                <a:buNone/>
              </a:pPr>
              <a:t>126</a:t>
            </a:fld>
            <a:endParaRPr lang="fr-FR" altLang="fr-FR" sz="1400">
              <a:solidFill>
                <a:srgbClr val="FFFFFF"/>
              </a:solidFill>
            </a:endParaRPr>
          </a:p>
        </p:txBody>
      </p:sp>
      <p:pic>
        <p:nvPicPr>
          <p:cNvPr id="104452" name="Picture 2">
            <a:extLst>
              <a:ext uri="{FF2B5EF4-FFF2-40B4-BE49-F238E27FC236}">
                <a16:creationId xmlns="" xmlns:a16="http://schemas.microsoft.com/office/drawing/2014/main" id="{D52B586C-5284-23A3-525B-11A3F037F5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650" y="2781300"/>
            <a:ext cx="6610350" cy="167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D13AF6A2-ED16-DF77-DF08-5343313ADD00}"/>
              </a:ext>
            </a:extLst>
          </p:cNvPr>
          <p:cNvSpPr>
            <a:spLocks noGrp="1"/>
          </p:cNvSpPr>
          <p:nvPr>
            <p:ph type="title"/>
          </p:nvPr>
        </p:nvSpPr>
        <p:spPr/>
        <p:txBody>
          <a:bodyPr/>
          <a:lstStyle/>
          <a:p>
            <a:pPr>
              <a:defRPr/>
            </a:pPr>
            <a:endParaRPr lang="fr-FR"/>
          </a:p>
        </p:txBody>
      </p:sp>
      <p:sp>
        <p:nvSpPr>
          <p:cNvPr id="105475" name="Espace réservé du numéro de diapositive 3">
            <a:extLst>
              <a:ext uri="{FF2B5EF4-FFF2-40B4-BE49-F238E27FC236}">
                <a16:creationId xmlns="" xmlns:a16="http://schemas.microsoft.com/office/drawing/2014/main" id="{428C154F-D200-B53D-293B-AB526C1A4EC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1DB35170-CD3C-4D55-8C0D-5AD39E7BB123}" type="slidenum">
              <a:rPr lang="fr-FR" altLang="fr-FR" sz="1400">
                <a:solidFill>
                  <a:srgbClr val="FFFFFF"/>
                </a:solidFill>
              </a:rPr>
              <a:pPr>
                <a:spcBef>
                  <a:spcPct val="0"/>
                </a:spcBef>
                <a:buClrTx/>
                <a:buSzTx/>
                <a:buFontTx/>
                <a:buNone/>
              </a:pPr>
              <a:t>127</a:t>
            </a:fld>
            <a:endParaRPr lang="fr-FR" altLang="fr-FR" sz="1400">
              <a:solidFill>
                <a:srgbClr val="FFFFFF"/>
              </a:solidFill>
            </a:endParaRPr>
          </a:p>
        </p:txBody>
      </p:sp>
      <p:pic>
        <p:nvPicPr>
          <p:cNvPr id="105476" name="Picture 2">
            <a:extLst>
              <a:ext uri="{FF2B5EF4-FFF2-40B4-BE49-F238E27FC236}">
                <a16:creationId xmlns="" xmlns:a16="http://schemas.microsoft.com/office/drawing/2014/main" id="{E70688D2-3826-F051-D78F-8260EDE6D5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2781300"/>
            <a:ext cx="6457950" cy="154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2F3B166B-EC6C-3365-096E-AABD947BB097}"/>
              </a:ext>
            </a:extLst>
          </p:cNvPr>
          <p:cNvSpPr>
            <a:spLocks noGrp="1"/>
          </p:cNvSpPr>
          <p:nvPr>
            <p:ph type="title"/>
          </p:nvPr>
        </p:nvSpPr>
        <p:spPr/>
        <p:txBody>
          <a:bodyPr/>
          <a:lstStyle/>
          <a:p>
            <a:pPr>
              <a:defRPr/>
            </a:pPr>
            <a:endParaRPr lang="fr-FR"/>
          </a:p>
        </p:txBody>
      </p:sp>
      <p:sp>
        <p:nvSpPr>
          <p:cNvPr id="106499" name="Espace réservé du numéro de diapositive 3">
            <a:extLst>
              <a:ext uri="{FF2B5EF4-FFF2-40B4-BE49-F238E27FC236}">
                <a16:creationId xmlns="" xmlns:a16="http://schemas.microsoft.com/office/drawing/2014/main" id="{120141C0-BF63-345E-8FDE-C32F11501C4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4E52B529-DFB5-4D92-99BF-BA00FC2BDC9B}" type="slidenum">
              <a:rPr lang="fr-FR" altLang="fr-FR" sz="1400">
                <a:solidFill>
                  <a:srgbClr val="FFFFFF"/>
                </a:solidFill>
              </a:rPr>
              <a:pPr>
                <a:spcBef>
                  <a:spcPct val="0"/>
                </a:spcBef>
                <a:buClrTx/>
                <a:buSzTx/>
                <a:buFontTx/>
                <a:buNone/>
              </a:pPr>
              <a:t>128</a:t>
            </a:fld>
            <a:endParaRPr lang="fr-FR" altLang="fr-FR" sz="1400">
              <a:solidFill>
                <a:srgbClr val="FFFFFF"/>
              </a:solidFill>
            </a:endParaRPr>
          </a:p>
        </p:txBody>
      </p:sp>
      <p:pic>
        <p:nvPicPr>
          <p:cNvPr id="106500" name="Picture 2">
            <a:extLst>
              <a:ext uri="{FF2B5EF4-FFF2-40B4-BE49-F238E27FC236}">
                <a16:creationId xmlns="" xmlns:a16="http://schemas.microsoft.com/office/drawing/2014/main" id="{09496BCB-8899-63EA-CCDA-2D1134EDCF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2473325"/>
            <a:ext cx="6337300" cy="191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314B68B2-02CB-6B69-091E-02A84ECF424B}"/>
              </a:ext>
            </a:extLst>
          </p:cNvPr>
          <p:cNvSpPr>
            <a:spLocks noGrp="1"/>
          </p:cNvSpPr>
          <p:nvPr>
            <p:ph type="title"/>
          </p:nvPr>
        </p:nvSpPr>
        <p:spPr/>
        <p:txBody>
          <a:bodyPr/>
          <a:lstStyle/>
          <a:p>
            <a:pPr>
              <a:defRPr/>
            </a:pPr>
            <a:endParaRPr lang="fr-FR"/>
          </a:p>
        </p:txBody>
      </p:sp>
      <p:sp>
        <p:nvSpPr>
          <p:cNvPr id="107523" name="Espace réservé du numéro de diapositive 3">
            <a:extLst>
              <a:ext uri="{FF2B5EF4-FFF2-40B4-BE49-F238E27FC236}">
                <a16:creationId xmlns="" xmlns:a16="http://schemas.microsoft.com/office/drawing/2014/main" id="{AD5A0DCD-6E7C-0637-0EBA-2A3B7036E4E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0B814FD8-2939-47F2-A8D0-93B582DFD11E}" type="slidenum">
              <a:rPr lang="fr-FR" altLang="fr-FR" sz="1400">
                <a:solidFill>
                  <a:srgbClr val="FFFFFF"/>
                </a:solidFill>
              </a:rPr>
              <a:pPr>
                <a:spcBef>
                  <a:spcPct val="0"/>
                </a:spcBef>
                <a:buClrTx/>
                <a:buSzTx/>
                <a:buFontTx/>
                <a:buNone/>
              </a:pPr>
              <a:t>129</a:t>
            </a:fld>
            <a:endParaRPr lang="fr-FR" altLang="fr-FR" sz="1400">
              <a:solidFill>
                <a:srgbClr val="FFFFFF"/>
              </a:solidFill>
            </a:endParaRPr>
          </a:p>
        </p:txBody>
      </p:sp>
      <p:pic>
        <p:nvPicPr>
          <p:cNvPr id="107524" name="Picture 2">
            <a:extLst>
              <a:ext uri="{FF2B5EF4-FFF2-40B4-BE49-F238E27FC236}">
                <a16:creationId xmlns="" xmlns:a16="http://schemas.microsoft.com/office/drawing/2014/main" id="{76C86895-B345-7830-8730-A4A3CE5789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6013" y="2643188"/>
            <a:ext cx="6115050" cy="159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F2B37491-6EF6-DFF7-BDA1-004E3C710CD8}"/>
              </a:ext>
            </a:extLst>
          </p:cNvPr>
          <p:cNvSpPr>
            <a:spLocks noGrp="1"/>
          </p:cNvSpPr>
          <p:nvPr>
            <p:ph type="title"/>
          </p:nvPr>
        </p:nvSpPr>
        <p:spPr/>
        <p:txBody>
          <a:bodyPr/>
          <a:lstStyle/>
          <a:p>
            <a:pPr>
              <a:defRPr/>
            </a:pPr>
            <a:endParaRPr lang="fr-FR"/>
          </a:p>
        </p:txBody>
      </p:sp>
      <p:sp>
        <p:nvSpPr>
          <p:cNvPr id="108547" name="Espace réservé du numéro de diapositive 3">
            <a:extLst>
              <a:ext uri="{FF2B5EF4-FFF2-40B4-BE49-F238E27FC236}">
                <a16:creationId xmlns="" xmlns:a16="http://schemas.microsoft.com/office/drawing/2014/main" id="{3AEC6EFA-72B0-11CB-E1BF-3A21BD87317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228D7509-FC5B-48C7-868D-5C1B16758737}" type="slidenum">
              <a:rPr lang="fr-FR" altLang="fr-FR" sz="1400">
                <a:solidFill>
                  <a:srgbClr val="FFFFFF"/>
                </a:solidFill>
              </a:rPr>
              <a:pPr>
                <a:spcBef>
                  <a:spcPct val="0"/>
                </a:spcBef>
                <a:buClrTx/>
                <a:buSzTx/>
                <a:buFontTx/>
                <a:buNone/>
              </a:pPr>
              <a:t>130</a:t>
            </a:fld>
            <a:endParaRPr lang="fr-FR" altLang="fr-FR" sz="1400">
              <a:solidFill>
                <a:srgbClr val="FFFFFF"/>
              </a:solidFill>
            </a:endParaRPr>
          </a:p>
        </p:txBody>
      </p:sp>
      <p:pic>
        <p:nvPicPr>
          <p:cNvPr id="108548" name="Picture 2">
            <a:extLst>
              <a:ext uri="{FF2B5EF4-FFF2-40B4-BE49-F238E27FC236}">
                <a16:creationId xmlns="" xmlns:a16="http://schemas.microsoft.com/office/drawing/2014/main" id="{98D336AF-7637-FFD3-19AB-983662710F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0050" y="2593975"/>
            <a:ext cx="8232775" cy="213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F52E798E-D3CF-7A0F-D0EF-13A90BBDA119}"/>
              </a:ext>
            </a:extLst>
          </p:cNvPr>
          <p:cNvSpPr>
            <a:spLocks noGrp="1"/>
          </p:cNvSpPr>
          <p:nvPr>
            <p:ph type="title"/>
          </p:nvPr>
        </p:nvSpPr>
        <p:spPr/>
        <p:txBody>
          <a:bodyPr/>
          <a:lstStyle/>
          <a:p>
            <a:pPr>
              <a:defRPr/>
            </a:pPr>
            <a:endParaRPr lang="fr-FR"/>
          </a:p>
        </p:txBody>
      </p:sp>
      <p:sp>
        <p:nvSpPr>
          <p:cNvPr id="109571" name="Espace réservé du numéro de diapositive 3">
            <a:extLst>
              <a:ext uri="{FF2B5EF4-FFF2-40B4-BE49-F238E27FC236}">
                <a16:creationId xmlns="" xmlns:a16="http://schemas.microsoft.com/office/drawing/2014/main" id="{D5841CBA-D038-2234-B132-ECB8D7F2723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06382FC7-DC5A-4A4A-B345-53D6ED012D69}" type="slidenum">
              <a:rPr lang="fr-FR" altLang="fr-FR" sz="1400">
                <a:solidFill>
                  <a:srgbClr val="FFFFFF"/>
                </a:solidFill>
              </a:rPr>
              <a:pPr>
                <a:spcBef>
                  <a:spcPct val="0"/>
                </a:spcBef>
                <a:buClrTx/>
                <a:buSzTx/>
                <a:buFontTx/>
                <a:buNone/>
              </a:pPr>
              <a:t>131</a:t>
            </a:fld>
            <a:endParaRPr lang="fr-FR" altLang="fr-FR" sz="1400">
              <a:solidFill>
                <a:srgbClr val="FFFFFF"/>
              </a:solidFill>
            </a:endParaRPr>
          </a:p>
        </p:txBody>
      </p:sp>
      <p:pic>
        <p:nvPicPr>
          <p:cNvPr id="109572" name="Picture 2">
            <a:extLst>
              <a:ext uri="{FF2B5EF4-FFF2-40B4-BE49-F238E27FC236}">
                <a16:creationId xmlns="" xmlns:a16="http://schemas.microsoft.com/office/drawing/2014/main" id="{71096EF3-644A-3B4F-F5D5-FD68E2800A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950" y="2687638"/>
            <a:ext cx="8175625" cy="1820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5" name="Espace réservé du numéro de diapositive 3">
            <a:extLst>
              <a:ext uri="{FF2B5EF4-FFF2-40B4-BE49-F238E27FC236}">
                <a16:creationId xmlns="" xmlns:a16="http://schemas.microsoft.com/office/drawing/2014/main" id="{395DCEA1-0246-847A-06C3-1998B2E8328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A3C0BE6F-BAE6-4104-9156-B6F910EF021A}" type="slidenum">
              <a:rPr lang="fr-FR" altLang="fr-FR" sz="1400">
                <a:solidFill>
                  <a:srgbClr val="FFFFFF"/>
                </a:solidFill>
              </a:rPr>
              <a:pPr>
                <a:spcBef>
                  <a:spcPct val="0"/>
                </a:spcBef>
                <a:buClrTx/>
                <a:buSzTx/>
                <a:buFontTx/>
                <a:buNone/>
              </a:pPr>
              <a:t>132</a:t>
            </a:fld>
            <a:endParaRPr lang="fr-FR" altLang="fr-FR" sz="1400">
              <a:solidFill>
                <a:srgbClr val="FFFFFF"/>
              </a:solidFill>
            </a:endParaRPr>
          </a:p>
        </p:txBody>
      </p:sp>
      <p:sp>
        <p:nvSpPr>
          <p:cNvPr id="110596" name="AutoShape 2" descr="Revert Git commit : revenir à une version antérieure du repo Git">
            <a:extLst>
              <a:ext uri="{FF2B5EF4-FFF2-40B4-BE49-F238E27FC236}">
                <a16:creationId xmlns="" xmlns:a16="http://schemas.microsoft.com/office/drawing/2014/main" id="{4B796983-C6A7-3BE0-162F-9BC19AF6B937}"/>
              </a:ext>
            </a:extLst>
          </p:cNvPr>
          <p:cNvSpPr>
            <a:spLocks noChangeAspect="1" noChangeArrowheads="1"/>
          </p:cNvSpPr>
          <p:nvPr/>
        </p:nvSpPr>
        <p:spPr bwMode="auto">
          <a:xfrm>
            <a:off x="155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eaLnBrk="1" hangingPunct="1">
              <a:spcBef>
                <a:spcPct val="0"/>
              </a:spcBef>
              <a:buClrTx/>
              <a:buSzTx/>
              <a:buFontTx/>
              <a:buNone/>
            </a:pPr>
            <a:endParaRPr lang="fr-FR" altLang="fr-FR" sz="1800"/>
          </a:p>
        </p:txBody>
      </p:sp>
      <p:pic>
        <p:nvPicPr>
          <p:cNvPr id="110597" name="Picture 4" descr="Revert Git commit : revenir à une version antérieure du repo Git">
            <a:extLst>
              <a:ext uri="{FF2B5EF4-FFF2-40B4-BE49-F238E27FC236}">
                <a16:creationId xmlns="" xmlns:a16="http://schemas.microsoft.com/office/drawing/2014/main" id="{2547B013-D968-6FA1-9CFE-5C5D4D4CF75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63713" y="2276475"/>
            <a:ext cx="5227637" cy="349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D63FBF25-8C14-3A07-F9AE-34C3020C4A6C}"/>
              </a:ext>
            </a:extLst>
          </p:cNvPr>
          <p:cNvSpPr>
            <a:spLocks noGrp="1"/>
          </p:cNvSpPr>
          <p:nvPr>
            <p:ph type="title"/>
          </p:nvPr>
        </p:nvSpPr>
        <p:spPr/>
        <p:txBody>
          <a:bodyPr/>
          <a:lstStyle/>
          <a:p>
            <a:pPr>
              <a:defRPr/>
            </a:pPr>
            <a:r>
              <a:rPr lang="fr-CA" dirty="0"/>
              <a:t>définition</a:t>
            </a:r>
            <a:endParaRPr lang="fr-FR" dirty="0"/>
          </a:p>
        </p:txBody>
      </p:sp>
      <p:sp>
        <p:nvSpPr>
          <p:cNvPr id="111619" name="Espace réservé du contenu 2">
            <a:extLst>
              <a:ext uri="{FF2B5EF4-FFF2-40B4-BE49-F238E27FC236}">
                <a16:creationId xmlns="" xmlns:a16="http://schemas.microsoft.com/office/drawing/2014/main" id="{63A1C43F-6CFE-9F06-F15A-B3CC69A9B810}"/>
              </a:ext>
            </a:extLst>
          </p:cNvPr>
          <p:cNvSpPr>
            <a:spLocks noGrp="1"/>
          </p:cNvSpPr>
          <p:nvPr>
            <p:ph idx="1"/>
          </p:nvPr>
        </p:nvSpPr>
        <p:spPr/>
        <p:txBody>
          <a:bodyPr/>
          <a:lstStyle/>
          <a:p>
            <a:r>
              <a:rPr lang="fr-CA" altLang="fr-FR"/>
              <a:t>GIT :c'est un logiciel CVS (control version system)</a:t>
            </a:r>
          </a:p>
          <a:p>
            <a:r>
              <a:rPr lang="fr-CA" altLang="fr-FR"/>
              <a:t>pour gérer l'évolution et le suivi collaboratif du contenu d'un projet.</a:t>
            </a:r>
          </a:p>
          <a:p>
            <a:endParaRPr lang="fr-FR" altLang="fr-FR"/>
          </a:p>
        </p:txBody>
      </p:sp>
      <p:sp>
        <p:nvSpPr>
          <p:cNvPr id="111620" name="Espace réservé du numéro de diapositive 3">
            <a:extLst>
              <a:ext uri="{FF2B5EF4-FFF2-40B4-BE49-F238E27FC236}">
                <a16:creationId xmlns="" xmlns:a16="http://schemas.microsoft.com/office/drawing/2014/main" id="{BBC93963-AAC9-D16E-D245-481DEF5FCAB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6733F8B6-7154-4BB4-9E79-BA09330D32BD}" type="slidenum">
              <a:rPr lang="fr-FR" altLang="fr-FR" sz="1400">
                <a:solidFill>
                  <a:srgbClr val="FFFFFF"/>
                </a:solidFill>
              </a:rPr>
              <a:pPr>
                <a:spcBef>
                  <a:spcPct val="0"/>
                </a:spcBef>
                <a:buClrTx/>
                <a:buSzTx/>
                <a:buFontTx/>
                <a:buNone/>
              </a:pPr>
              <a:t>133</a:t>
            </a:fld>
            <a:endParaRPr lang="fr-FR" altLang="fr-FR" sz="1400">
              <a:solidFill>
                <a:srgbClr val="FFFFFF"/>
              </a:solidFill>
            </a:endParaRPr>
          </a:p>
        </p:txBody>
      </p:sp>
      <p:pic>
        <p:nvPicPr>
          <p:cNvPr id="3"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7584" y="2924944"/>
            <a:ext cx="7704856" cy="3478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134</a:t>
            </a:fld>
            <a:endParaRPr lang="fr-FR" altLang="fr-F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2060848"/>
            <a:ext cx="8352928" cy="3024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52915559"/>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8C7F94D9-89E9-2702-CA2B-8B6477C9364B}"/>
              </a:ext>
            </a:extLst>
          </p:cNvPr>
          <p:cNvSpPr>
            <a:spLocks noGrp="1"/>
          </p:cNvSpPr>
          <p:nvPr>
            <p:ph type="title"/>
          </p:nvPr>
        </p:nvSpPr>
        <p:spPr/>
        <p:txBody>
          <a:bodyPr>
            <a:normAutofit fontScale="90000"/>
          </a:bodyPr>
          <a:lstStyle/>
          <a:p>
            <a:pPr>
              <a:defRPr/>
            </a:pPr>
            <a:r>
              <a:rPr lang="fr-CA" dirty="0"/>
              <a:t>travailler sur un dépôt local (local repository)</a:t>
            </a:r>
            <a:endParaRPr lang="fr-FR" dirty="0"/>
          </a:p>
        </p:txBody>
      </p:sp>
      <p:sp>
        <p:nvSpPr>
          <p:cNvPr id="112643" name="Espace réservé du contenu 2">
            <a:extLst>
              <a:ext uri="{FF2B5EF4-FFF2-40B4-BE49-F238E27FC236}">
                <a16:creationId xmlns="" xmlns:a16="http://schemas.microsoft.com/office/drawing/2014/main" id="{5A17BE9C-0151-E855-50BC-1FE84395B25C}"/>
              </a:ext>
            </a:extLst>
          </p:cNvPr>
          <p:cNvSpPr>
            <a:spLocks noGrp="1"/>
          </p:cNvSpPr>
          <p:nvPr>
            <p:ph idx="1"/>
          </p:nvPr>
        </p:nvSpPr>
        <p:spPr/>
        <p:txBody>
          <a:bodyPr/>
          <a:lstStyle/>
          <a:p>
            <a:r>
              <a:rPr lang="fr-CA" altLang="fr-FR" sz="1600"/>
              <a:t>1-installer git </a:t>
            </a:r>
          </a:p>
          <a:p>
            <a:endParaRPr lang="fr-CA" altLang="fr-FR" sz="1600"/>
          </a:p>
          <a:p>
            <a:r>
              <a:rPr lang="fr-CA" altLang="fr-FR" sz="1600"/>
              <a:t>2-se positionner dans le dossier de travail et executer la commande : </a:t>
            </a:r>
          </a:p>
          <a:p>
            <a:endParaRPr lang="fr-CA" altLang="fr-FR" sz="1600"/>
          </a:p>
          <a:p>
            <a:r>
              <a:rPr lang="fr-CA" altLang="fr-FR" sz="1600"/>
              <a:t>                git init    </a:t>
            </a:r>
          </a:p>
          <a:p>
            <a:endParaRPr lang="fr-CA" altLang="fr-FR" sz="1600"/>
          </a:p>
          <a:p>
            <a:r>
              <a:rPr lang="fr-CA" altLang="fr-FR" sz="1600"/>
              <a:t>3-créer un fichier (groupes.txt)  et l'ajouter au surveil</a:t>
            </a:r>
          </a:p>
          <a:p>
            <a:endParaRPr lang="fr-CA" altLang="fr-FR" sz="1600"/>
          </a:p>
          <a:p>
            <a:r>
              <a:rPr lang="fr-CA" altLang="fr-FR" sz="1600"/>
              <a:t>          git add groupes.txt</a:t>
            </a:r>
          </a:p>
          <a:p>
            <a:endParaRPr lang="fr-CA" altLang="fr-FR" sz="1600"/>
          </a:p>
          <a:p>
            <a:r>
              <a:rPr lang="fr-CA" altLang="fr-FR" sz="1600"/>
              <a:t>4-créer un commit    (photo : quand-qui-pourquoi)</a:t>
            </a:r>
          </a:p>
          <a:p>
            <a:endParaRPr lang="fr-CA" altLang="fr-FR" sz="1600"/>
          </a:p>
          <a:p>
            <a:r>
              <a:rPr lang="fr-CA" altLang="fr-FR" sz="1600"/>
              <a:t>         git commit --m "création du fichier des groupes"</a:t>
            </a:r>
          </a:p>
          <a:p>
            <a:endParaRPr lang="fr-CA" altLang="fr-FR" sz="1600"/>
          </a:p>
          <a:p>
            <a:r>
              <a:rPr lang="fr-CA" altLang="fr-FR" sz="1600"/>
              <a:t>5-log des commit :</a:t>
            </a:r>
          </a:p>
          <a:p>
            <a:endParaRPr lang="fr-CA" altLang="fr-FR" sz="1600"/>
          </a:p>
          <a:p>
            <a:r>
              <a:rPr lang="fr-CA" altLang="fr-FR" sz="1600"/>
              <a:t>         git log   (repo history)</a:t>
            </a:r>
            <a:endParaRPr lang="fr-FR" altLang="fr-FR" sz="1600"/>
          </a:p>
        </p:txBody>
      </p:sp>
      <p:sp>
        <p:nvSpPr>
          <p:cNvPr id="112644" name="Espace réservé du numéro de diapositive 3">
            <a:extLst>
              <a:ext uri="{FF2B5EF4-FFF2-40B4-BE49-F238E27FC236}">
                <a16:creationId xmlns="" xmlns:a16="http://schemas.microsoft.com/office/drawing/2014/main" id="{53356387-68ED-6F95-05A7-B992DBBC55A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D5C01982-C255-4CE4-AAEF-B4F4539259AF}" type="slidenum">
              <a:rPr lang="fr-FR" altLang="fr-FR" sz="1400">
                <a:solidFill>
                  <a:srgbClr val="FFFFFF"/>
                </a:solidFill>
              </a:rPr>
              <a:pPr>
                <a:spcBef>
                  <a:spcPct val="0"/>
                </a:spcBef>
                <a:buClrTx/>
                <a:buSzTx/>
                <a:buFontTx/>
                <a:buNone/>
              </a:pPr>
              <a:t>135</a:t>
            </a:fld>
            <a:endParaRPr lang="fr-FR" altLang="fr-FR" sz="1400">
              <a:solidFill>
                <a:srgbClr val="FFFFFF"/>
              </a:solidFill>
            </a:endParaRPr>
          </a:p>
        </p:txBody>
      </p:sp>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58989F81-BF1C-6C22-9892-0F1A772B488E}"/>
              </a:ext>
            </a:extLst>
          </p:cNvPr>
          <p:cNvSpPr>
            <a:spLocks noGrp="1"/>
          </p:cNvSpPr>
          <p:nvPr>
            <p:ph type="title"/>
          </p:nvPr>
        </p:nvSpPr>
        <p:spPr/>
        <p:txBody>
          <a:bodyPr/>
          <a:lstStyle/>
          <a:p>
            <a:pPr>
              <a:defRPr/>
            </a:pPr>
            <a:endParaRPr lang="fr-FR"/>
          </a:p>
        </p:txBody>
      </p:sp>
      <p:sp>
        <p:nvSpPr>
          <p:cNvPr id="113667" name="Espace réservé du contenu 2">
            <a:extLst>
              <a:ext uri="{FF2B5EF4-FFF2-40B4-BE49-F238E27FC236}">
                <a16:creationId xmlns="" xmlns:a16="http://schemas.microsoft.com/office/drawing/2014/main" id="{3783E161-F4DE-F152-F430-3DEA05B2B678}"/>
              </a:ext>
            </a:extLst>
          </p:cNvPr>
          <p:cNvSpPr>
            <a:spLocks noGrp="1"/>
          </p:cNvSpPr>
          <p:nvPr>
            <p:ph idx="1"/>
          </p:nvPr>
        </p:nvSpPr>
        <p:spPr/>
        <p:txBody>
          <a:bodyPr/>
          <a:lstStyle/>
          <a:p>
            <a:r>
              <a:rPr lang="fr-FR" altLang="fr-FR" sz="1600" dirty="0"/>
              <a:t>6-afficher/récupérer une version d'un fichier (via </a:t>
            </a:r>
            <a:r>
              <a:rPr lang="fr-FR" altLang="fr-FR" sz="1600" dirty="0" err="1"/>
              <a:t>idcommit</a:t>
            </a:r>
            <a:r>
              <a:rPr lang="fr-FR" altLang="fr-FR" sz="1600" dirty="0"/>
              <a:t>) </a:t>
            </a:r>
          </a:p>
          <a:p>
            <a:endParaRPr lang="fr-FR" altLang="fr-FR" sz="1600" dirty="0"/>
          </a:p>
          <a:p>
            <a:r>
              <a:rPr lang="fr-FR" altLang="fr-FR" sz="1600" dirty="0"/>
              <a:t>git show ee0c89b9ecd352e8ed858fef297dc126575f3f38 groupes.txt       :afficher</a:t>
            </a:r>
          </a:p>
          <a:p>
            <a:endParaRPr lang="fr-FR" altLang="fr-FR" sz="1600" dirty="0"/>
          </a:p>
          <a:p>
            <a:r>
              <a:rPr lang="fr-FR" altLang="fr-FR" sz="1600" dirty="0"/>
              <a:t>git </a:t>
            </a:r>
            <a:r>
              <a:rPr lang="fr-FR" altLang="fr-FR" sz="1600" dirty="0" err="1"/>
              <a:t>checkout</a:t>
            </a:r>
            <a:r>
              <a:rPr lang="fr-FR" altLang="fr-FR" sz="1600" dirty="0"/>
              <a:t> ee0c89b9ecd352e8ed858fef297dc126575f3f38 groupes.txt   :récupérer</a:t>
            </a:r>
          </a:p>
          <a:p>
            <a:endParaRPr lang="fr-FR" altLang="fr-FR" sz="1600" dirty="0"/>
          </a:p>
          <a:p>
            <a:endParaRPr lang="fr-FR" altLang="fr-FR" sz="1600" dirty="0"/>
          </a:p>
          <a:p>
            <a:r>
              <a:rPr lang="fr-FR" altLang="fr-FR" sz="1600" dirty="0"/>
              <a:t>git </a:t>
            </a:r>
            <a:r>
              <a:rPr lang="fr-FR" altLang="fr-FR" sz="1600" dirty="0" err="1"/>
              <a:t>checkout</a:t>
            </a:r>
            <a:r>
              <a:rPr lang="fr-FR" altLang="fr-FR" sz="1600" dirty="0"/>
              <a:t> master   ( se positionner dans </a:t>
            </a:r>
            <a:r>
              <a:rPr lang="fr-FR" altLang="fr-FR" sz="1600" dirty="0" smtClean="0"/>
              <a:t>la </a:t>
            </a:r>
            <a:r>
              <a:rPr lang="fr-FR" altLang="fr-FR" sz="1600" dirty="0"/>
              <a:t>branche master)</a:t>
            </a:r>
          </a:p>
          <a:p>
            <a:endParaRPr lang="fr-FR" altLang="fr-FR" sz="1600" dirty="0"/>
          </a:p>
          <a:p>
            <a:r>
              <a:rPr lang="fr-FR" altLang="fr-FR" sz="1600" dirty="0"/>
              <a:t>.</a:t>
            </a:r>
            <a:r>
              <a:rPr lang="fr-FR" altLang="fr-FR" sz="1600" dirty="0" err="1"/>
              <a:t>gitignore</a:t>
            </a:r>
            <a:r>
              <a:rPr lang="fr-FR" altLang="fr-FR" sz="1600" dirty="0"/>
              <a:t> ( contient les fichiers à ne pas </a:t>
            </a:r>
            <a:r>
              <a:rPr lang="fr-FR" altLang="fr-FR" sz="1600" dirty="0" err="1"/>
              <a:t>tracker</a:t>
            </a:r>
            <a:r>
              <a:rPr lang="fr-FR" altLang="fr-FR" sz="1600" dirty="0"/>
              <a:t>    exemple : *.</a:t>
            </a:r>
            <a:r>
              <a:rPr lang="fr-FR" altLang="fr-FR" sz="1600" dirty="0" err="1"/>
              <a:t>txt</a:t>
            </a:r>
            <a:r>
              <a:rPr lang="fr-FR" altLang="fr-FR" sz="1600" dirty="0"/>
              <a:t> : tous les fichiers </a:t>
            </a:r>
            <a:r>
              <a:rPr lang="fr-FR" altLang="fr-FR" sz="1600" dirty="0" err="1"/>
              <a:t>txt</a:t>
            </a:r>
            <a:r>
              <a:rPr lang="fr-FR" altLang="fr-FR" sz="1600" dirty="0"/>
              <a:t>)</a:t>
            </a:r>
          </a:p>
          <a:p>
            <a:endParaRPr lang="fr-FR" altLang="fr-FR" sz="1600" dirty="0"/>
          </a:p>
          <a:p>
            <a:endParaRPr lang="fr-FR" altLang="fr-FR" sz="1600" dirty="0"/>
          </a:p>
          <a:p>
            <a:r>
              <a:rPr lang="fr-FR" altLang="fr-FR" sz="1600" dirty="0"/>
              <a:t>git </a:t>
            </a:r>
            <a:r>
              <a:rPr lang="fr-FR" altLang="fr-FR" sz="1600" dirty="0" err="1"/>
              <a:t>rm</a:t>
            </a:r>
            <a:r>
              <a:rPr lang="fr-FR" altLang="fr-FR" sz="1600" dirty="0"/>
              <a:t> --</a:t>
            </a:r>
            <a:r>
              <a:rPr lang="fr-FR" altLang="fr-FR" sz="1600" dirty="0" err="1"/>
              <a:t>cached</a:t>
            </a:r>
            <a:r>
              <a:rPr lang="fr-FR" altLang="fr-FR" sz="1600" dirty="0"/>
              <a:t> </a:t>
            </a:r>
            <a:r>
              <a:rPr lang="fr-FR" altLang="fr-FR" sz="1600" dirty="0" err="1" smtClean="0"/>
              <a:t>nomfile</a:t>
            </a:r>
            <a:r>
              <a:rPr lang="fr-FR" altLang="fr-FR" sz="1600" dirty="0" smtClean="0"/>
              <a:t>  : </a:t>
            </a:r>
            <a:r>
              <a:rPr lang="fr-CA" sz="1400" dirty="0"/>
              <a:t>retirer un fichier du suivi </a:t>
            </a:r>
            <a:r>
              <a:rPr lang="fr-CA" sz="1400" dirty="0" smtClean="0"/>
              <a:t>Git </a:t>
            </a:r>
            <a:r>
              <a:rPr lang="fr-CA" sz="1400" dirty="0"/>
              <a:t>sans supprimer le fichier </a:t>
            </a:r>
            <a:r>
              <a:rPr lang="fr-CA" sz="1400" dirty="0" smtClean="0"/>
              <a:t>du disque </a:t>
            </a:r>
            <a:r>
              <a:rPr lang="fr-CA" sz="1400" dirty="0"/>
              <a:t>local</a:t>
            </a:r>
            <a:r>
              <a:rPr lang="fr-CA" sz="1050" dirty="0"/>
              <a:t>.</a:t>
            </a:r>
            <a:endParaRPr lang="fr-FR" altLang="fr-FR" sz="1050" dirty="0"/>
          </a:p>
        </p:txBody>
      </p:sp>
      <p:sp>
        <p:nvSpPr>
          <p:cNvPr id="113668" name="Espace réservé du numéro de diapositive 3">
            <a:extLst>
              <a:ext uri="{FF2B5EF4-FFF2-40B4-BE49-F238E27FC236}">
                <a16:creationId xmlns="" xmlns:a16="http://schemas.microsoft.com/office/drawing/2014/main" id="{F2CED331-FFB9-F587-01E7-56A113B28EB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A29DBF98-E471-400F-9FAE-E7D257C554FB}" type="slidenum">
              <a:rPr lang="fr-FR" altLang="fr-FR" sz="1400">
                <a:solidFill>
                  <a:srgbClr val="FFFFFF"/>
                </a:solidFill>
              </a:rPr>
              <a:pPr>
                <a:spcBef>
                  <a:spcPct val="0"/>
                </a:spcBef>
                <a:buClrTx/>
                <a:buSzTx/>
                <a:buFontTx/>
                <a:buNone/>
              </a:pPr>
              <a:t>136</a:t>
            </a:fld>
            <a:endParaRPr lang="fr-FR" altLang="fr-FR" sz="1400">
              <a:solidFill>
                <a:srgbClr val="FFFFFF"/>
              </a:solidFill>
            </a:endParaRPr>
          </a:p>
        </p:txBody>
      </p:sp>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137</a:t>
            </a:fld>
            <a:endParaRPr lang="fr-FR" altLang="fr-F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2203450"/>
            <a:ext cx="7704856" cy="36738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69985432"/>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138</a:t>
            </a:fld>
            <a:endParaRPr lang="fr-FR" altLang="fr-F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775" y="2505075"/>
            <a:ext cx="9039225" cy="184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97187941"/>
      </p:ext>
    </p:extLst>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Revenir à un commit</a:t>
            </a:r>
            <a:endParaRPr lang="fr-FR" dirty="0"/>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139</a:t>
            </a:fld>
            <a:endParaRPr lang="fr-FR" altLang="fr-F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2060848"/>
            <a:ext cx="8280920" cy="2880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97251499"/>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Les branches </a:t>
            </a:r>
            <a:endParaRPr lang="fr-FR" dirty="0"/>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140</a:t>
            </a:fld>
            <a:endParaRPr lang="fr-FR" altLang="fr-F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591" y="1484784"/>
            <a:ext cx="7553151" cy="4878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91158585"/>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F8CBFED5-EE28-58FA-F88A-355A736F31F3}"/>
              </a:ext>
            </a:extLst>
          </p:cNvPr>
          <p:cNvSpPr>
            <a:spLocks noGrp="1"/>
          </p:cNvSpPr>
          <p:nvPr>
            <p:ph type="title"/>
          </p:nvPr>
        </p:nvSpPr>
        <p:spPr/>
        <p:txBody>
          <a:bodyPr/>
          <a:lstStyle/>
          <a:p>
            <a:pPr>
              <a:defRPr/>
            </a:pPr>
            <a:endParaRPr lang="fr-FR"/>
          </a:p>
        </p:txBody>
      </p:sp>
      <p:sp>
        <p:nvSpPr>
          <p:cNvPr id="114691" name="Espace réservé du contenu 2">
            <a:extLst>
              <a:ext uri="{FF2B5EF4-FFF2-40B4-BE49-F238E27FC236}">
                <a16:creationId xmlns="" xmlns:a16="http://schemas.microsoft.com/office/drawing/2014/main" id="{388D4337-6D76-6A02-7071-1A43C15B8508}"/>
              </a:ext>
            </a:extLst>
          </p:cNvPr>
          <p:cNvSpPr>
            <a:spLocks noGrp="1"/>
          </p:cNvSpPr>
          <p:nvPr>
            <p:ph idx="1"/>
          </p:nvPr>
        </p:nvSpPr>
        <p:spPr/>
        <p:txBody>
          <a:bodyPr/>
          <a:lstStyle/>
          <a:p>
            <a:r>
              <a:rPr lang="fr-FR" altLang="fr-FR" sz="2000" dirty="0"/>
              <a:t>7-créer une nouvelle branche :</a:t>
            </a:r>
          </a:p>
          <a:p>
            <a:endParaRPr lang="fr-FR" altLang="fr-FR" sz="2000" dirty="0"/>
          </a:p>
          <a:p>
            <a:r>
              <a:rPr lang="fr-FR" altLang="fr-FR" sz="2000" dirty="0"/>
              <a:t>git </a:t>
            </a:r>
            <a:r>
              <a:rPr lang="fr-FR" altLang="fr-FR" sz="2000" dirty="0" err="1"/>
              <a:t>branch</a:t>
            </a:r>
            <a:r>
              <a:rPr lang="fr-FR" altLang="fr-FR" sz="2000" dirty="0"/>
              <a:t>                             : pour afficher la branche actuelle</a:t>
            </a:r>
          </a:p>
          <a:p>
            <a:r>
              <a:rPr lang="fr-FR" altLang="fr-FR" sz="2000" dirty="0"/>
              <a:t>git </a:t>
            </a:r>
            <a:r>
              <a:rPr lang="fr-FR" altLang="fr-FR" sz="2000" dirty="0" err="1"/>
              <a:t>checkout</a:t>
            </a:r>
            <a:r>
              <a:rPr lang="fr-FR" altLang="fr-FR" sz="2000" dirty="0"/>
              <a:t> -b </a:t>
            </a:r>
            <a:r>
              <a:rPr lang="fr-FR" altLang="fr-FR" sz="2000" dirty="0" err="1"/>
              <a:t>nombranche</a:t>
            </a:r>
            <a:r>
              <a:rPr lang="fr-FR" altLang="fr-FR" sz="2000" dirty="0"/>
              <a:t>            : pour créer une nouvelle branche          </a:t>
            </a:r>
          </a:p>
          <a:p>
            <a:r>
              <a:rPr lang="fr-FR" altLang="fr-FR" sz="2000" dirty="0"/>
              <a:t>git </a:t>
            </a:r>
            <a:r>
              <a:rPr lang="fr-FR" altLang="fr-FR" sz="2000" dirty="0" err="1"/>
              <a:t>checkout</a:t>
            </a:r>
            <a:r>
              <a:rPr lang="fr-FR" altLang="fr-FR" sz="2000" dirty="0"/>
              <a:t> </a:t>
            </a:r>
            <a:r>
              <a:rPr lang="fr-FR" altLang="fr-FR" sz="2000" dirty="0" err="1"/>
              <a:t>nombranche</a:t>
            </a:r>
            <a:r>
              <a:rPr lang="fr-FR" altLang="fr-FR" sz="2000" dirty="0"/>
              <a:t>               : pour se positionner dans une branche </a:t>
            </a:r>
          </a:p>
          <a:p>
            <a:endParaRPr lang="fr-FR" altLang="fr-FR" sz="2000" dirty="0"/>
          </a:p>
          <a:p>
            <a:r>
              <a:rPr lang="fr-FR" altLang="fr-FR" sz="2000" dirty="0"/>
              <a:t>8-git </a:t>
            </a:r>
            <a:r>
              <a:rPr lang="fr-FR" altLang="fr-FR" sz="2000" dirty="0" err="1"/>
              <a:t>merge</a:t>
            </a:r>
            <a:r>
              <a:rPr lang="fr-FR" altLang="fr-FR" sz="2000" dirty="0"/>
              <a:t> </a:t>
            </a:r>
            <a:r>
              <a:rPr lang="fr-FR" altLang="fr-FR" sz="2000" dirty="0" err="1"/>
              <a:t>newbranch</a:t>
            </a:r>
            <a:r>
              <a:rPr lang="fr-FR" altLang="fr-FR" sz="2000" dirty="0"/>
              <a:t>                 :   fusionner </a:t>
            </a:r>
            <a:r>
              <a:rPr lang="fr-FR" altLang="fr-FR" sz="2000" dirty="0" err="1"/>
              <a:t>newbranch</a:t>
            </a:r>
            <a:r>
              <a:rPr lang="fr-FR" altLang="fr-FR" sz="2000" dirty="0"/>
              <a:t> vers master (ou je me situe)</a:t>
            </a:r>
          </a:p>
          <a:p>
            <a:endParaRPr lang="fr-FR" altLang="fr-FR" sz="2000" dirty="0"/>
          </a:p>
          <a:p>
            <a:endParaRPr lang="fr-FR" altLang="fr-FR" sz="2000" dirty="0"/>
          </a:p>
          <a:p>
            <a:r>
              <a:rPr lang="fr-FR" altLang="fr-FR" sz="2000" dirty="0"/>
              <a:t>9-git </a:t>
            </a:r>
            <a:r>
              <a:rPr lang="fr-FR" altLang="fr-FR" sz="2000" dirty="0" err="1"/>
              <a:t>branch</a:t>
            </a:r>
            <a:r>
              <a:rPr lang="fr-FR" altLang="fr-FR" sz="2000" dirty="0"/>
              <a:t> --</a:t>
            </a:r>
            <a:r>
              <a:rPr lang="fr-FR" altLang="fr-FR" sz="2000" dirty="0" err="1"/>
              <a:t>delete</a:t>
            </a:r>
            <a:r>
              <a:rPr lang="fr-FR" altLang="fr-FR" sz="2000" dirty="0"/>
              <a:t> </a:t>
            </a:r>
            <a:r>
              <a:rPr lang="fr-FR" altLang="fr-FR" sz="2000" dirty="0" err="1"/>
              <a:t>newbranch</a:t>
            </a:r>
            <a:r>
              <a:rPr lang="fr-FR" altLang="fr-FR" sz="2000" dirty="0"/>
              <a:t>       : supprimer </a:t>
            </a:r>
            <a:r>
              <a:rPr lang="fr-FR" altLang="fr-FR" sz="2000" dirty="0" err="1"/>
              <a:t>newbranch</a:t>
            </a:r>
            <a:endParaRPr lang="fr-FR" altLang="fr-FR" sz="2000" dirty="0"/>
          </a:p>
        </p:txBody>
      </p:sp>
      <p:sp>
        <p:nvSpPr>
          <p:cNvPr id="114692" name="Espace réservé du numéro de diapositive 3">
            <a:extLst>
              <a:ext uri="{FF2B5EF4-FFF2-40B4-BE49-F238E27FC236}">
                <a16:creationId xmlns="" xmlns:a16="http://schemas.microsoft.com/office/drawing/2014/main" id="{2C930992-DED2-FCDA-626E-96E2BC63C8B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189EEEC4-FE4B-43E6-8F53-9AECAE256A5E}" type="slidenum">
              <a:rPr lang="fr-FR" altLang="fr-FR" sz="1400">
                <a:solidFill>
                  <a:srgbClr val="FFFFFF"/>
                </a:solidFill>
              </a:rPr>
              <a:pPr>
                <a:spcBef>
                  <a:spcPct val="0"/>
                </a:spcBef>
                <a:buClrTx/>
                <a:buSzTx/>
                <a:buFontTx/>
                <a:buNone/>
              </a:pPr>
              <a:t>141</a:t>
            </a:fld>
            <a:endParaRPr lang="fr-FR" altLang="fr-FR" sz="1400">
              <a:solidFill>
                <a:srgbClr val="FFFFFF"/>
              </a:solidFill>
            </a:endParaRPr>
          </a:p>
        </p:txBody>
      </p:sp>
    </p:spTree>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142</a:t>
            </a:fld>
            <a:endParaRPr lang="fr-FR" altLang="fr-F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1700808"/>
            <a:ext cx="8208912" cy="4221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23463497"/>
      </p:ext>
    </p:ext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143</a:t>
            </a:fld>
            <a:endParaRPr lang="fr-FR" altLang="fr-F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1988840"/>
            <a:ext cx="7992888" cy="34563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15928281"/>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Espace réservé du numéro de diapositive 3">
            <a:extLst>
              <a:ext uri="{FF2B5EF4-FFF2-40B4-BE49-F238E27FC236}">
                <a16:creationId xmlns="" xmlns:a16="http://schemas.microsoft.com/office/drawing/2014/main" id="{E0915F12-9931-DEA2-4EF6-D4F860E63E8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5B4E2A17-4728-47AC-99FC-26A749A3DE45}" type="slidenum">
              <a:rPr lang="fr-FR" altLang="fr-FR" sz="1400">
                <a:solidFill>
                  <a:srgbClr val="FFFFFF"/>
                </a:solidFill>
              </a:rPr>
              <a:pPr>
                <a:spcBef>
                  <a:spcPct val="0"/>
                </a:spcBef>
                <a:buClrTx/>
                <a:buSzTx/>
                <a:buFontTx/>
                <a:buNone/>
              </a:pPr>
              <a:t>144</a:t>
            </a:fld>
            <a:endParaRPr lang="fr-FR" altLang="fr-FR" sz="1400">
              <a:solidFill>
                <a:srgbClr val="FFFFFF"/>
              </a:solidFill>
            </a:endParaRPr>
          </a:p>
        </p:txBody>
      </p:sp>
      <p:sp>
        <p:nvSpPr>
          <p:cNvPr id="115715" name="AutoShape 2" descr="UBC GitHub Instructor Guide | Learning Technology Hub">
            <a:extLst>
              <a:ext uri="{FF2B5EF4-FFF2-40B4-BE49-F238E27FC236}">
                <a16:creationId xmlns="" xmlns:a16="http://schemas.microsoft.com/office/drawing/2014/main" id="{20E0A0DB-BCBF-C5DA-43BA-E820BF552F57}"/>
              </a:ext>
            </a:extLst>
          </p:cNvPr>
          <p:cNvSpPr>
            <a:spLocks noChangeAspect="1" noChangeArrowheads="1"/>
          </p:cNvSpPr>
          <p:nvPr/>
        </p:nvSpPr>
        <p:spPr bwMode="auto">
          <a:xfrm>
            <a:off x="155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eaLnBrk="1" hangingPunct="1">
              <a:spcBef>
                <a:spcPct val="0"/>
              </a:spcBef>
              <a:buClrTx/>
              <a:buSzTx/>
              <a:buFontTx/>
              <a:buNone/>
            </a:pPr>
            <a:endParaRPr lang="fr-FR" altLang="fr-FR" sz="1800"/>
          </a:p>
        </p:txBody>
      </p:sp>
      <p:sp>
        <p:nvSpPr>
          <p:cNvPr id="115716" name="AutoShape 4" descr="UBC GitHub Instructor Guide | Learning Technology Hub">
            <a:extLst>
              <a:ext uri="{FF2B5EF4-FFF2-40B4-BE49-F238E27FC236}">
                <a16:creationId xmlns="" xmlns:a16="http://schemas.microsoft.com/office/drawing/2014/main" id="{2B7CA0F3-8CA8-5187-42D2-5B803542816E}"/>
              </a:ext>
            </a:extLst>
          </p:cNvPr>
          <p:cNvSpPr>
            <a:spLocks noChangeAspect="1" noChangeArrowheads="1"/>
          </p:cNvSpPr>
          <p:nvPr/>
        </p:nvSpPr>
        <p:spPr bwMode="auto">
          <a:xfrm>
            <a:off x="307975" y="7938"/>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eaLnBrk="1" hangingPunct="1">
              <a:spcBef>
                <a:spcPct val="0"/>
              </a:spcBef>
              <a:buClrTx/>
              <a:buSzTx/>
              <a:buFontTx/>
              <a:buNone/>
            </a:pPr>
            <a:endParaRPr lang="fr-FR" altLang="fr-FR" sz="1800"/>
          </a:p>
        </p:txBody>
      </p:sp>
      <p:pic>
        <p:nvPicPr>
          <p:cNvPr id="115717" name="Picture 6" descr="Git ve GitHub Nedir? | İ-Akademi">
            <a:extLst>
              <a:ext uri="{FF2B5EF4-FFF2-40B4-BE49-F238E27FC236}">
                <a16:creationId xmlns="" xmlns:a16="http://schemas.microsoft.com/office/drawing/2014/main" id="{66D0DF06-C179-90EF-717D-252280A039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8884" y="980728"/>
            <a:ext cx="6916737" cy="295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8671" y="3645024"/>
            <a:ext cx="4400243" cy="1728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CEBEF622-8FEF-44CC-8B62-4479E554D807}"/>
              </a:ext>
            </a:extLst>
          </p:cNvPr>
          <p:cNvSpPr>
            <a:spLocks noGrp="1"/>
          </p:cNvSpPr>
          <p:nvPr>
            <p:ph type="title"/>
          </p:nvPr>
        </p:nvSpPr>
        <p:spPr/>
        <p:txBody>
          <a:bodyPr/>
          <a:lstStyle/>
          <a:p>
            <a:pPr>
              <a:defRPr/>
            </a:pPr>
            <a:r>
              <a:rPr lang="fr-CA" dirty="0"/>
              <a:t>Définition</a:t>
            </a:r>
            <a:endParaRPr lang="fr-FR" dirty="0"/>
          </a:p>
        </p:txBody>
      </p:sp>
      <p:sp>
        <p:nvSpPr>
          <p:cNvPr id="3" name="Espace réservé du contenu 2">
            <a:extLst>
              <a:ext uri="{FF2B5EF4-FFF2-40B4-BE49-F238E27FC236}">
                <a16:creationId xmlns="" xmlns:a16="http://schemas.microsoft.com/office/drawing/2014/main" id="{2751531B-EE56-AC8E-099A-A8E3A81D6B9F}"/>
              </a:ext>
            </a:extLst>
          </p:cNvPr>
          <p:cNvSpPr>
            <a:spLocks noGrp="1"/>
          </p:cNvSpPr>
          <p:nvPr>
            <p:ph idx="1"/>
          </p:nvPr>
        </p:nvSpPr>
        <p:spPr/>
        <p:txBody>
          <a:bodyPr/>
          <a:lstStyle/>
          <a:p>
            <a:pPr marL="0" indent="0">
              <a:buNone/>
              <a:defRPr/>
            </a:pPr>
            <a:r>
              <a:rPr lang="fr-CA" dirty="0" err="1"/>
              <a:t>GitHub</a:t>
            </a:r>
            <a:r>
              <a:rPr lang="fr-CA" dirty="0"/>
              <a:t> et </a:t>
            </a:r>
            <a:r>
              <a:rPr lang="fr-CA" dirty="0" err="1"/>
              <a:t>GitLab</a:t>
            </a:r>
            <a:r>
              <a:rPr lang="fr-CA" dirty="0"/>
              <a:t> sont deux plateformes qui permettent d'héberger des dépôts Git, de collaborer sur du code et d'automatiser les tests et le déploiement.</a:t>
            </a:r>
            <a:endParaRPr lang="fr-CA" dirty="0"/>
          </a:p>
        </p:txBody>
      </p:sp>
      <p:sp>
        <p:nvSpPr>
          <p:cNvPr id="116740" name="Espace réservé du numéro de diapositive 3">
            <a:extLst>
              <a:ext uri="{FF2B5EF4-FFF2-40B4-BE49-F238E27FC236}">
                <a16:creationId xmlns="" xmlns:a16="http://schemas.microsoft.com/office/drawing/2014/main" id="{82C5E71D-C90E-ADE1-854F-60746A1BD1F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84D02098-0F6D-4D46-A93A-569D047480F2}" type="slidenum">
              <a:rPr lang="fr-FR" altLang="fr-FR" sz="1400">
                <a:solidFill>
                  <a:srgbClr val="FFFFFF"/>
                </a:solidFill>
              </a:rPr>
              <a:pPr>
                <a:spcBef>
                  <a:spcPct val="0"/>
                </a:spcBef>
                <a:buClrTx/>
                <a:buSzTx/>
                <a:buFontTx/>
                <a:buNone/>
              </a:pPr>
              <a:t>145</a:t>
            </a:fld>
            <a:endParaRPr lang="fr-FR" altLang="fr-FR" sz="1400">
              <a:solidFill>
                <a:srgbClr val="FFFFFF"/>
              </a:solidFill>
            </a:endParaRPr>
          </a:p>
        </p:txBody>
      </p:sp>
    </p:spTree>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146</a:t>
            </a:fld>
            <a:endParaRPr lang="fr-FR" altLang="fr-FR"/>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1052736"/>
            <a:ext cx="7416824" cy="50405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21148636"/>
      </p:ext>
    </p:extLst>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147</a:t>
            </a:fld>
            <a:endParaRPr lang="fr-FR" altLang="fr-F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404664"/>
            <a:ext cx="8394700" cy="5976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51182670"/>
      </p:ext>
    </p:extLst>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CA" dirty="0" err="1"/>
              <a:t>Dev</a:t>
            </a:r>
            <a:r>
              <a:rPr lang="fr-CA" dirty="0"/>
              <a:t>, </a:t>
            </a:r>
            <a:r>
              <a:rPr lang="fr-CA" dirty="0" err="1"/>
              <a:t>Ops</a:t>
            </a:r>
            <a:r>
              <a:rPr lang="fr-CA" dirty="0"/>
              <a:t> et </a:t>
            </a:r>
            <a:r>
              <a:rPr lang="fr-CA" dirty="0" err="1"/>
              <a:t>DevOps</a:t>
            </a:r>
            <a:r>
              <a:rPr lang="fr-CA" dirty="0"/>
              <a:t> : rôles et exemples de tâches</a:t>
            </a:r>
            <a:endParaRPr lang="fr-FR" dirty="0"/>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148</a:t>
            </a:fld>
            <a:endParaRPr lang="fr-FR" altLang="fr-F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1772816"/>
            <a:ext cx="4176464" cy="2880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55976" y="1772816"/>
            <a:ext cx="4536504" cy="296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640" y="4634649"/>
            <a:ext cx="6610350" cy="196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79476286"/>
      </p:ext>
    </p:extLst>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A6ED8BE4-AB43-D375-B285-6B3B563555B9}"/>
              </a:ext>
            </a:extLst>
          </p:cNvPr>
          <p:cNvSpPr>
            <a:spLocks noGrp="1"/>
          </p:cNvSpPr>
          <p:nvPr>
            <p:ph type="title"/>
          </p:nvPr>
        </p:nvSpPr>
        <p:spPr/>
        <p:txBody>
          <a:bodyPr/>
          <a:lstStyle/>
          <a:p>
            <a:pPr>
              <a:defRPr/>
            </a:pPr>
            <a:r>
              <a:rPr lang="fr-FR" dirty="0" err="1"/>
              <a:t>DevOps</a:t>
            </a:r>
            <a:r>
              <a:rPr lang="fr-FR" dirty="0"/>
              <a:t> </a:t>
            </a:r>
          </a:p>
        </p:txBody>
      </p:sp>
      <p:sp>
        <p:nvSpPr>
          <p:cNvPr id="122883" name="Espace réservé du numéro de diapositive 3">
            <a:extLst>
              <a:ext uri="{FF2B5EF4-FFF2-40B4-BE49-F238E27FC236}">
                <a16:creationId xmlns="" xmlns:a16="http://schemas.microsoft.com/office/drawing/2014/main" id="{2889E70E-9697-8203-2865-D93F41FE509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A05AD6DF-3D70-45C4-841B-AA8DFA661103}" type="slidenum">
              <a:rPr lang="fr-FR" altLang="fr-FR" sz="1400">
                <a:solidFill>
                  <a:srgbClr val="FFFFFF"/>
                </a:solidFill>
              </a:rPr>
              <a:pPr>
                <a:spcBef>
                  <a:spcPct val="0"/>
                </a:spcBef>
                <a:buClrTx/>
                <a:buSzTx/>
                <a:buFontTx/>
                <a:buNone/>
              </a:pPr>
              <a:t>149</a:t>
            </a:fld>
            <a:endParaRPr lang="fr-FR" altLang="fr-FR" sz="1400">
              <a:solidFill>
                <a:srgbClr val="FFFFFF"/>
              </a:solidFill>
            </a:endParaRPr>
          </a:p>
        </p:txBody>
      </p:sp>
      <p:pic>
        <p:nvPicPr>
          <p:cNvPr id="122884" name="Picture 2" descr="Le mur de la confusion entre les équipes Dev et Ops">
            <a:extLst>
              <a:ext uri="{FF2B5EF4-FFF2-40B4-BE49-F238E27FC236}">
                <a16:creationId xmlns="" xmlns:a16="http://schemas.microsoft.com/office/drawing/2014/main" id="{B0F67E48-B78F-9D82-F4E8-9171C1929C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49875" y="1773238"/>
            <a:ext cx="322580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885" name="Rectangle 4">
            <a:extLst>
              <a:ext uri="{FF2B5EF4-FFF2-40B4-BE49-F238E27FC236}">
                <a16:creationId xmlns="" xmlns:a16="http://schemas.microsoft.com/office/drawing/2014/main" id="{49A02D34-78F9-10BD-0D80-ACF34E924D74}"/>
              </a:ext>
            </a:extLst>
          </p:cNvPr>
          <p:cNvSpPr>
            <a:spLocks noChangeArrowheads="1"/>
          </p:cNvSpPr>
          <p:nvPr/>
        </p:nvSpPr>
        <p:spPr bwMode="auto">
          <a:xfrm>
            <a:off x="395288" y="1550988"/>
            <a:ext cx="4572000" cy="922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eaLnBrk="1" hangingPunct="1">
              <a:spcBef>
                <a:spcPct val="0"/>
              </a:spcBef>
              <a:buClrTx/>
              <a:buSzTx/>
              <a:buFontTx/>
              <a:buNone/>
            </a:pPr>
            <a:r>
              <a:rPr lang="fr-CA" altLang="fr-FR" sz="1800"/>
              <a:t>La première, </a:t>
            </a:r>
            <a:r>
              <a:rPr lang="fr-CA" altLang="fr-FR" sz="1800" b="1"/>
              <a:t>l'équipe de développement</a:t>
            </a:r>
            <a:r>
              <a:rPr lang="fr-CA" altLang="fr-FR" sz="1800"/>
              <a:t>, a pour objectif principal de </a:t>
            </a:r>
            <a:r>
              <a:rPr lang="fr-CA" altLang="fr-FR" sz="1800" b="1"/>
              <a:t>faire évoluer l'application</a:t>
            </a:r>
            <a:r>
              <a:rPr lang="fr-CA" altLang="fr-FR" sz="1800"/>
              <a:t>,</a:t>
            </a:r>
            <a:endParaRPr lang="fr-FR" altLang="fr-FR" sz="1800"/>
          </a:p>
        </p:txBody>
      </p:sp>
      <p:sp>
        <p:nvSpPr>
          <p:cNvPr id="122886" name="Rectangle 5">
            <a:extLst>
              <a:ext uri="{FF2B5EF4-FFF2-40B4-BE49-F238E27FC236}">
                <a16:creationId xmlns="" xmlns:a16="http://schemas.microsoft.com/office/drawing/2014/main" id="{A399473F-ADD4-E58C-0DC5-E65359790498}"/>
              </a:ext>
            </a:extLst>
          </p:cNvPr>
          <p:cNvSpPr>
            <a:spLocks noChangeArrowheads="1"/>
          </p:cNvSpPr>
          <p:nvPr/>
        </p:nvSpPr>
        <p:spPr bwMode="auto">
          <a:xfrm>
            <a:off x="395288" y="2967038"/>
            <a:ext cx="45720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eaLnBrk="1" hangingPunct="1">
              <a:spcBef>
                <a:spcPct val="0"/>
              </a:spcBef>
              <a:buClrTx/>
              <a:buSzTx/>
              <a:buFontTx/>
              <a:buNone/>
            </a:pPr>
            <a:r>
              <a:rPr lang="fr-CA" altLang="fr-FR" sz="1800"/>
              <a:t>La seconde équipe, </a:t>
            </a:r>
            <a:r>
              <a:rPr lang="fr-CA" altLang="fr-FR" sz="1800" b="1"/>
              <a:t>l'équipe des ops</a:t>
            </a:r>
            <a:r>
              <a:rPr lang="fr-CA" altLang="fr-FR" sz="1800"/>
              <a:t>, a comme objectif de </a:t>
            </a:r>
            <a:r>
              <a:rPr lang="fr-CA" altLang="fr-FR" sz="1800" b="1"/>
              <a:t>maintenir l'application en conditions opérationnelles</a:t>
            </a:r>
            <a:endParaRPr lang="fr-FR" altLang="fr-FR" sz="1800"/>
          </a:p>
        </p:txBody>
      </p:sp>
      <p:sp>
        <p:nvSpPr>
          <p:cNvPr id="122887" name="Rectangle 6">
            <a:extLst>
              <a:ext uri="{FF2B5EF4-FFF2-40B4-BE49-F238E27FC236}">
                <a16:creationId xmlns="" xmlns:a16="http://schemas.microsoft.com/office/drawing/2014/main" id="{D8E86DB7-BD86-50DC-CBB1-94DB3BD7E8C5}"/>
              </a:ext>
            </a:extLst>
          </p:cNvPr>
          <p:cNvSpPr>
            <a:spLocks noChangeArrowheads="1"/>
          </p:cNvSpPr>
          <p:nvPr/>
        </p:nvSpPr>
        <p:spPr bwMode="auto">
          <a:xfrm>
            <a:off x="641763" y="4509120"/>
            <a:ext cx="6624637" cy="203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eaLnBrk="1" hangingPunct="1">
              <a:spcBef>
                <a:spcPct val="0"/>
              </a:spcBef>
              <a:buClrTx/>
              <a:buSzTx/>
              <a:buFontTx/>
              <a:buNone/>
            </a:pPr>
            <a:r>
              <a:rPr lang="fr-CA" sz="1800" dirty="0"/>
              <a:t>Un profil </a:t>
            </a:r>
            <a:r>
              <a:rPr lang="fr-CA" sz="1800" dirty="0" err="1"/>
              <a:t>DevOps</a:t>
            </a:r>
            <a:r>
              <a:rPr lang="fr-CA" sz="1800" dirty="0"/>
              <a:t> est un professionnel qui fait le lien entre le développement logiciel (</a:t>
            </a:r>
            <a:r>
              <a:rPr lang="fr-CA" sz="1800" dirty="0" err="1"/>
              <a:t>Dev</a:t>
            </a:r>
            <a:r>
              <a:rPr lang="fr-CA" sz="1800" dirty="0"/>
              <a:t>) et l’administration des systèmes (</a:t>
            </a:r>
            <a:r>
              <a:rPr lang="fr-CA" sz="1800" dirty="0" err="1"/>
              <a:t>Ops</a:t>
            </a:r>
            <a:r>
              <a:rPr lang="fr-CA" sz="1800" dirty="0"/>
              <a:t>) afin d’automatiser et de fiabiliser le déploiement des applications</a:t>
            </a:r>
            <a:r>
              <a:rPr lang="fr-CA" sz="1800" dirty="0" smtClean="0"/>
              <a:t>.</a:t>
            </a:r>
          </a:p>
          <a:p>
            <a:pPr eaLnBrk="1" hangingPunct="1">
              <a:spcBef>
                <a:spcPct val="0"/>
              </a:spcBef>
              <a:buClrTx/>
              <a:buSzTx/>
              <a:buFontTx/>
              <a:buNone/>
            </a:pPr>
            <a:r>
              <a:rPr lang="fr-CA" sz="1800" dirty="0" smtClean="0"/>
              <a:t>il </a:t>
            </a:r>
            <a:r>
              <a:rPr lang="fr-CA" sz="1800" dirty="0"/>
              <a:t>repose sur des outils et pratiques comme l’intégration continue (CI), le déploiement continu (CD), la surveillance, et l’automatisation.</a:t>
            </a:r>
            <a:endParaRPr lang="fr-FR" altLang="fr-FR" sz="1800" dirty="0"/>
          </a:p>
        </p:txBody>
      </p:sp>
    </p:spTree>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A67BAAF5-9FCA-A0C7-C02F-09F0A802AAE9}"/>
              </a:ext>
            </a:extLst>
          </p:cNvPr>
          <p:cNvSpPr>
            <a:spLocks noGrp="1"/>
          </p:cNvSpPr>
          <p:nvPr>
            <p:ph type="title"/>
          </p:nvPr>
        </p:nvSpPr>
        <p:spPr/>
        <p:txBody>
          <a:bodyPr/>
          <a:lstStyle/>
          <a:p>
            <a:pPr>
              <a:defRPr/>
            </a:pPr>
            <a:endParaRPr lang="fr-FR"/>
          </a:p>
        </p:txBody>
      </p:sp>
      <p:sp>
        <p:nvSpPr>
          <p:cNvPr id="3" name="Espace réservé du contenu 2">
            <a:extLst>
              <a:ext uri="{FF2B5EF4-FFF2-40B4-BE49-F238E27FC236}">
                <a16:creationId xmlns="" xmlns:a16="http://schemas.microsoft.com/office/drawing/2014/main" id="{37668B2E-FC7E-440F-2427-EE59C57DDB08}"/>
              </a:ext>
            </a:extLst>
          </p:cNvPr>
          <p:cNvSpPr>
            <a:spLocks noGrp="1"/>
          </p:cNvSpPr>
          <p:nvPr>
            <p:ph idx="1"/>
          </p:nvPr>
        </p:nvSpPr>
        <p:spPr/>
        <p:txBody>
          <a:bodyPr/>
          <a:lstStyle/>
          <a:p>
            <a:r>
              <a:rPr lang="fr-CA" b="1" u="sng" dirty="0"/>
              <a:t>Missions principales :</a:t>
            </a:r>
          </a:p>
          <a:p>
            <a:r>
              <a:rPr lang="fr-CA" dirty="0"/>
              <a:t>Automatiser les tests et les déploiements.</a:t>
            </a:r>
          </a:p>
          <a:p>
            <a:r>
              <a:rPr lang="fr-CA" dirty="0"/>
              <a:t>Gérer les infrastructures et les environnements.</a:t>
            </a:r>
          </a:p>
          <a:p>
            <a:r>
              <a:rPr lang="fr-CA" dirty="0"/>
              <a:t>Assurer la disponibilité, la sécurité et la performance des applications</a:t>
            </a:r>
            <a:r>
              <a:rPr lang="fr-CA" dirty="0" smtClean="0"/>
              <a:t>.</a:t>
            </a:r>
            <a:endParaRPr lang="fr-CA" b="1" dirty="0"/>
          </a:p>
          <a:p>
            <a:pPr>
              <a:buFont typeface="Arial" charset="0"/>
              <a:buChar char="•"/>
              <a:defRPr/>
            </a:pPr>
            <a:r>
              <a:rPr lang="fr-CA" dirty="0"/>
              <a:t>Les principaux avantages du </a:t>
            </a:r>
            <a:r>
              <a:rPr lang="fr-CA" dirty="0" err="1"/>
              <a:t>DevOps</a:t>
            </a:r>
            <a:r>
              <a:rPr lang="fr-CA" dirty="0"/>
              <a:t> sont :</a:t>
            </a:r>
          </a:p>
          <a:p>
            <a:pPr marL="0" indent="0">
              <a:buFont typeface="Arial" charset="0"/>
              <a:buNone/>
              <a:defRPr/>
            </a:pPr>
            <a:r>
              <a:rPr lang="fr-CA" dirty="0"/>
              <a:t>       -l'</a:t>
            </a:r>
            <a:r>
              <a:rPr lang="fr-CA" b="1" dirty="0"/>
              <a:t>accélération des déploiements</a:t>
            </a:r>
            <a:r>
              <a:rPr lang="fr-CA" dirty="0"/>
              <a:t> applicatifs ;</a:t>
            </a:r>
          </a:p>
          <a:p>
            <a:pPr marL="0" indent="0">
              <a:buFont typeface="Arial" charset="0"/>
              <a:buNone/>
              <a:defRPr/>
            </a:pPr>
            <a:r>
              <a:rPr lang="fr-CA" dirty="0"/>
              <a:t>      -la </a:t>
            </a:r>
            <a:r>
              <a:rPr lang="fr-CA" b="1" dirty="0"/>
              <a:t>réduction du Time-to-</a:t>
            </a:r>
            <a:r>
              <a:rPr lang="fr-CA" b="1" dirty="0" err="1"/>
              <a:t>Market</a:t>
            </a:r>
            <a:r>
              <a:rPr lang="fr-CA" dirty="0" smtClean="0"/>
              <a:t>.</a:t>
            </a:r>
            <a:endParaRPr lang="fr-CA" dirty="0"/>
          </a:p>
          <a:p>
            <a:pPr marL="0" indent="0">
              <a:buFont typeface="Arial" charset="0"/>
              <a:buNone/>
              <a:defRPr/>
            </a:pPr>
            <a:r>
              <a:rPr lang="fr-CA" dirty="0"/>
              <a:t>Le </a:t>
            </a:r>
            <a:r>
              <a:rPr lang="fr-CA" b="1" dirty="0"/>
              <a:t>Time-to-</a:t>
            </a:r>
            <a:r>
              <a:rPr lang="fr-CA" b="1" dirty="0" err="1"/>
              <a:t>Market</a:t>
            </a:r>
            <a:r>
              <a:rPr lang="fr-CA" dirty="0"/>
              <a:t> est le </a:t>
            </a:r>
            <a:r>
              <a:rPr lang="fr-CA" b="1" dirty="0"/>
              <a:t>temps d'arrivée d'une fonctionnalité sur le marché</a:t>
            </a:r>
            <a:r>
              <a:rPr lang="fr-CA" dirty="0"/>
              <a:t>, c'est-à-dire le temps entre le moment de décision de la création de cette fonctionnalité, et son arrivée sur le produit final en production.</a:t>
            </a:r>
          </a:p>
          <a:p>
            <a:pPr>
              <a:buFont typeface="Arial" charset="0"/>
              <a:buChar char="•"/>
              <a:defRPr/>
            </a:pPr>
            <a:endParaRPr lang="fr-FR" dirty="0"/>
          </a:p>
        </p:txBody>
      </p:sp>
      <p:sp>
        <p:nvSpPr>
          <p:cNvPr id="123908" name="Espace réservé du numéro de diapositive 3">
            <a:extLst>
              <a:ext uri="{FF2B5EF4-FFF2-40B4-BE49-F238E27FC236}">
                <a16:creationId xmlns="" xmlns:a16="http://schemas.microsoft.com/office/drawing/2014/main" id="{C6053A24-1723-9B3A-7D36-E40B8D3C654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9841A271-DD29-4072-92E4-ED19C475CE03}" type="slidenum">
              <a:rPr lang="fr-FR" altLang="fr-FR" sz="1400">
                <a:solidFill>
                  <a:srgbClr val="FFFFFF"/>
                </a:solidFill>
              </a:rPr>
              <a:pPr>
                <a:spcBef>
                  <a:spcPct val="0"/>
                </a:spcBef>
                <a:buClrTx/>
                <a:buSzTx/>
                <a:buFontTx/>
                <a:buNone/>
              </a:pPr>
              <a:t>150</a:t>
            </a:fld>
            <a:endParaRPr lang="fr-FR" altLang="fr-FR" sz="1400">
              <a:solidFill>
                <a:srgbClr val="FFFFFF"/>
              </a:solidFill>
            </a:endParaRPr>
          </a:p>
        </p:txBody>
      </p:sp>
    </p:spTree>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CA" dirty="0" err="1"/>
              <a:t>DevOps</a:t>
            </a:r>
            <a:r>
              <a:rPr lang="fr-CA" dirty="0"/>
              <a:t> dans le contexte </a:t>
            </a:r>
            <a:r>
              <a:rPr lang="fr-CA" dirty="0" err="1"/>
              <a:t>Scrum</a:t>
            </a:r>
            <a:r>
              <a:rPr lang="fr-CA" dirty="0"/>
              <a:t> / Agile</a:t>
            </a:r>
            <a:r>
              <a:rPr lang="fr-FR" dirty="0"/>
              <a:t/>
            </a:r>
            <a:br>
              <a:rPr lang="fr-FR" dirty="0"/>
            </a:br>
            <a:endParaRPr lang="fr-FR" dirty="0"/>
          </a:p>
        </p:txBody>
      </p:sp>
      <p:sp>
        <p:nvSpPr>
          <p:cNvPr id="3" name="Espace réservé du contenu 2"/>
          <p:cNvSpPr>
            <a:spLocks noGrp="1"/>
          </p:cNvSpPr>
          <p:nvPr>
            <p:ph idx="1"/>
          </p:nvPr>
        </p:nvSpPr>
        <p:spPr/>
        <p:txBody>
          <a:bodyPr/>
          <a:lstStyle/>
          <a:p>
            <a:r>
              <a:rPr lang="fr-CA" dirty="0"/>
              <a:t>🔄 </a:t>
            </a:r>
            <a:r>
              <a:rPr lang="fr-CA" b="1" dirty="0"/>
              <a:t>Automatiser les tests et déploiements</a:t>
            </a:r>
            <a:r>
              <a:rPr lang="fr-CA" dirty="0"/>
              <a:t> à la fin de chaque sprint (grâce </a:t>
            </a:r>
            <a:r>
              <a:rPr lang="fr-CA" dirty="0" smtClean="0"/>
              <a:t>à des </a:t>
            </a:r>
            <a:r>
              <a:rPr lang="fr-CA" dirty="0" err="1" smtClean="0"/>
              <a:t>pipline</a:t>
            </a:r>
            <a:r>
              <a:rPr lang="fr-CA" dirty="0" smtClean="0"/>
              <a:t> </a:t>
            </a:r>
            <a:r>
              <a:rPr lang="fr-CA" dirty="0"/>
              <a:t>CI/CD</a:t>
            </a:r>
            <a:r>
              <a:rPr lang="fr-CA" dirty="0" smtClean="0"/>
              <a:t>).</a:t>
            </a:r>
          </a:p>
          <a:p>
            <a:endParaRPr lang="fr-CA" dirty="0"/>
          </a:p>
          <a:p>
            <a:endParaRPr lang="fr-CA" dirty="0"/>
          </a:p>
          <a:p>
            <a:r>
              <a:rPr lang="fr-CA" dirty="0"/>
              <a:t>🚀 </a:t>
            </a:r>
            <a:r>
              <a:rPr lang="fr-CA" b="1" dirty="0"/>
              <a:t>Livrer rapidement</a:t>
            </a:r>
            <a:r>
              <a:rPr lang="fr-CA" dirty="0"/>
              <a:t> les incréments développés pendant le sprint vers les environnements de test ou de production.</a:t>
            </a:r>
          </a:p>
          <a:p>
            <a:r>
              <a:rPr lang="fr-CA" dirty="0"/>
              <a:t>🤝 </a:t>
            </a:r>
            <a:r>
              <a:rPr lang="fr-CA" b="1" dirty="0"/>
              <a:t>Assurer une collaboration continue</a:t>
            </a:r>
            <a:r>
              <a:rPr lang="fr-CA" dirty="0"/>
              <a:t> entre les développeurs, les testeurs et l’équipe d’exploitation, au lieu d’attendre la “fin du projet”.</a:t>
            </a:r>
          </a:p>
          <a:p>
            <a:endParaRPr lang="fr-FR" dirty="0"/>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151</a:t>
            </a:fld>
            <a:endParaRPr lang="fr-FR" altLang="fr-F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6215" y="2060848"/>
            <a:ext cx="2352675" cy="115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83693569"/>
      </p:ext>
    </p:extLst>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b="1" dirty="0"/>
              <a:t>En résumé</a:t>
            </a:r>
          </a:p>
        </p:txBody>
      </p:sp>
      <p:sp>
        <p:nvSpPr>
          <p:cNvPr id="3" name="Espace réservé du contenu 2"/>
          <p:cNvSpPr>
            <a:spLocks noGrp="1"/>
          </p:cNvSpPr>
          <p:nvPr>
            <p:ph idx="1"/>
          </p:nvPr>
        </p:nvSpPr>
        <p:spPr/>
        <p:txBody>
          <a:bodyPr/>
          <a:lstStyle/>
          <a:p>
            <a:r>
              <a:rPr lang="fr-CA" b="1" dirty="0" err="1"/>
              <a:t>Scrum</a:t>
            </a:r>
            <a:r>
              <a:rPr lang="fr-CA" dirty="0"/>
              <a:t> organise le </a:t>
            </a:r>
            <a:r>
              <a:rPr lang="fr-CA" b="1" dirty="0"/>
              <a:t>processus</a:t>
            </a:r>
            <a:r>
              <a:rPr lang="fr-CA" dirty="0"/>
              <a:t> de développement agile (planning, sprints, revues).</a:t>
            </a:r>
          </a:p>
          <a:p>
            <a:r>
              <a:rPr lang="fr-CA" b="1" dirty="0" err="1"/>
              <a:t>DevOps</a:t>
            </a:r>
            <a:r>
              <a:rPr lang="fr-CA" dirty="0"/>
              <a:t> fournit les </a:t>
            </a:r>
            <a:r>
              <a:rPr lang="fr-CA" b="1" dirty="0"/>
              <a:t>outils et pratiques techniques</a:t>
            </a:r>
            <a:r>
              <a:rPr lang="fr-CA" dirty="0"/>
              <a:t> pour que les livraisons à la fin de chaque sprint soient fluides, automatiques et fiables ,</a:t>
            </a:r>
          </a:p>
          <a:p>
            <a:endParaRPr lang="fr-CA" dirty="0"/>
          </a:p>
          <a:p>
            <a:r>
              <a:rPr lang="fr-CA" b="1" dirty="0" err="1"/>
              <a:t>Scrum</a:t>
            </a:r>
            <a:r>
              <a:rPr lang="fr-CA" b="1" dirty="0"/>
              <a:t> + </a:t>
            </a:r>
            <a:r>
              <a:rPr lang="fr-CA" b="1" dirty="0" err="1"/>
              <a:t>DevOps</a:t>
            </a:r>
            <a:r>
              <a:rPr lang="fr-CA" b="1" dirty="0"/>
              <a:t> = Agilité + Livraison continue</a:t>
            </a:r>
            <a:r>
              <a:rPr lang="fr-CA" dirty="0"/>
              <a:t>.</a:t>
            </a:r>
          </a:p>
          <a:p>
            <a:endParaRPr lang="fr-FR" dirty="0"/>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152</a:t>
            </a:fld>
            <a:endParaRPr lang="fr-FR" altLang="fr-FR"/>
          </a:p>
        </p:txBody>
      </p:sp>
    </p:spTree>
    <p:extLst>
      <p:ext uri="{BB962C8B-B14F-4D97-AF65-F5344CB8AC3E}">
        <p14:creationId xmlns:p14="http://schemas.microsoft.com/office/powerpoint/2010/main" val="852282765"/>
      </p:ext>
    </p:extLst>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CA" sz="3100" b="1" dirty="0"/>
              <a:t>Compétences principales d’un profil </a:t>
            </a:r>
            <a:r>
              <a:rPr lang="fr-CA" sz="3100" b="1" dirty="0" err="1"/>
              <a:t>DevOps</a:t>
            </a:r>
            <a:r>
              <a:rPr lang="fr-CA" b="1" dirty="0"/>
              <a:t/>
            </a:r>
            <a:br>
              <a:rPr lang="fr-CA" b="1" dirty="0"/>
            </a:br>
            <a:endParaRPr lang="fr-FR" dirty="0"/>
          </a:p>
        </p:txBody>
      </p:sp>
      <p:sp>
        <p:nvSpPr>
          <p:cNvPr id="3" name="Espace réservé du contenu 2"/>
          <p:cNvSpPr>
            <a:spLocks noGrp="1"/>
          </p:cNvSpPr>
          <p:nvPr>
            <p:ph idx="1"/>
          </p:nvPr>
        </p:nvSpPr>
        <p:spPr/>
        <p:txBody>
          <a:bodyPr/>
          <a:lstStyle/>
          <a:p>
            <a:r>
              <a:rPr lang="fr-CA" dirty="0"/>
              <a:t>Un bon profil </a:t>
            </a:r>
            <a:r>
              <a:rPr lang="fr-CA" dirty="0" err="1"/>
              <a:t>DevOps</a:t>
            </a:r>
            <a:r>
              <a:rPr lang="fr-CA" dirty="0"/>
              <a:t> maîtrise généralement :</a:t>
            </a:r>
          </a:p>
          <a:p>
            <a:r>
              <a:rPr lang="fr-CA" dirty="0"/>
              <a:t>🛠 </a:t>
            </a:r>
            <a:r>
              <a:rPr lang="fr-CA" b="1" dirty="0"/>
              <a:t>Outils de CI/CD</a:t>
            </a:r>
            <a:r>
              <a:rPr lang="fr-CA" dirty="0"/>
              <a:t> (ex. : </a:t>
            </a:r>
            <a:r>
              <a:rPr lang="fr-CA" dirty="0" err="1"/>
              <a:t>GitLab</a:t>
            </a:r>
            <a:r>
              <a:rPr lang="fr-CA" dirty="0"/>
              <a:t> CI, Jenkins, </a:t>
            </a:r>
            <a:r>
              <a:rPr lang="fr-CA" dirty="0" err="1"/>
              <a:t>GitHub</a:t>
            </a:r>
            <a:r>
              <a:rPr lang="fr-CA" dirty="0"/>
              <a:t> Actions…)</a:t>
            </a:r>
          </a:p>
          <a:p>
            <a:r>
              <a:rPr lang="fr-CA" dirty="0"/>
              <a:t>☁ </a:t>
            </a:r>
            <a:r>
              <a:rPr lang="fr-CA" b="1" dirty="0"/>
              <a:t>Environnements serveurs / </a:t>
            </a:r>
            <a:r>
              <a:rPr lang="fr-CA" b="1" dirty="0" err="1"/>
              <a:t>cloud</a:t>
            </a:r>
            <a:r>
              <a:rPr lang="fr-CA" dirty="0"/>
              <a:t> (Docker, </a:t>
            </a:r>
            <a:r>
              <a:rPr lang="fr-CA" dirty="0" err="1"/>
              <a:t>Kubernetes</a:t>
            </a:r>
            <a:r>
              <a:rPr lang="fr-CA" dirty="0"/>
              <a:t>, AWS, etc.)</a:t>
            </a:r>
          </a:p>
          <a:p>
            <a:r>
              <a:rPr lang="fr-CA" dirty="0"/>
              <a:t>🧪 </a:t>
            </a:r>
            <a:r>
              <a:rPr lang="fr-CA" b="1" dirty="0"/>
              <a:t>Automatisation</a:t>
            </a:r>
            <a:r>
              <a:rPr lang="fr-CA" dirty="0"/>
              <a:t> des tests et déploiements</a:t>
            </a:r>
          </a:p>
          <a:p>
            <a:r>
              <a:rPr lang="fr-CA" dirty="0"/>
              <a:t>🔐 </a:t>
            </a:r>
            <a:r>
              <a:rPr lang="fr-CA" b="1" dirty="0"/>
              <a:t>Sécurité et surveillance</a:t>
            </a:r>
            <a:r>
              <a:rPr lang="fr-CA" dirty="0"/>
              <a:t> des systèmes</a:t>
            </a:r>
          </a:p>
          <a:p>
            <a:r>
              <a:rPr lang="fr-CA" dirty="0"/>
              <a:t>📈 </a:t>
            </a:r>
            <a:r>
              <a:rPr lang="fr-CA" b="1" dirty="0"/>
              <a:t>Monitoring et gestion des performances</a:t>
            </a:r>
            <a:r>
              <a:rPr lang="fr-CA" dirty="0"/>
              <a:t> en production</a:t>
            </a:r>
          </a:p>
          <a:p>
            <a:r>
              <a:rPr lang="fr-CA" dirty="0"/>
              <a:t>🤝 </a:t>
            </a:r>
            <a:r>
              <a:rPr lang="fr-CA" b="1" dirty="0"/>
              <a:t>Collaboration étroite avec les équipes agiles</a:t>
            </a:r>
            <a:endParaRPr lang="fr-CA" dirty="0"/>
          </a:p>
          <a:p>
            <a:endParaRPr lang="fr-FR" dirty="0"/>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153</a:t>
            </a:fld>
            <a:endParaRPr lang="fr-FR" altLang="fr-FR"/>
          </a:p>
        </p:txBody>
      </p:sp>
    </p:spTree>
    <p:extLst>
      <p:ext uri="{BB962C8B-B14F-4D97-AF65-F5344CB8AC3E}">
        <p14:creationId xmlns:p14="http://schemas.microsoft.com/office/powerpoint/2010/main" val="3654606872"/>
      </p:ext>
    </p:extLst>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Espace réservé du numéro de diapositive 3">
            <a:extLst>
              <a:ext uri="{FF2B5EF4-FFF2-40B4-BE49-F238E27FC236}">
                <a16:creationId xmlns="" xmlns:a16="http://schemas.microsoft.com/office/drawing/2014/main" id="{2AB54B6E-D7B5-937E-2D90-12340E7BE1D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AB10368D-8658-40E7-B082-4D92D605452E}" type="slidenum">
              <a:rPr lang="fr-FR" altLang="fr-FR" sz="1400">
                <a:solidFill>
                  <a:srgbClr val="FFFFFF"/>
                </a:solidFill>
              </a:rPr>
              <a:pPr>
                <a:spcBef>
                  <a:spcPct val="0"/>
                </a:spcBef>
                <a:buClrTx/>
                <a:buSzTx/>
                <a:buFontTx/>
                <a:buNone/>
              </a:pPr>
              <a:t>154</a:t>
            </a:fld>
            <a:endParaRPr lang="fr-FR" altLang="fr-FR" sz="1400">
              <a:solidFill>
                <a:srgbClr val="FFFFFF"/>
              </a:solidFill>
            </a:endParaRPr>
          </a:p>
        </p:txBody>
      </p:sp>
      <p:pic>
        <p:nvPicPr>
          <p:cNvPr id="124931" name="Picture 2">
            <a:extLst>
              <a:ext uri="{FF2B5EF4-FFF2-40B4-BE49-F238E27FC236}">
                <a16:creationId xmlns="" xmlns:a16="http://schemas.microsoft.com/office/drawing/2014/main" id="{E3097198-AC1A-E33E-6390-0BE805C6B4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088" y="620713"/>
            <a:ext cx="6686550" cy="1276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4932" name="Picture 3">
            <a:extLst>
              <a:ext uri="{FF2B5EF4-FFF2-40B4-BE49-F238E27FC236}">
                <a16:creationId xmlns="" xmlns:a16="http://schemas.microsoft.com/office/drawing/2014/main" id="{69107E48-53BC-7BF9-D904-C777C10C31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2555875"/>
            <a:ext cx="4475162" cy="3878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C94FE9D3-FAFB-F402-5FF8-F369D2B77011}"/>
              </a:ext>
            </a:extLst>
          </p:cNvPr>
          <p:cNvSpPr>
            <a:spLocks noGrp="1"/>
          </p:cNvSpPr>
          <p:nvPr>
            <p:ph type="title"/>
          </p:nvPr>
        </p:nvSpPr>
        <p:spPr/>
        <p:txBody>
          <a:bodyPr/>
          <a:lstStyle/>
          <a:p>
            <a:pPr>
              <a:defRPr/>
            </a:pPr>
            <a:r>
              <a:rPr lang="fr-CA" dirty="0"/>
              <a:t>CI</a:t>
            </a:r>
            <a:endParaRPr lang="fr-FR" dirty="0"/>
          </a:p>
        </p:txBody>
      </p:sp>
      <p:sp>
        <p:nvSpPr>
          <p:cNvPr id="125955" name="Espace réservé du numéro de diapositive 3">
            <a:extLst>
              <a:ext uri="{FF2B5EF4-FFF2-40B4-BE49-F238E27FC236}">
                <a16:creationId xmlns="" xmlns:a16="http://schemas.microsoft.com/office/drawing/2014/main" id="{FAE305BC-180F-7740-EF25-DF8CB78D42F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511F43CF-D591-48DA-BE54-F1FC6D8D8BF2}" type="slidenum">
              <a:rPr lang="fr-FR" altLang="fr-FR" sz="1400">
                <a:solidFill>
                  <a:srgbClr val="FFFFFF"/>
                </a:solidFill>
              </a:rPr>
              <a:pPr>
                <a:spcBef>
                  <a:spcPct val="0"/>
                </a:spcBef>
                <a:buClrTx/>
                <a:buSzTx/>
                <a:buFontTx/>
                <a:buNone/>
              </a:pPr>
              <a:t>155</a:t>
            </a:fld>
            <a:endParaRPr lang="fr-FR" altLang="fr-FR" sz="1400">
              <a:solidFill>
                <a:srgbClr val="FFFFFF"/>
              </a:solidFill>
            </a:endParaRPr>
          </a:p>
        </p:txBody>
      </p:sp>
      <p:pic>
        <p:nvPicPr>
          <p:cNvPr id="125956" name="Picture 3">
            <a:extLst>
              <a:ext uri="{FF2B5EF4-FFF2-40B4-BE49-F238E27FC236}">
                <a16:creationId xmlns="" xmlns:a16="http://schemas.microsoft.com/office/drawing/2014/main" id="{F077CBDD-E380-B973-6275-EF6FBA5463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3" y="2060575"/>
            <a:ext cx="7207250" cy="405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5957" name="Picture 4">
            <a:extLst>
              <a:ext uri="{FF2B5EF4-FFF2-40B4-BE49-F238E27FC236}">
                <a16:creationId xmlns="" xmlns:a16="http://schemas.microsoft.com/office/drawing/2014/main" id="{3ABE07C2-A05C-B539-D4C9-8BD904E675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1484313"/>
            <a:ext cx="1628775" cy="1495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5958" name="Picture 3">
            <a:extLst>
              <a:ext uri="{FF2B5EF4-FFF2-40B4-BE49-F238E27FC236}">
                <a16:creationId xmlns="" xmlns:a16="http://schemas.microsoft.com/office/drawing/2014/main" id="{31B13F59-A1A6-3D71-32C8-963620AC33C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8488" y="4048125"/>
            <a:ext cx="795337" cy="312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1B2991A7-EBAE-E176-5666-9835583581EF}"/>
              </a:ext>
            </a:extLst>
          </p:cNvPr>
          <p:cNvSpPr>
            <a:spLocks noGrp="1"/>
          </p:cNvSpPr>
          <p:nvPr>
            <p:ph type="title"/>
          </p:nvPr>
        </p:nvSpPr>
        <p:spPr/>
        <p:txBody>
          <a:bodyPr/>
          <a:lstStyle/>
          <a:p>
            <a:pPr>
              <a:defRPr/>
            </a:pPr>
            <a:r>
              <a:rPr lang="fr-CA" dirty="0"/>
              <a:t>CI</a:t>
            </a:r>
            <a:endParaRPr lang="fr-FR" dirty="0"/>
          </a:p>
        </p:txBody>
      </p:sp>
      <p:sp>
        <p:nvSpPr>
          <p:cNvPr id="126979" name="Espace réservé du contenu 2">
            <a:extLst>
              <a:ext uri="{FF2B5EF4-FFF2-40B4-BE49-F238E27FC236}">
                <a16:creationId xmlns="" xmlns:a16="http://schemas.microsoft.com/office/drawing/2014/main" id="{CF044369-5805-887C-DF9A-F1282270A45A}"/>
              </a:ext>
            </a:extLst>
          </p:cNvPr>
          <p:cNvSpPr>
            <a:spLocks noGrp="1"/>
          </p:cNvSpPr>
          <p:nvPr>
            <p:ph idx="1"/>
          </p:nvPr>
        </p:nvSpPr>
        <p:spPr/>
        <p:txBody>
          <a:bodyPr/>
          <a:lstStyle/>
          <a:p>
            <a:r>
              <a:rPr lang="fr-CA" altLang="fr-FR" i="1" dirty="0"/>
              <a:t>L'intégration continue est un ensemble de pratiques utilisées en génie logiciel consistant à vérifier à chaque modification de code source que le résultat des modifications ne produit pas de régression dans l'application développée.</a:t>
            </a:r>
          </a:p>
          <a:p>
            <a:endParaRPr lang="fr-CA" altLang="fr-FR" i="1" dirty="0"/>
          </a:p>
          <a:p>
            <a:r>
              <a:rPr lang="fr-CA" altLang="fr-FR" b="1" dirty="0"/>
              <a:t>En gros c’est un programme (ensemble de scripts) qui va s'exécuter régulièrement (souvent à chaque fois que tu commit / push du code).</a:t>
            </a:r>
            <a:endParaRPr lang="fr-FR" altLang="fr-FR" dirty="0"/>
          </a:p>
        </p:txBody>
      </p:sp>
      <p:sp>
        <p:nvSpPr>
          <p:cNvPr id="126980" name="Espace réservé du numéro de diapositive 3">
            <a:extLst>
              <a:ext uri="{FF2B5EF4-FFF2-40B4-BE49-F238E27FC236}">
                <a16:creationId xmlns="" xmlns:a16="http://schemas.microsoft.com/office/drawing/2014/main" id="{CD1D5612-603F-54BE-F97C-376505AF15C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8A715A19-186A-4134-9695-E48B0BA10EA8}" type="slidenum">
              <a:rPr lang="fr-FR" altLang="fr-FR" sz="1400">
                <a:solidFill>
                  <a:srgbClr val="FFFFFF"/>
                </a:solidFill>
              </a:rPr>
              <a:pPr>
                <a:spcBef>
                  <a:spcPct val="0"/>
                </a:spcBef>
                <a:buClrTx/>
                <a:buSzTx/>
                <a:buFontTx/>
                <a:buNone/>
              </a:pPr>
              <a:t>156</a:t>
            </a:fld>
            <a:endParaRPr lang="fr-FR" altLang="fr-FR" sz="1400">
              <a:solidFill>
                <a:srgbClr val="FFFFFF"/>
              </a:solidFill>
            </a:endParaRPr>
          </a:p>
        </p:txBody>
      </p:sp>
    </p:spTree>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488D56A8-8761-7057-A7E3-8D0B59208403}"/>
              </a:ext>
            </a:extLst>
          </p:cNvPr>
          <p:cNvSpPr>
            <a:spLocks noGrp="1"/>
          </p:cNvSpPr>
          <p:nvPr>
            <p:ph type="title"/>
          </p:nvPr>
        </p:nvSpPr>
        <p:spPr/>
        <p:txBody>
          <a:bodyPr/>
          <a:lstStyle/>
          <a:p>
            <a:pPr>
              <a:defRPr/>
            </a:pPr>
            <a:r>
              <a:rPr lang="fr-FR" dirty="0"/>
              <a:t>Exemple de pipeline CI</a:t>
            </a:r>
          </a:p>
        </p:txBody>
      </p:sp>
      <p:sp>
        <p:nvSpPr>
          <p:cNvPr id="128004" name="Espace réservé du numéro de diapositive 3">
            <a:extLst>
              <a:ext uri="{FF2B5EF4-FFF2-40B4-BE49-F238E27FC236}">
                <a16:creationId xmlns="" xmlns:a16="http://schemas.microsoft.com/office/drawing/2014/main" id="{D0B858C3-5D33-B783-8041-D74C4D60A4E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BA05D24B-085C-4B5B-8C3D-C6A6D2FBC359}" type="slidenum">
              <a:rPr lang="fr-FR" altLang="fr-FR" sz="1400">
                <a:solidFill>
                  <a:srgbClr val="FFFFFF"/>
                </a:solidFill>
              </a:rPr>
              <a:pPr>
                <a:spcBef>
                  <a:spcPct val="0"/>
                </a:spcBef>
                <a:buClrTx/>
                <a:buSzTx/>
                <a:buFontTx/>
                <a:buNone/>
              </a:pPr>
              <a:t>157</a:t>
            </a:fld>
            <a:endParaRPr lang="fr-FR" altLang="fr-FR" sz="1400">
              <a:solidFill>
                <a:srgbClr val="FFFFFF"/>
              </a:solidFill>
            </a:endParaRPr>
          </a:p>
        </p:txBody>
      </p:sp>
      <p:pic>
        <p:nvPicPr>
          <p:cNvPr id="51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988840"/>
            <a:ext cx="7848872" cy="37444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E7C55A12-1E2C-5F05-953F-6C18BBE8AC28}"/>
              </a:ext>
            </a:extLst>
          </p:cNvPr>
          <p:cNvSpPr>
            <a:spLocks noGrp="1"/>
          </p:cNvSpPr>
          <p:nvPr>
            <p:ph type="title"/>
          </p:nvPr>
        </p:nvSpPr>
        <p:spPr/>
        <p:txBody>
          <a:bodyPr/>
          <a:lstStyle/>
          <a:p>
            <a:pPr>
              <a:defRPr/>
            </a:pPr>
            <a:r>
              <a:rPr lang="fr-CA" dirty="0"/>
              <a:t>CD</a:t>
            </a:r>
            <a:endParaRPr lang="fr-FR" dirty="0"/>
          </a:p>
        </p:txBody>
      </p:sp>
      <p:sp>
        <p:nvSpPr>
          <p:cNvPr id="129027" name="Espace réservé du numéro de diapositive 3">
            <a:extLst>
              <a:ext uri="{FF2B5EF4-FFF2-40B4-BE49-F238E27FC236}">
                <a16:creationId xmlns="" xmlns:a16="http://schemas.microsoft.com/office/drawing/2014/main" id="{943651E9-0E65-A255-F244-810148C7A8F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C7AA25A6-0B8B-4A51-9209-487785159AA3}" type="slidenum">
              <a:rPr lang="fr-FR" altLang="fr-FR" sz="1400">
                <a:solidFill>
                  <a:srgbClr val="FFFFFF"/>
                </a:solidFill>
              </a:rPr>
              <a:pPr>
                <a:spcBef>
                  <a:spcPct val="0"/>
                </a:spcBef>
                <a:buClrTx/>
                <a:buSzTx/>
                <a:buFontTx/>
                <a:buNone/>
              </a:pPr>
              <a:t>158</a:t>
            </a:fld>
            <a:endParaRPr lang="fr-FR" altLang="fr-FR" sz="1400">
              <a:solidFill>
                <a:srgbClr val="FFFFFF"/>
              </a:solidFill>
            </a:endParaRPr>
          </a:p>
        </p:txBody>
      </p:sp>
      <p:pic>
        <p:nvPicPr>
          <p:cNvPr id="129028" name="Picture 2">
            <a:extLst>
              <a:ext uri="{FF2B5EF4-FFF2-40B4-BE49-F238E27FC236}">
                <a16:creationId xmlns="" xmlns:a16="http://schemas.microsoft.com/office/drawing/2014/main" id="{CD847C8B-D4E8-5A9D-AEF6-56C3653E2E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1811338"/>
            <a:ext cx="7499350" cy="433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9029" name="Picture 4">
            <a:extLst>
              <a:ext uri="{FF2B5EF4-FFF2-40B4-BE49-F238E27FC236}">
                <a16:creationId xmlns="" xmlns:a16="http://schemas.microsoft.com/office/drawing/2014/main" id="{E8F2800D-46A5-D415-6921-A2615FE1A3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450" y="2205038"/>
            <a:ext cx="1081088" cy="992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9030" name="Picture 3">
            <a:extLst>
              <a:ext uri="{FF2B5EF4-FFF2-40B4-BE49-F238E27FC236}">
                <a16:creationId xmlns="" xmlns:a16="http://schemas.microsoft.com/office/drawing/2014/main" id="{BA27698B-F138-6EFD-12A5-998804315EB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3975100"/>
            <a:ext cx="795338" cy="314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CAC33EB1-0BAB-7C8B-B1D1-FB3DB8436F0B}"/>
              </a:ext>
            </a:extLst>
          </p:cNvPr>
          <p:cNvSpPr>
            <a:spLocks noGrp="1"/>
          </p:cNvSpPr>
          <p:nvPr>
            <p:ph type="title"/>
          </p:nvPr>
        </p:nvSpPr>
        <p:spPr/>
        <p:txBody>
          <a:bodyPr/>
          <a:lstStyle/>
          <a:p>
            <a:pPr>
              <a:defRPr/>
            </a:pPr>
            <a:r>
              <a:rPr lang="fr-FR" dirty="0"/>
              <a:t>CD</a:t>
            </a:r>
          </a:p>
        </p:txBody>
      </p:sp>
      <p:sp>
        <p:nvSpPr>
          <p:cNvPr id="130051" name="Espace réservé du contenu 2">
            <a:extLst>
              <a:ext uri="{FF2B5EF4-FFF2-40B4-BE49-F238E27FC236}">
                <a16:creationId xmlns="" xmlns:a16="http://schemas.microsoft.com/office/drawing/2014/main" id="{3768EEEE-A723-C172-E2F1-6FC47857CB6A}"/>
              </a:ext>
            </a:extLst>
          </p:cNvPr>
          <p:cNvSpPr>
            <a:spLocks noGrp="1"/>
          </p:cNvSpPr>
          <p:nvPr>
            <p:ph idx="1"/>
          </p:nvPr>
        </p:nvSpPr>
        <p:spPr/>
        <p:txBody>
          <a:bodyPr/>
          <a:lstStyle/>
          <a:p>
            <a:r>
              <a:rPr lang="fr-CA" sz="1800" b="1" dirty="0"/>
              <a:t>La livraison/déploiement continu (CD)</a:t>
            </a:r>
            <a:r>
              <a:rPr lang="fr-CA" sz="1800" dirty="0"/>
              <a:t> est un ensemble de pratiques visant à </a:t>
            </a:r>
            <a:r>
              <a:rPr lang="fr-CA" sz="1800" b="1" dirty="0"/>
              <a:t>automatiser la mise à disposition ou le déploiement du code validé</a:t>
            </a:r>
            <a:r>
              <a:rPr lang="fr-CA" sz="1800" dirty="0"/>
              <a:t> vers des environnements de </a:t>
            </a:r>
            <a:r>
              <a:rPr lang="fr-CA" sz="1800" dirty="0" err="1"/>
              <a:t>préproduction</a:t>
            </a:r>
            <a:r>
              <a:rPr lang="fr-CA" sz="1800" dirty="0"/>
              <a:t> ou de production, afin de garantir que chaque modification pouvant être livrée passe rapidement et de manière fiable du développement à l’utilisateur final.</a:t>
            </a:r>
            <a:endParaRPr lang="fr-FR" altLang="fr-FR" sz="1800" dirty="0"/>
          </a:p>
        </p:txBody>
      </p:sp>
      <p:sp>
        <p:nvSpPr>
          <p:cNvPr id="130052" name="Espace réservé du numéro de diapositive 3">
            <a:extLst>
              <a:ext uri="{FF2B5EF4-FFF2-40B4-BE49-F238E27FC236}">
                <a16:creationId xmlns="" xmlns:a16="http://schemas.microsoft.com/office/drawing/2014/main" id="{57EF0757-3F15-CC25-6B25-AB414FFB3FE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A09FADAE-F34B-4254-A863-0D8964593048}" type="slidenum">
              <a:rPr lang="fr-FR" altLang="fr-FR" sz="1400">
                <a:solidFill>
                  <a:srgbClr val="FFFFFF"/>
                </a:solidFill>
              </a:rPr>
              <a:pPr>
                <a:spcBef>
                  <a:spcPct val="0"/>
                </a:spcBef>
                <a:buClrTx/>
                <a:buSzTx/>
                <a:buFontTx/>
                <a:buNone/>
              </a:pPr>
              <a:t>159</a:t>
            </a:fld>
            <a:endParaRPr lang="fr-FR" altLang="fr-FR" sz="1400">
              <a:solidFill>
                <a:srgbClr val="FFFFFF"/>
              </a:solidFill>
            </a:endParaRPr>
          </a:p>
        </p:txBody>
      </p:sp>
    </p:spTree>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Exemple de pipeline CD</a:t>
            </a:r>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160</a:t>
            </a:fld>
            <a:endParaRPr lang="fr-FR" altLang="fr-F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 y="1844824"/>
            <a:ext cx="9086850" cy="33662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9734132"/>
      </p:ext>
    </p:extLst>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CA" b="1" dirty="0"/>
              <a:t>En résumé</a:t>
            </a:r>
            <a:r>
              <a:rPr lang="fr-CA" dirty="0"/>
              <a:t> :</a:t>
            </a:r>
            <a:br>
              <a:rPr lang="fr-CA" dirty="0"/>
            </a:br>
            <a:endParaRPr lang="fr-FR" dirty="0"/>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161</a:t>
            </a:fld>
            <a:endParaRPr lang="fr-FR" altLang="fr-F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1844824"/>
            <a:ext cx="8568952" cy="3024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59135177"/>
      </p:ext>
    </p:extLst>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1556792"/>
            <a:ext cx="8229600" cy="4104456"/>
          </a:xfrm>
        </p:spPr>
        <p:txBody>
          <a:bodyPr>
            <a:normAutofit/>
          </a:bodyPr>
          <a:lstStyle/>
          <a:p>
            <a:r>
              <a:rPr lang="fr-FR" dirty="0"/>
              <a:t>automatisation CI/CD</a:t>
            </a:r>
            <a:br>
              <a:rPr lang="fr-FR" dirty="0"/>
            </a:br>
            <a:endParaRPr lang="fr-FR" dirty="0"/>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162</a:t>
            </a:fld>
            <a:endParaRPr lang="fr-FR" altLang="fr-FR"/>
          </a:p>
        </p:txBody>
      </p:sp>
    </p:spTree>
    <p:extLst>
      <p:ext uri="{BB962C8B-B14F-4D97-AF65-F5344CB8AC3E}">
        <p14:creationId xmlns:p14="http://schemas.microsoft.com/office/powerpoint/2010/main" val="1715435974"/>
      </p:ext>
    </p:extLst>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Jenkins</a:t>
            </a:r>
            <a:endParaRPr lang="fr-FR" dirty="0"/>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163</a:t>
            </a:fld>
            <a:endParaRPr lang="fr-FR" altLang="fr-FR"/>
          </a:p>
        </p:txBody>
      </p:sp>
      <p:sp>
        <p:nvSpPr>
          <p:cNvPr id="5" name="Rectangle 4"/>
          <p:cNvSpPr/>
          <p:nvPr/>
        </p:nvSpPr>
        <p:spPr>
          <a:xfrm>
            <a:off x="611560" y="1700808"/>
            <a:ext cx="7128792" cy="369332"/>
          </a:xfrm>
          <a:prstGeom prst="rect">
            <a:avLst/>
          </a:prstGeom>
        </p:spPr>
        <p:txBody>
          <a:bodyPr wrap="square">
            <a:spAutoFit/>
          </a:bodyPr>
          <a:lstStyle/>
          <a:p>
            <a:r>
              <a:rPr lang="fr-CA" dirty="0"/>
              <a:t>Techniquement, Jenkins est un serveur d'automatisation</a:t>
            </a:r>
            <a:endParaRPr lang="fr-FR" dirty="0"/>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732" y="2070140"/>
            <a:ext cx="7985732" cy="2438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5888604"/>
      </p:ext>
    </p:extLst>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164</a:t>
            </a:fld>
            <a:endParaRPr lang="fr-FR" altLang="fr-FR"/>
          </a:p>
        </p:txBody>
      </p:sp>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1340768"/>
            <a:ext cx="7848872" cy="53285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re 1">
            <a:extLst>
              <a:ext uri="{FF2B5EF4-FFF2-40B4-BE49-F238E27FC236}">
                <a16:creationId xmlns="" xmlns:a16="http://schemas.microsoft.com/office/drawing/2014/main" id="{CAC33EB1-0BAB-7C8B-B1D1-FB3DB8436F0B}"/>
              </a:ext>
            </a:extLst>
          </p:cNvPr>
          <p:cNvSpPr>
            <a:spLocks noGrp="1"/>
          </p:cNvSpPr>
          <p:nvPr>
            <p:ph type="title"/>
          </p:nvPr>
        </p:nvSpPr>
        <p:spPr>
          <a:xfrm>
            <a:off x="457200" y="533400"/>
            <a:ext cx="8229600" cy="990600"/>
          </a:xfrm>
        </p:spPr>
        <p:txBody>
          <a:bodyPr>
            <a:normAutofit fontScale="90000"/>
          </a:bodyPr>
          <a:lstStyle/>
          <a:p>
            <a:pPr>
              <a:defRPr/>
            </a:pPr>
            <a:r>
              <a:rPr lang="fr-FR" dirty="0" smtClean="0"/>
              <a:t>Exemple 1 :Sprint quick annonces V1 </a:t>
            </a:r>
            <a:r>
              <a:rPr lang="fr-FR" dirty="0" err="1" smtClean="0"/>
              <a:t>static</a:t>
            </a:r>
            <a:r>
              <a:rPr lang="fr-FR" dirty="0" smtClean="0"/>
              <a:t> sur </a:t>
            </a:r>
            <a:r>
              <a:rPr lang="fr-FR" dirty="0" err="1" smtClean="0"/>
              <a:t>vercel</a:t>
            </a:r>
            <a:endParaRPr lang="fr-FR" dirty="0"/>
          </a:p>
        </p:txBody>
      </p:sp>
    </p:spTree>
    <p:extLst>
      <p:ext uri="{BB962C8B-B14F-4D97-AF65-F5344CB8AC3E}">
        <p14:creationId xmlns:p14="http://schemas.microsoft.com/office/powerpoint/2010/main" val="1510504914"/>
      </p:ext>
    </p:extLst>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Exemple </a:t>
            </a:r>
            <a:r>
              <a:rPr lang="fr-FR" dirty="0" smtClean="0"/>
              <a:t>2 </a:t>
            </a:r>
            <a:r>
              <a:rPr lang="fr-FR" dirty="0"/>
              <a:t>:Sprint quick annonces V1 </a:t>
            </a:r>
            <a:r>
              <a:rPr lang="fr-FR" dirty="0" err="1"/>
              <a:t>static</a:t>
            </a:r>
            <a:r>
              <a:rPr lang="fr-FR" dirty="0"/>
              <a:t> sur </a:t>
            </a:r>
            <a:r>
              <a:rPr lang="fr-FR" dirty="0" err="1" smtClean="0"/>
              <a:t>GitLab</a:t>
            </a:r>
            <a:r>
              <a:rPr lang="fr-FR" dirty="0" smtClean="0"/>
              <a:t> pages</a:t>
            </a:r>
            <a:endParaRPr lang="fr-FR" dirty="0"/>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165</a:t>
            </a:fld>
            <a:endParaRPr lang="fr-FR" altLang="fr-F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616" y="2276872"/>
            <a:ext cx="6629400" cy="3676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39976201"/>
      </p:ext>
    </p:extLst>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CA" dirty="0"/>
              <a:t>Pipeline CI/CD </a:t>
            </a:r>
            <a:r>
              <a:rPr lang="fr-CA" dirty="0" err="1"/>
              <a:t>GitLab</a:t>
            </a:r>
            <a:r>
              <a:rPr lang="fr-CA" dirty="0"/>
              <a:t> pour le </a:t>
            </a:r>
            <a:r>
              <a:rPr lang="fr-CA" dirty="0" err="1"/>
              <a:t>Hosting</a:t>
            </a:r>
            <a:r>
              <a:rPr lang="fr-CA" dirty="0"/>
              <a:t> de Pages Web Statiques</a:t>
            </a:r>
            <a:endParaRPr lang="fr-FR" dirty="0"/>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166</a:t>
            </a:fld>
            <a:endParaRPr lang="fr-FR" altLang="fr-FR"/>
          </a:p>
        </p:txBody>
      </p:sp>
      <p:sp>
        <p:nvSpPr>
          <p:cNvPr id="5" name="Rectangle 4"/>
          <p:cNvSpPr/>
          <p:nvPr/>
        </p:nvSpPr>
        <p:spPr>
          <a:xfrm>
            <a:off x="1941775" y="2996952"/>
            <a:ext cx="4572000" cy="3108543"/>
          </a:xfrm>
          <a:prstGeom prst="rect">
            <a:avLst/>
          </a:prstGeom>
          <a:ln w="12700">
            <a:solidFill>
              <a:schemeClr val="tx1"/>
            </a:solidFill>
          </a:ln>
        </p:spPr>
        <p:txBody>
          <a:bodyPr>
            <a:spAutoFit/>
          </a:bodyPr>
          <a:lstStyle/>
          <a:p>
            <a:endParaRPr lang="fr-FR" sz="1400" dirty="0"/>
          </a:p>
          <a:p>
            <a:r>
              <a:rPr lang="fr-FR" sz="1400" dirty="0"/>
              <a:t>stages:</a:t>
            </a:r>
          </a:p>
          <a:p>
            <a:r>
              <a:rPr lang="fr-FR" sz="1400" dirty="0"/>
              <a:t>  - </a:t>
            </a:r>
            <a:r>
              <a:rPr lang="fr-FR" sz="1400" dirty="0" err="1"/>
              <a:t>deploy</a:t>
            </a:r>
            <a:endParaRPr lang="fr-FR" sz="1400" dirty="0"/>
          </a:p>
          <a:p>
            <a:endParaRPr lang="fr-FR" sz="1400" dirty="0"/>
          </a:p>
          <a:p>
            <a:r>
              <a:rPr lang="fr-FR" sz="1400" dirty="0" err="1"/>
              <a:t>deploy</a:t>
            </a:r>
            <a:r>
              <a:rPr lang="fr-FR" sz="1400" dirty="0"/>
              <a:t>-pages:</a:t>
            </a:r>
          </a:p>
          <a:p>
            <a:r>
              <a:rPr lang="fr-FR" sz="1400" dirty="0"/>
              <a:t>  stage: </a:t>
            </a:r>
            <a:r>
              <a:rPr lang="fr-FR" sz="1400" dirty="0" err="1"/>
              <a:t>deploy</a:t>
            </a:r>
            <a:endParaRPr lang="fr-FR" sz="1400" dirty="0"/>
          </a:p>
          <a:p>
            <a:r>
              <a:rPr lang="fr-FR" sz="1400" dirty="0"/>
              <a:t>  script:</a:t>
            </a:r>
          </a:p>
          <a:p>
            <a:r>
              <a:rPr lang="fr-FR" sz="1400" dirty="0"/>
              <a:t>    - </a:t>
            </a:r>
            <a:r>
              <a:rPr lang="fr-FR" sz="1400" dirty="0" err="1"/>
              <a:t>mkdir</a:t>
            </a:r>
            <a:r>
              <a:rPr lang="fr-FR" sz="1400" dirty="0"/>
              <a:t> -p public</a:t>
            </a:r>
          </a:p>
          <a:p>
            <a:r>
              <a:rPr lang="fr-FR" sz="1400" dirty="0"/>
              <a:t>    - </a:t>
            </a:r>
            <a:r>
              <a:rPr lang="fr-FR" sz="1400" dirty="0" err="1"/>
              <a:t>cp</a:t>
            </a:r>
            <a:r>
              <a:rPr lang="fr-FR" sz="1400" dirty="0"/>
              <a:t> -r *.html public/</a:t>
            </a:r>
          </a:p>
          <a:p>
            <a:r>
              <a:rPr lang="fr-FR" sz="1400" dirty="0"/>
              <a:t>    - </a:t>
            </a:r>
            <a:r>
              <a:rPr lang="fr-FR" sz="1400" dirty="0" err="1"/>
              <a:t>cp</a:t>
            </a:r>
            <a:r>
              <a:rPr lang="fr-FR" sz="1400" dirty="0"/>
              <a:t> -r </a:t>
            </a:r>
            <a:r>
              <a:rPr lang="fr-FR" sz="1400" dirty="0" err="1"/>
              <a:t>css</a:t>
            </a:r>
            <a:r>
              <a:rPr lang="fr-FR" sz="1400" dirty="0"/>
              <a:t> </a:t>
            </a:r>
            <a:r>
              <a:rPr lang="fr-FR" sz="1400" dirty="0" err="1"/>
              <a:t>js</a:t>
            </a:r>
            <a:r>
              <a:rPr lang="fr-FR" sz="1400" dirty="0"/>
              <a:t> images </a:t>
            </a:r>
            <a:r>
              <a:rPr lang="fr-FR" sz="1400" dirty="0" err="1"/>
              <a:t>assets</a:t>
            </a:r>
            <a:r>
              <a:rPr lang="fr-FR" sz="1400" dirty="0"/>
              <a:t> public/ 2&gt;/</a:t>
            </a:r>
            <a:r>
              <a:rPr lang="fr-FR" sz="1400" dirty="0" err="1"/>
              <a:t>dev</a:t>
            </a:r>
            <a:r>
              <a:rPr lang="fr-FR" sz="1400" dirty="0"/>
              <a:t>/</a:t>
            </a:r>
            <a:r>
              <a:rPr lang="fr-FR" sz="1400" dirty="0" err="1"/>
              <a:t>null</a:t>
            </a:r>
            <a:r>
              <a:rPr lang="fr-FR" sz="1400" dirty="0"/>
              <a:t> || </a:t>
            </a:r>
            <a:r>
              <a:rPr lang="fr-FR" sz="1400" dirty="0" err="1"/>
              <a:t>true</a:t>
            </a:r>
            <a:endParaRPr lang="fr-FR" sz="1400" dirty="0"/>
          </a:p>
          <a:p>
            <a:r>
              <a:rPr lang="fr-FR" sz="1400" dirty="0"/>
              <a:t>  pages:</a:t>
            </a:r>
          </a:p>
          <a:p>
            <a:r>
              <a:rPr lang="fr-FR" sz="1400" dirty="0"/>
              <a:t>    </a:t>
            </a:r>
            <a:r>
              <a:rPr lang="fr-FR" sz="1400" dirty="0" err="1"/>
              <a:t>publish</a:t>
            </a:r>
            <a:r>
              <a:rPr lang="fr-FR" sz="1400" dirty="0"/>
              <a:t>: public</a:t>
            </a:r>
          </a:p>
          <a:p>
            <a:r>
              <a:rPr lang="fr-FR" sz="1400" dirty="0"/>
              <a:t>  </a:t>
            </a:r>
            <a:r>
              <a:rPr lang="fr-FR" sz="1400" dirty="0" err="1"/>
              <a:t>rules</a:t>
            </a:r>
            <a:r>
              <a:rPr lang="fr-FR" sz="1400" dirty="0"/>
              <a:t>:</a:t>
            </a:r>
          </a:p>
          <a:p>
            <a:r>
              <a:rPr lang="fr-FR" sz="1400" dirty="0"/>
              <a:t>    - if: '$CI_COMMIT_BRANCH == "main"'</a:t>
            </a: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556792"/>
            <a:ext cx="7534275" cy="1352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94777424"/>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533400"/>
            <a:ext cx="8229600" cy="663352"/>
          </a:xfrm>
        </p:spPr>
        <p:txBody>
          <a:bodyPr>
            <a:normAutofit fontScale="90000"/>
          </a:bodyPr>
          <a:lstStyle/>
          <a:p>
            <a:r>
              <a:rPr lang="fr-FR" dirty="0" smtClean="0"/>
              <a:t>Exemple avec test : </a:t>
            </a:r>
            <a:endParaRPr lang="fr-FR" dirty="0"/>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167</a:t>
            </a:fld>
            <a:endParaRPr lang="fr-FR" altLang="fr-F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6647" y="1196752"/>
            <a:ext cx="7724775" cy="551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7704" y="2132856"/>
            <a:ext cx="2981325" cy="285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7704" y="2403070"/>
            <a:ext cx="1971675"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29057991"/>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168</a:t>
            </a:fld>
            <a:endParaRPr lang="fr-FR" altLang="fr-F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1071563"/>
            <a:ext cx="7734300" cy="4714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73504593"/>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FB233ED8-835B-403E-A9AA-E047BCA480FA}"/>
              </a:ext>
            </a:extLst>
          </p:cNvPr>
          <p:cNvSpPr>
            <a:spLocks noGrp="1"/>
          </p:cNvSpPr>
          <p:nvPr>
            <p:ph type="title"/>
          </p:nvPr>
        </p:nvSpPr>
        <p:spPr/>
        <p:txBody>
          <a:bodyPr/>
          <a:lstStyle/>
          <a:p>
            <a:pPr>
              <a:defRPr/>
            </a:pPr>
            <a:r>
              <a:rPr lang="fr-CA" dirty="0"/>
              <a:t>Exemple </a:t>
            </a:r>
            <a:r>
              <a:rPr lang="fr-CA" dirty="0" err="1"/>
              <a:t>GitLab</a:t>
            </a:r>
            <a:r>
              <a:rPr lang="fr-CA" dirty="0"/>
              <a:t> (web </a:t>
            </a:r>
            <a:r>
              <a:rPr lang="fr-CA" dirty="0" err="1"/>
              <a:t>hosting</a:t>
            </a:r>
            <a:r>
              <a:rPr lang="fr-CA" dirty="0"/>
              <a:t>)</a:t>
            </a:r>
            <a:endParaRPr lang="fr-FR" dirty="0"/>
          </a:p>
        </p:txBody>
      </p:sp>
      <p:sp>
        <p:nvSpPr>
          <p:cNvPr id="131075" name="Espace réservé du contenu 2">
            <a:extLst>
              <a:ext uri="{FF2B5EF4-FFF2-40B4-BE49-F238E27FC236}">
                <a16:creationId xmlns="" xmlns:a16="http://schemas.microsoft.com/office/drawing/2014/main" id="{A264A7D6-9F32-3AC7-6471-C1CB7E091847}"/>
              </a:ext>
            </a:extLst>
          </p:cNvPr>
          <p:cNvSpPr>
            <a:spLocks noGrp="1"/>
          </p:cNvSpPr>
          <p:nvPr>
            <p:ph idx="1"/>
          </p:nvPr>
        </p:nvSpPr>
        <p:spPr/>
        <p:txBody>
          <a:bodyPr/>
          <a:lstStyle/>
          <a:p>
            <a:r>
              <a:rPr lang="fr-FR" altLang="fr-FR" dirty="0"/>
              <a:t>https://www.youtube.com/watch?v=ReMBcS1Nb-8</a:t>
            </a:r>
          </a:p>
        </p:txBody>
      </p:sp>
      <p:sp>
        <p:nvSpPr>
          <p:cNvPr id="131076" name="Espace réservé du numéro de diapositive 3">
            <a:extLst>
              <a:ext uri="{FF2B5EF4-FFF2-40B4-BE49-F238E27FC236}">
                <a16:creationId xmlns="" xmlns:a16="http://schemas.microsoft.com/office/drawing/2014/main" id="{11495803-5D59-F1F4-1F17-0772CA2B709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F7A19B4B-8899-4858-8BB4-8E1A8F5676D3}" type="slidenum">
              <a:rPr lang="fr-FR" altLang="fr-FR" sz="1400">
                <a:solidFill>
                  <a:srgbClr val="FFFFFF"/>
                </a:solidFill>
              </a:rPr>
              <a:pPr>
                <a:spcBef>
                  <a:spcPct val="0"/>
                </a:spcBef>
                <a:buClrTx/>
                <a:buSzTx/>
                <a:buFontTx/>
                <a:buNone/>
              </a:pPr>
              <a:t>169</a:t>
            </a:fld>
            <a:endParaRPr lang="fr-FR" altLang="fr-FR" sz="1400">
              <a:solidFill>
                <a:srgbClr val="FFFFFF"/>
              </a:solidFill>
            </a:endParaRP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CA" dirty="0"/>
              <a:t>1-Définition des étapes de la pipeline</a:t>
            </a:r>
            <a:r>
              <a:rPr lang="fr-FR" dirty="0"/>
              <a:t/>
            </a:r>
            <a:br>
              <a:rPr lang="fr-FR" dirty="0"/>
            </a:br>
            <a:endParaRPr lang="fr-FR" dirty="0"/>
          </a:p>
        </p:txBody>
      </p:sp>
      <p:sp>
        <p:nvSpPr>
          <p:cNvPr id="3" name="Espace réservé du contenu 2"/>
          <p:cNvSpPr>
            <a:spLocks noGrp="1"/>
          </p:cNvSpPr>
          <p:nvPr>
            <p:ph idx="1"/>
          </p:nvPr>
        </p:nvSpPr>
        <p:spPr>
          <a:xfrm>
            <a:off x="251520" y="1628800"/>
            <a:ext cx="8784976" cy="5040560"/>
          </a:xfrm>
          <a:noFill/>
          <a:ln w="12700"/>
        </p:spPr>
        <p:txBody>
          <a:bodyPr/>
          <a:lstStyle/>
          <a:p>
            <a:endParaRPr lang="fr-CA" b="1" u="sng" dirty="0"/>
          </a:p>
          <a:p>
            <a:endParaRPr lang="fr-CA" b="1" u="sng" dirty="0"/>
          </a:p>
          <a:p>
            <a:r>
              <a:rPr lang="fr-CA" b="1" u="sng" dirty="0"/>
              <a:t>Explication :</a:t>
            </a:r>
          </a:p>
          <a:p>
            <a:r>
              <a:rPr lang="fr-CA" dirty="0"/>
              <a:t>stages (étapes) définit </a:t>
            </a:r>
            <a:r>
              <a:rPr lang="fr-CA" b="1" dirty="0"/>
              <a:t>le plan global de ta pipeline CI/CD</a:t>
            </a:r>
            <a:r>
              <a:rPr lang="fr-CA" dirty="0"/>
              <a:t>.</a:t>
            </a:r>
          </a:p>
          <a:p>
            <a:r>
              <a:rPr lang="fr-CA" dirty="0"/>
              <a:t>Ici, tu n’as </a:t>
            </a:r>
            <a:r>
              <a:rPr lang="fr-CA" b="1" dirty="0"/>
              <a:t>qu’une seule étape : </a:t>
            </a:r>
            <a:r>
              <a:rPr lang="fr-CA" b="1" dirty="0" err="1"/>
              <a:t>deploy</a:t>
            </a:r>
            <a:r>
              <a:rPr lang="fr-CA" dirty="0"/>
              <a:t>.</a:t>
            </a:r>
            <a:br>
              <a:rPr lang="fr-CA" dirty="0"/>
            </a:br>
            <a:r>
              <a:rPr lang="fr-CA" dirty="0"/>
              <a:t>Cela veut dire que ta pipeline ne fait </a:t>
            </a:r>
            <a:r>
              <a:rPr lang="fr-CA" b="1" dirty="0"/>
              <a:t>qu’une seule action</a:t>
            </a:r>
            <a:r>
              <a:rPr lang="fr-CA" dirty="0"/>
              <a:t> : </a:t>
            </a:r>
            <a:r>
              <a:rPr lang="fr-CA" b="1" dirty="0"/>
              <a:t>déployer ton site</a:t>
            </a:r>
            <a:r>
              <a:rPr lang="fr-CA" dirty="0"/>
              <a:t>.</a:t>
            </a:r>
          </a:p>
          <a:p>
            <a:r>
              <a:rPr lang="fr-CA" dirty="0"/>
              <a:t>* </a:t>
            </a:r>
            <a:r>
              <a:rPr lang="fr-CA" i="1" dirty="0"/>
              <a:t>Dans des projets plus complexes</a:t>
            </a:r>
            <a:r>
              <a:rPr lang="fr-CA" dirty="0"/>
              <a:t>, on aurait souvent plusieurs étapes comme :</a:t>
            </a:r>
          </a:p>
          <a:p>
            <a:r>
              <a:rPr lang="fr-CA" dirty="0"/>
              <a:t>stages: - </a:t>
            </a:r>
            <a:r>
              <a:rPr lang="fr-CA" dirty="0" err="1"/>
              <a:t>build</a:t>
            </a:r>
            <a:r>
              <a:rPr lang="fr-CA" dirty="0"/>
              <a:t> - test - </a:t>
            </a:r>
            <a:r>
              <a:rPr lang="fr-CA" dirty="0" err="1"/>
              <a:t>deploy</a:t>
            </a:r>
            <a:r>
              <a:rPr lang="fr-CA" dirty="0"/>
              <a:t> </a:t>
            </a:r>
          </a:p>
          <a:p>
            <a:r>
              <a:rPr lang="fr-CA" dirty="0"/>
              <a:t>Mais ici, comme ton site est </a:t>
            </a:r>
            <a:r>
              <a:rPr lang="fr-CA" b="1" dirty="0"/>
              <a:t>statique</a:t>
            </a:r>
            <a:r>
              <a:rPr lang="fr-CA" dirty="0"/>
              <a:t>, il n’y a </a:t>
            </a:r>
            <a:r>
              <a:rPr lang="fr-CA" b="1" dirty="0"/>
              <a:t>ni compilation ni tests</a:t>
            </a:r>
            <a:r>
              <a:rPr lang="fr-CA" dirty="0"/>
              <a:t>, donc </a:t>
            </a:r>
            <a:r>
              <a:rPr lang="fr-CA" b="1" dirty="0"/>
              <a:t>une seule étape suffit</a:t>
            </a:r>
            <a:r>
              <a:rPr lang="fr-CA" dirty="0"/>
              <a:t>.</a:t>
            </a:r>
          </a:p>
          <a:p>
            <a:endParaRPr lang="fr-FR" dirty="0"/>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170</a:t>
            </a:fld>
            <a:endParaRPr lang="fr-FR" altLang="fr-FR"/>
          </a:p>
        </p:txBody>
      </p:sp>
      <p:sp>
        <p:nvSpPr>
          <p:cNvPr id="5" name="Rectangle 4"/>
          <p:cNvSpPr/>
          <p:nvPr/>
        </p:nvSpPr>
        <p:spPr>
          <a:xfrm>
            <a:off x="683568" y="1628800"/>
            <a:ext cx="7488832" cy="7200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dirty="0"/>
              <a:t>stages:</a:t>
            </a:r>
          </a:p>
          <a:p>
            <a:r>
              <a:rPr lang="fr-FR" dirty="0"/>
              <a:t>  - </a:t>
            </a:r>
            <a:r>
              <a:rPr lang="fr-FR" dirty="0" err="1"/>
              <a:t>deploy</a:t>
            </a:r>
            <a:endParaRPr lang="fr-FR" dirty="0"/>
          </a:p>
          <a:p>
            <a:pPr algn="ctr"/>
            <a:endParaRPr lang="fr-FR" dirty="0"/>
          </a:p>
        </p:txBody>
      </p:sp>
    </p:spTree>
    <p:extLst>
      <p:ext uri="{BB962C8B-B14F-4D97-AF65-F5344CB8AC3E}">
        <p14:creationId xmlns:p14="http://schemas.microsoft.com/office/powerpoint/2010/main" val="3077128501"/>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CA" dirty="0"/>
              <a:t>2-Définition du job de déploiement (</a:t>
            </a:r>
            <a:r>
              <a:rPr lang="fr-CA" dirty="0" err="1"/>
              <a:t>GitLab</a:t>
            </a:r>
            <a:r>
              <a:rPr lang="fr-CA" dirty="0"/>
              <a:t> Pages)</a:t>
            </a:r>
            <a:endParaRPr lang="fr-FR" dirty="0"/>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171</a:t>
            </a:fld>
            <a:endParaRPr lang="fr-FR" altLang="fr-FR"/>
          </a:p>
        </p:txBody>
      </p:sp>
      <p:sp>
        <p:nvSpPr>
          <p:cNvPr id="5" name="Rectangle 4"/>
          <p:cNvSpPr/>
          <p:nvPr/>
        </p:nvSpPr>
        <p:spPr>
          <a:xfrm>
            <a:off x="611560" y="1772816"/>
            <a:ext cx="7560840" cy="79208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fr-FR" dirty="0">
                <a:solidFill>
                  <a:schemeClr val="lt1"/>
                </a:solidFill>
                <a:latin typeface="+mn-lt"/>
              </a:rPr>
              <a:t>pages:</a:t>
            </a:r>
          </a:p>
          <a:p>
            <a:r>
              <a:rPr lang="fr-FR" dirty="0">
                <a:solidFill>
                  <a:schemeClr val="lt1"/>
                </a:solidFill>
                <a:latin typeface="+mn-lt"/>
              </a:rPr>
              <a:t>  stage: </a:t>
            </a:r>
            <a:r>
              <a:rPr lang="fr-FR" dirty="0" err="1">
                <a:solidFill>
                  <a:schemeClr val="lt1"/>
                </a:solidFill>
                <a:latin typeface="+mn-lt"/>
              </a:rPr>
              <a:t>deploy</a:t>
            </a:r>
            <a:endParaRPr lang="fr-FR" dirty="0">
              <a:solidFill>
                <a:schemeClr val="lt1"/>
              </a:solidFill>
              <a:latin typeface="+mn-lt"/>
            </a:endParaRPr>
          </a:p>
        </p:txBody>
      </p:sp>
      <p:sp>
        <p:nvSpPr>
          <p:cNvPr id="7" name="Rectangle 2"/>
          <p:cNvSpPr>
            <a:spLocks noChangeArrowheads="1"/>
          </p:cNvSpPr>
          <p:nvPr/>
        </p:nvSpPr>
        <p:spPr bwMode="auto">
          <a:xfrm>
            <a:off x="179512" y="3284984"/>
            <a:ext cx="8784976"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fr-CA" b="1" dirty="0"/>
              <a:t>Explication :</a:t>
            </a:r>
          </a:p>
          <a:p>
            <a:r>
              <a:rPr lang="fr-CA" dirty="0"/>
              <a:t>pages est le </a:t>
            </a:r>
            <a:r>
              <a:rPr lang="fr-CA" b="1" dirty="0"/>
              <a:t>nom du job</a:t>
            </a:r>
            <a:r>
              <a:rPr lang="fr-CA" dirty="0"/>
              <a:t> (</a:t>
            </a:r>
            <a:r>
              <a:rPr lang="fr-CA" dirty="0" err="1"/>
              <a:t>GitLab</a:t>
            </a:r>
            <a:r>
              <a:rPr lang="fr-CA" dirty="0"/>
              <a:t> l’attend obligatoirement sous ce nom pour publier avec </a:t>
            </a:r>
            <a:r>
              <a:rPr lang="fr-CA" dirty="0" err="1"/>
              <a:t>GitLab</a:t>
            </a:r>
            <a:r>
              <a:rPr lang="fr-CA" dirty="0"/>
              <a:t> Pages).</a:t>
            </a:r>
          </a:p>
          <a:p>
            <a:r>
              <a:rPr lang="fr-CA" dirty="0"/>
              <a:t>stage: </a:t>
            </a:r>
            <a:r>
              <a:rPr lang="fr-CA" dirty="0" err="1"/>
              <a:t>deploy</a:t>
            </a:r>
            <a:r>
              <a:rPr lang="fr-CA" dirty="0"/>
              <a:t> indique que ce job appartient à </a:t>
            </a:r>
            <a:r>
              <a:rPr lang="fr-CA" b="1" dirty="0"/>
              <a:t>l’étape </a:t>
            </a:r>
            <a:r>
              <a:rPr lang="fr-CA" b="1" dirty="0" err="1"/>
              <a:t>deploy</a:t>
            </a:r>
            <a:r>
              <a:rPr lang="fr-CA" dirty="0"/>
              <a:t> définie juste au-dessus.</a:t>
            </a:r>
          </a:p>
          <a:p>
            <a:endParaRPr lang="fr-CA" dirty="0"/>
          </a:p>
          <a:p>
            <a:r>
              <a:rPr lang="fr-CA" dirty="0"/>
              <a:t>* </a:t>
            </a:r>
            <a:r>
              <a:rPr lang="fr-CA" dirty="0" err="1"/>
              <a:t>GitLab</a:t>
            </a:r>
            <a:r>
              <a:rPr lang="fr-CA" dirty="0"/>
              <a:t> sait automatiquement que le job pages doit </a:t>
            </a:r>
            <a:r>
              <a:rPr lang="fr-CA" b="1" dirty="0"/>
              <a:t>publier le contenu de ton site</a:t>
            </a:r>
            <a:r>
              <a:rPr lang="fr-CA" dirty="0"/>
              <a:t> sur l’hébergement </a:t>
            </a:r>
            <a:r>
              <a:rPr lang="fr-CA" dirty="0" err="1"/>
              <a:t>GitLab</a:t>
            </a:r>
            <a:r>
              <a:rPr lang="fr-CA" dirty="0"/>
              <a:t> Pages.</a:t>
            </a:r>
            <a:br>
              <a:rPr lang="fr-CA" dirty="0"/>
            </a:br>
            <a:r>
              <a:rPr lang="fr-CA" dirty="0"/>
              <a:t>Pas besoin de configuration supplémentaire.</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dirty="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1197878170"/>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CA" dirty="0"/>
              <a:t>3-Le script à exécuter (ce que </a:t>
            </a:r>
            <a:r>
              <a:rPr lang="fr-CA" dirty="0" err="1"/>
              <a:t>GitLab</a:t>
            </a:r>
            <a:r>
              <a:rPr lang="fr-CA" dirty="0"/>
              <a:t> fait pendant la pipeline)</a:t>
            </a:r>
            <a:endParaRPr lang="fr-FR" dirty="0"/>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172</a:t>
            </a:fld>
            <a:endParaRPr lang="fr-FR" altLang="fr-FR"/>
          </a:p>
        </p:txBody>
      </p:sp>
      <p:sp>
        <p:nvSpPr>
          <p:cNvPr id="5" name="Rectangle 4"/>
          <p:cNvSpPr/>
          <p:nvPr/>
        </p:nvSpPr>
        <p:spPr>
          <a:xfrm>
            <a:off x="683568" y="2044005"/>
            <a:ext cx="7704856" cy="9233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fr-CA" dirty="0">
                <a:solidFill>
                  <a:schemeClr val="lt1"/>
                </a:solidFill>
                <a:latin typeface="+mn-lt"/>
              </a:rPr>
              <a:t> script:</a:t>
            </a:r>
          </a:p>
          <a:p>
            <a:r>
              <a:rPr lang="fr-CA" dirty="0">
                <a:solidFill>
                  <a:schemeClr val="lt1"/>
                </a:solidFill>
                <a:latin typeface="+mn-lt"/>
              </a:rPr>
              <a:t>    - </a:t>
            </a:r>
            <a:r>
              <a:rPr lang="fr-CA" dirty="0" err="1">
                <a:solidFill>
                  <a:schemeClr val="lt1"/>
                </a:solidFill>
                <a:latin typeface="+mn-lt"/>
              </a:rPr>
              <a:t>echo</a:t>
            </a:r>
            <a:r>
              <a:rPr lang="fr-CA" dirty="0">
                <a:solidFill>
                  <a:schemeClr val="lt1"/>
                </a:solidFill>
                <a:latin typeface="+mn-lt"/>
              </a:rPr>
              <a:t> " Déploiement </a:t>
            </a:r>
            <a:r>
              <a:rPr lang="fr-CA" dirty="0" err="1">
                <a:solidFill>
                  <a:schemeClr val="lt1"/>
                </a:solidFill>
                <a:latin typeface="+mn-lt"/>
              </a:rPr>
              <a:t>GitLab</a:t>
            </a:r>
            <a:r>
              <a:rPr lang="fr-CA" dirty="0">
                <a:solidFill>
                  <a:schemeClr val="lt1"/>
                </a:solidFill>
                <a:latin typeface="+mn-lt"/>
              </a:rPr>
              <a:t> Pages du site </a:t>
            </a:r>
            <a:r>
              <a:rPr lang="fr-CA" dirty="0" err="1">
                <a:solidFill>
                  <a:schemeClr val="lt1"/>
                </a:solidFill>
                <a:latin typeface="+mn-lt"/>
              </a:rPr>
              <a:t>MiniShop</a:t>
            </a:r>
            <a:r>
              <a:rPr lang="fr-CA" dirty="0">
                <a:solidFill>
                  <a:schemeClr val="lt1"/>
                </a:solidFill>
                <a:latin typeface="+mn-lt"/>
              </a:rPr>
              <a:t>"</a:t>
            </a:r>
            <a:endParaRPr lang="fr-FR" dirty="0">
              <a:solidFill>
                <a:schemeClr val="lt1"/>
              </a:solidFill>
              <a:latin typeface="+mn-lt"/>
            </a:endParaRPr>
          </a:p>
        </p:txBody>
      </p:sp>
      <p:sp>
        <p:nvSpPr>
          <p:cNvPr id="6" name="Rectangle 5"/>
          <p:cNvSpPr/>
          <p:nvPr/>
        </p:nvSpPr>
        <p:spPr>
          <a:xfrm>
            <a:off x="539552" y="3284984"/>
            <a:ext cx="8208912" cy="3240360"/>
          </a:xfrm>
          <a:prstGeom prst="rect">
            <a:avLst/>
          </a:prstGeom>
          <a:no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CA" b="1" dirty="0">
                <a:solidFill>
                  <a:schemeClr val="tx1"/>
                </a:solidFill>
              </a:rPr>
              <a:t> Explication :</a:t>
            </a:r>
          </a:p>
          <a:p>
            <a:r>
              <a:rPr lang="fr-CA" dirty="0">
                <a:solidFill>
                  <a:schemeClr val="tx1"/>
                </a:solidFill>
              </a:rPr>
              <a:t>script: contient les </a:t>
            </a:r>
            <a:r>
              <a:rPr lang="fr-CA" b="1" dirty="0">
                <a:solidFill>
                  <a:schemeClr val="tx1"/>
                </a:solidFill>
              </a:rPr>
              <a:t>commandes à exécuter</a:t>
            </a:r>
            <a:r>
              <a:rPr lang="fr-CA" dirty="0">
                <a:solidFill>
                  <a:schemeClr val="tx1"/>
                </a:solidFill>
              </a:rPr>
              <a:t> pendant la pipeline.</a:t>
            </a:r>
          </a:p>
          <a:p>
            <a:r>
              <a:rPr lang="fr-CA" dirty="0">
                <a:solidFill>
                  <a:schemeClr val="tx1"/>
                </a:solidFill>
              </a:rPr>
              <a:t>Ici, on ne fait qu’un simple </a:t>
            </a:r>
            <a:r>
              <a:rPr lang="fr-CA" dirty="0" err="1">
                <a:solidFill>
                  <a:schemeClr val="tx1"/>
                </a:solidFill>
              </a:rPr>
              <a:t>echo</a:t>
            </a:r>
            <a:r>
              <a:rPr lang="fr-CA" dirty="0">
                <a:solidFill>
                  <a:schemeClr val="tx1"/>
                </a:solidFill>
              </a:rPr>
              <a:t> (afficher un message).</a:t>
            </a:r>
            <a:br>
              <a:rPr lang="fr-CA" dirty="0">
                <a:solidFill>
                  <a:schemeClr val="tx1"/>
                </a:solidFill>
              </a:rPr>
            </a:br>
            <a:r>
              <a:rPr lang="fr-CA" dirty="0">
                <a:solidFill>
                  <a:schemeClr val="tx1"/>
                </a:solidFill>
              </a:rPr>
              <a:t>Cela sert juste à </a:t>
            </a:r>
            <a:r>
              <a:rPr lang="fr-CA" b="1" dirty="0">
                <a:solidFill>
                  <a:schemeClr val="tx1"/>
                </a:solidFill>
              </a:rPr>
              <a:t>montrer dans les logs</a:t>
            </a:r>
            <a:r>
              <a:rPr lang="fr-CA" dirty="0">
                <a:solidFill>
                  <a:schemeClr val="tx1"/>
                </a:solidFill>
              </a:rPr>
              <a:t> que la pipeline est en train de déployer ton site.</a:t>
            </a:r>
          </a:p>
          <a:p>
            <a:r>
              <a:rPr lang="fr-CA" dirty="0">
                <a:solidFill>
                  <a:schemeClr val="tx1"/>
                </a:solidFill>
              </a:rPr>
              <a:t>- Dans un projet réel, on pourrait ajouter ici des commandes comme :</a:t>
            </a:r>
          </a:p>
          <a:p>
            <a:r>
              <a:rPr lang="pt-BR" dirty="0">
                <a:solidFill>
                  <a:schemeClr val="tx1"/>
                </a:solidFill>
              </a:rPr>
              <a:t>               - mkdir public</a:t>
            </a:r>
          </a:p>
          <a:p>
            <a:r>
              <a:rPr lang="pt-BR" dirty="0">
                <a:solidFill>
                  <a:schemeClr val="tx1"/>
                </a:solidFill>
              </a:rPr>
              <a:t>               - cp -r * public/</a:t>
            </a:r>
          </a:p>
          <a:p>
            <a:endParaRPr lang="fr-CA" dirty="0">
              <a:solidFill>
                <a:schemeClr val="tx1"/>
              </a:solidFill>
            </a:endParaRPr>
          </a:p>
          <a:p>
            <a:pPr algn="ctr"/>
            <a:endParaRPr lang="fr-FR" dirty="0"/>
          </a:p>
        </p:txBody>
      </p:sp>
    </p:spTree>
    <p:extLst>
      <p:ext uri="{BB962C8B-B14F-4D97-AF65-F5344CB8AC3E}">
        <p14:creationId xmlns:p14="http://schemas.microsoft.com/office/powerpoint/2010/main" val="547994116"/>
      </p:ext>
    </p:extLst>
  </p:cSld>
  <p:clrMapOvr>
    <a:overrideClrMapping bg1="lt1" tx1="dk1" bg2="lt2" tx2="dk2" accent1="accent1" accent2="accent2" accent3="accent3" accent4="accent4" accent5="accent5" accent6="accent6" hlink="hlink" folHlink="folHlink"/>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CA" dirty="0"/>
              <a:t>4-Définition des artefacts (fichiers à publier)</a:t>
            </a:r>
            <a:endParaRPr lang="fr-FR" dirty="0"/>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173</a:t>
            </a:fld>
            <a:endParaRPr lang="fr-FR" altLang="fr-FR"/>
          </a:p>
        </p:txBody>
      </p:sp>
      <p:sp>
        <p:nvSpPr>
          <p:cNvPr id="5" name="Rectangle 4"/>
          <p:cNvSpPr/>
          <p:nvPr/>
        </p:nvSpPr>
        <p:spPr>
          <a:xfrm>
            <a:off x="611560" y="1844824"/>
            <a:ext cx="7704856" cy="92333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fr-FR" dirty="0">
                <a:solidFill>
                  <a:schemeClr val="lt1"/>
                </a:solidFill>
                <a:latin typeface="+mn-lt"/>
              </a:rPr>
              <a:t> </a:t>
            </a:r>
            <a:r>
              <a:rPr lang="fr-FR" dirty="0" err="1">
                <a:solidFill>
                  <a:schemeClr val="lt1"/>
                </a:solidFill>
                <a:latin typeface="+mn-lt"/>
              </a:rPr>
              <a:t>artifacts</a:t>
            </a:r>
            <a:r>
              <a:rPr lang="fr-FR" dirty="0">
                <a:solidFill>
                  <a:schemeClr val="lt1"/>
                </a:solidFill>
                <a:latin typeface="+mn-lt"/>
              </a:rPr>
              <a:t>:</a:t>
            </a:r>
          </a:p>
          <a:p>
            <a:r>
              <a:rPr lang="fr-FR" dirty="0">
                <a:solidFill>
                  <a:schemeClr val="lt1"/>
                </a:solidFill>
                <a:latin typeface="+mn-lt"/>
              </a:rPr>
              <a:t>    </a:t>
            </a:r>
            <a:r>
              <a:rPr lang="fr-FR" dirty="0" err="1">
                <a:solidFill>
                  <a:schemeClr val="lt1"/>
                </a:solidFill>
                <a:latin typeface="+mn-lt"/>
              </a:rPr>
              <a:t>paths</a:t>
            </a:r>
            <a:r>
              <a:rPr lang="fr-FR" dirty="0">
                <a:solidFill>
                  <a:schemeClr val="lt1"/>
                </a:solidFill>
                <a:latin typeface="+mn-lt"/>
              </a:rPr>
              <a:t>:</a:t>
            </a:r>
          </a:p>
          <a:p>
            <a:r>
              <a:rPr lang="fr-FR" dirty="0">
                <a:solidFill>
                  <a:schemeClr val="lt1"/>
                </a:solidFill>
                <a:latin typeface="+mn-lt"/>
              </a:rPr>
              <a:t>      - public</a:t>
            </a:r>
          </a:p>
        </p:txBody>
      </p:sp>
      <p:sp>
        <p:nvSpPr>
          <p:cNvPr id="6" name="Rectangle 1"/>
          <p:cNvSpPr>
            <a:spLocks noChangeArrowheads="1"/>
          </p:cNvSpPr>
          <p:nvPr/>
        </p:nvSpPr>
        <p:spPr bwMode="auto">
          <a:xfrm>
            <a:off x="91155" y="3429000"/>
            <a:ext cx="9063122"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fr-CA" b="1" dirty="0"/>
              <a:t>Explication :</a:t>
            </a:r>
          </a:p>
          <a:p>
            <a:r>
              <a:rPr lang="fr-CA" dirty="0"/>
              <a:t>Les </a:t>
            </a:r>
            <a:r>
              <a:rPr lang="fr-CA" b="1" dirty="0" err="1"/>
              <a:t>artifacts</a:t>
            </a:r>
            <a:r>
              <a:rPr lang="fr-CA" dirty="0"/>
              <a:t> sont les fichiers que </a:t>
            </a:r>
            <a:r>
              <a:rPr lang="fr-CA" dirty="0" err="1"/>
              <a:t>GitLab</a:t>
            </a:r>
            <a:r>
              <a:rPr lang="fr-CA" dirty="0"/>
              <a:t> </a:t>
            </a:r>
            <a:r>
              <a:rPr lang="fr-CA" b="1" dirty="0"/>
              <a:t>conserve après l’exécution du job</a:t>
            </a:r>
            <a:r>
              <a:rPr lang="fr-CA" dirty="0"/>
              <a:t>.</a:t>
            </a:r>
          </a:p>
          <a:p>
            <a:r>
              <a:rPr lang="fr-CA" dirty="0"/>
              <a:t>Ici, on dit à </a:t>
            </a:r>
            <a:r>
              <a:rPr lang="fr-CA" dirty="0" err="1"/>
              <a:t>GitLab</a:t>
            </a:r>
            <a:r>
              <a:rPr lang="fr-CA" dirty="0"/>
              <a:t> :</a:t>
            </a:r>
          </a:p>
          <a:p>
            <a:r>
              <a:rPr lang="fr-CA" dirty="0"/>
              <a:t>“Prends tout ce qu’il y a dans le dossier public/ et publie-le sur </a:t>
            </a:r>
            <a:r>
              <a:rPr lang="fr-CA" dirty="0" err="1"/>
              <a:t>GitLab</a:t>
            </a:r>
            <a:r>
              <a:rPr lang="fr-CA" dirty="0"/>
              <a:t> Pages.”</a:t>
            </a:r>
          </a:p>
          <a:p>
            <a:r>
              <a:rPr lang="fr-CA" dirty="0"/>
              <a:t>- </a:t>
            </a:r>
            <a:r>
              <a:rPr lang="fr-CA" dirty="0" err="1"/>
              <a:t>GitLab</a:t>
            </a:r>
            <a:r>
              <a:rPr lang="fr-CA" dirty="0"/>
              <a:t> Pages </a:t>
            </a:r>
            <a:r>
              <a:rPr lang="fr-CA" b="1" dirty="0"/>
              <a:t>publie automatiquement</a:t>
            </a:r>
            <a:r>
              <a:rPr lang="fr-CA" dirty="0"/>
              <a:t> le contenu du dossier public sur ton URL :</a:t>
            </a:r>
          </a:p>
          <a:p>
            <a:r>
              <a:rPr lang="fr-CA" dirty="0"/>
              <a:t>https://ton-utilisateur.gitlab.io/ton-projet </a:t>
            </a:r>
          </a:p>
          <a:p>
            <a:r>
              <a:rPr lang="fr-CA" dirty="0"/>
              <a:t>Donc, ton site doit toujours être </a:t>
            </a:r>
            <a:r>
              <a:rPr lang="fr-CA" b="1" dirty="0"/>
              <a:t>généré ou copié dans ce dossier public/</a:t>
            </a:r>
            <a:r>
              <a:rPr lang="fr-CA" dirty="0"/>
              <a:t> </a:t>
            </a:r>
          </a:p>
          <a:p>
            <a:r>
              <a:rPr lang="fr-CA" dirty="0"/>
              <a:t>avant le déploiement.</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dirty="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3548342655"/>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5-Condition d’exécution du job</a:t>
            </a:r>
            <a:endParaRPr lang="fr-FR" dirty="0"/>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174</a:t>
            </a:fld>
            <a:endParaRPr lang="fr-FR" altLang="fr-FR"/>
          </a:p>
        </p:txBody>
      </p:sp>
      <p:sp>
        <p:nvSpPr>
          <p:cNvPr id="5" name="Rectangle 4"/>
          <p:cNvSpPr/>
          <p:nvPr/>
        </p:nvSpPr>
        <p:spPr>
          <a:xfrm>
            <a:off x="683568" y="1844824"/>
            <a:ext cx="7704856" cy="64633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fr-FR" dirty="0">
                <a:solidFill>
                  <a:schemeClr val="lt1"/>
                </a:solidFill>
                <a:latin typeface="+mn-lt"/>
              </a:rPr>
              <a:t> </a:t>
            </a:r>
            <a:r>
              <a:rPr lang="fr-FR" dirty="0" err="1">
                <a:solidFill>
                  <a:schemeClr val="lt1"/>
                </a:solidFill>
                <a:latin typeface="+mn-lt"/>
              </a:rPr>
              <a:t>only</a:t>
            </a:r>
            <a:r>
              <a:rPr lang="fr-FR" dirty="0">
                <a:solidFill>
                  <a:schemeClr val="lt1"/>
                </a:solidFill>
                <a:latin typeface="+mn-lt"/>
              </a:rPr>
              <a:t>:</a:t>
            </a:r>
          </a:p>
          <a:p>
            <a:r>
              <a:rPr lang="fr-FR" dirty="0">
                <a:solidFill>
                  <a:schemeClr val="lt1"/>
                </a:solidFill>
                <a:latin typeface="+mn-lt"/>
              </a:rPr>
              <a:t>    - main</a:t>
            </a:r>
          </a:p>
        </p:txBody>
      </p:sp>
      <p:sp>
        <p:nvSpPr>
          <p:cNvPr id="6" name="Rectangle 1"/>
          <p:cNvSpPr>
            <a:spLocks noChangeArrowheads="1"/>
          </p:cNvSpPr>
          <p:nvPr/>
        </p:nvSpPr>
        <p:spPr bwMode="auto">
          <a:xfrm>
            <a:off x="107505" y="3714998"/>
            <a:ext cx="8856984"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fr-CA" b="1" dirty="0"/>
              <a:t>Explication :</a:t>
            </a:r>
          </a:p>
          <a:p>
            <a:r>
              <a:rPr lang="fr-CA" dirty="0" err="1"/>
              <a:t>only</a:t>
            </a:r>
            <a:r>
              <a:rPr lang="fr-CA" dirty="0"/>
              <a:t>: définit </a:t>
            </a:r>
            <a:r>
              <a:rPr lang="fr-CA" b="1" dirty="0"/>
              <a:t>dans quelles branches</a:t>
            </a:r>
            <a:r>
              <a:rPr lang="fr-CA" dirty="0"/>
              <a:t> cette pipeline doit s’exécuter.</a:t>
            </a:r>
          </a:p>
          <a:p>
            <a:r>
              <a:rPr lang="fr-CA" dirty="0"/>
              <a:t>Ici : main → ta pipeline </a:t>
            </a:r>
            <a:r>
              <a:rPr lang="fr-CA" b="1" dirty="0"/>
              <a:t>ne se lance que si tu pousses sur la branche principale</a:t>
            </a:r>
            <a:r>
              <a:rPr lang="fr-CA" dirty="0"/>
              <a:t> (main).</a:t>
            </a:r>
          </a:p>
          <a:p>
            <a:r>
              <a:rPr lang="fr-CA" dirty="0"/>
              <a:t>- Cela évite de déployer des versions temporaires ou des tests depuis d’autres branches.</a:t>
            </a:r>
            <a:br>
              <a:rPr lang="fr-CA" dirty="0"/>
            </a:br>
            <a:r>
              <a:rPr lang="fr-CA" dirty="0"/>
              <a:t>Ainsi, ton site </a:t>
            </a:r>
            <a:r>
              <a:rPr lang="fr-CA" dirty="0" err="1"/>
              <a:t>GitLab</a:t>
            </a:r>
            <a:r>
              <a:rPr lang="fr-CA" dirty="0"/>
              <a:t> Pages reste </a:t>
            </a:r>
            <a:r>
              <a:rPr lang="fr-CA" b="1" dirty="0"/>
              <a:t>toujours stable et propre</a:t>
            </a:r>
            <a:r>
              <a:rPr lang="fr-CA" dirty="0"/>
              <a:t>.</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fr-FR" sz="1800" b="0" i="0" u="none" strike="noStrike" cap="none" normalizeH="0" baseline="0" dirty="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831775714"/>
      </p:ext>
    </p:extLst>
  </p:cSld>
  <p:clrMapOvr>
    <a:overrideClrMapping bg1="lt1" tx1="dk1" bg2="lt2" tx2="dk2" accent1="accent1" accent2="accent2" accent3="accent3" accent4="accent4" accent5="accent5" accent6="accent6" hlink="hlink" folHlink="folHlink"/>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résumé</a:t>
            </a:r>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175</a:t>
            </a:fld>
            <a:endParaRPr lang="fr-FR" altLang="fr-F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111" y="1484784"/>
            <a:ext cx="8568952" cy="28435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3"/>
          <p:cNvSpPr>
            <a:spLocks noChangeArrowheads="1"/>
          </p:cNvSpPr>
          <p:nvPr/>
        </p:nvSpPr>
        <p:spPr bwMode="auto">
          <a:xfrm>
            <a:off x="539552" y="4337083"/>
            <a:ext cx="7344816"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fr-CA" sz="2000" b="1" dirty="0"/>
              <a:t>Ce que </a:t>
            </a:r>
            <a:r>
              <a:rPr lang="fr-CA" sz="2000" b="1" dirty="0" err="1"/>
              <a:t>GitLab</a:t>
            </a:r>
            <a:r>
              <a:rPr lang="fr-CA" sz="2000" b="1" dirty="0"/>
              <a:t> fait automatiquement</a:t>
            </a:r>
          </a:p>
          <a:p>
            <a:r>
              <a:rPr lang="fr-CA" sz="2000" dirty="0"/>
              <a:t>1-Tu </a:t>
            </a:r>
            <a:r>
              <a:rPr lang="fr-CA" sz="2000" b="1" dirty="0"/>
              <a:t>pousses ton code</a:t>
            </a:r>
            <a:r>
              <a:rPr lang="fr-CA" sz="2000" dirty="0"/>
              <a:t> (HTML/CSS/JS) sur la branche main.</a:t>
            </a:r>
          </a:p>
          <a:p>
            <a:r>
              <a:rPr lang="fr-CA" sz="2000" dirty="0"/>
              <a:t>2-GitLab </a:t>
            </a:r>
            <a:r>
              <a:rPr lang="fr-CA" sz="2000" b="1" dirty="0"/>
              <a:t>déclenche la pipeline CI/CD</a:t>
            </a:r>
            <a:r>
              <a:rPr lang="fr-CA" sz="2000" dirty="0"/>
              <a:t>.</a:t>
            </a:r>
          </a:p>
          <a:p>
            <a:r>
              <a:rPr lang="fr-CA" sz="2000" dirty="0"/>
              <a:t>3-Le job pages s’exécute.</a:t>
            </a:r>
          </a:p>
          <a:p>
            <a:r>
              <a:rPr lang="fr-CA" sz="2000" dirty="0"/>
              <a:t>4-GitLab </a:t>
            </a:r>
            <a:r>
              <a:rPr lang="fr-CA" sz="2000" b="1" dirty="0"/>
              <a:t>publie le contenu du dossier public/</a:t>
            </a:r>
            <a:r>
              <a:rPr lang="fr-CA" sz="2000" dirty="0"/>
              <a:t>.</a:t>
            </a:r>
          </a:p>
          <a:p>
            <a:r>
              <a:rPr lang="fr-CA" sz="2000" dirty="0"/>
              <a:t>Ton site est </a:t>
            </a:r>
            <a:r>
              <a:rPr lang="fr-CA" sz="2000" b="1" dirty="0"/>
              <a:t>en ligne</a:t>
            </a:r>
            <a:r>
              <a:rPr lang="fr-CA" sz="2000" dirty="0"/>
              <a:t> sur une URL comme :</a:t>
            </a:r>
          </a:p>
          <a:p>
            <a:r>
              <a:rPr lang="fr-CA" sz="2000" dirty="0"/>
              <a:t>https://&lt;ton-nom-utilisateur&gt;.gitlab.io/&lt;nom-du-projet&gt;</a:t>
            </a:r>
          </a:p>
        </p:txBody>
      </p:sp>
    </p:spTree>
    <p:extLst>
      <p:ext uri="{BB962C8B-B14F-4D97-AF65-F5344CB8AC3E}">
        <p14:creationId xmlns:p14="http://schemas.microsoft.com/office/powerpoint/2010/main" val="967244716"/>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176</a:t>
            </a:fld>
            <a:endParaRPr lang="fr-FR" altLang="fr-F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1772816"/>
            <a:ext cx="8129339" cy="3888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11227892"/>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Espace réservé du numéro de diapositive 3">
            <a:extLst>
              <a:ext uri="{FF2B5EF4-FFF2-40B4-BE49-F238E27FC236}">
                <a16:creationId xmlns="" xmlns:a16="http://schemas.microsoft.com/office/drawing/2014/main" id="{790C3F95-CADA-DC37-F512-43E818F1B93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73FCA2E1-D8AE-43FC-970F-FA780A27FBC7}" type="slidenum">
              <a:rPr lang="fr-FR" altLang="fr-FR" sz="1400">
                <a:solidFill>
                  <a:srgbClr val="FFFFFF"/>
                </a:solidFill>
              </a:rPr>
              <a:pPr>
                <a:spcBef>
                  <a:spcPct val="0"/>
                </a:spcBef>
                <a:buClrTx/>
                <a:buSzTx/>
                <a:buFontTx/>
                <a:buNone/>
              </a:pPr>
              <a:t>177</a:t>
            </a:fld>
            <a:endParaRPr lang="fr-FR" altLang="fr-FR" sz="1400">
              <a:solidFill>
                <a:srgbClr val="FFFFFF"/>
              </a:solidFill>
            </a:endParaRPr>
          </a:p>
        </p:txBody>
      </p:sp>
      <p:sp>
        <p:nvSpPr>
          <p:cNvPr id="132099" name="Rectangle 4">
            <a:extLst>
              <a:ext uri="{FF2B5EF4-FFF2-40B4-BE49-F238E27FC236}">
                <a16:creationId xmlns="" xmlns:a16="http://schemas.microsoft.com/office/drawing/2014/main" id="{2A6544F5-9805-EC8E-8FDA-EBECB9A948DC}"/>
              </a:ext>
            </a:extLst>
          </p:cNvPr>
          <p:cNvSpPr>
            <a:spLocks noChangeArrowheads="1"/>
          </p:cNvSpPr>
          <p:nvPr/>
        </p:nvSpPr>
        <p:spPr bwMode="auto">
          <a:xfrm>
            <a:off x="1042988" y="2636838"/>
            <a:ext cx="6913562"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eaLnBrk="1" hangingPunct="1">
              <a:spcBef>
                <a:spcPct val="0"/>
              </a:spcBef>
              <a:buClrTx/>
              <a:buSzTx/>
              <a:buFontTx/>
              <a:buNone/>
            </a:pPr>
            <a:r>
              <a:rPr lang="fr-CA" altLang="fr-FR" sz="1800" dirty="0"/>
              <a:t>c'est un outil qui permet de faire l'analyse statique du code </a:t>
            </a:r>
          </a:p>
          <a:p>
            <a:pPr eaLnBrk="1" hangingPunct="1">
              <a:spcBef>
                <a:spcPct val="0"/>
              </a:spcBef>
              <a:buClrTx/>
              <a:buSzTx/>
              <a:buFontTx/>
              <a:buNone/>
            </a:pPr>
            <a:r>
              <a:rPr lang="fr-CA" altLang="fr-FR" sz="1800" dirty="0"/>
              <a:t>dans le cadre de CI CD .</a:t>
            </a:r>
          </a:p>
          <a:p>
            <a:pPr eaLnBrk="1" hangingPunct="1">
              <a:spcBef>
                <a:spcPct val="0"/>
              </a:spcBef>
              <a:buClrTx/>
              <a:buSzTx/>
              <a:buFontTx/>
              <a:buNone/>
            </a:pPr>
            <a:endParaRPr lang="fr-CA" altLang="fr-FR" sz="1800" dirty="0"/>
          </a:p>
          <a:p>
            <a:pPr eaLnBrk="1" hangingPunct="1">
              <a:spcBef>
                <a:spcPct val="0"/>
              </a:spcBef>
              <a:buClrTx/>
              <a:buSzTx/>
              <a:buFontTx/>
              <a:buNone/>
            </a:pPr>
            <a:r>
              <a:rPr lang="fr-CA" altLang="fr-FR" sz="1800" dirty="0"/>
              <a:t>une fois votre code est comité vers </a:t>
            </a:r>
            <a:r>
              <a:rPr lang="fr-CA" altLang="fr-FR" sz="1800" dirty="0" err="1"/>
              <a:t>github,gitlab</a:t>
            </a:r>
            <a:r>
              <a:rPr lang="fr-CA" altLang="fr-FR" sz="1800" dirty="0"/>
              <a:t> </a:t>
            </a:r>
          </a:p>
          <a:p>
            <a:pPr eaLnBrk="1" hangingPunct="1">
              <a:spcBef>
                <a:spcPct val="0"/>
              </a:spcBef>
              <a:buClrTx/>
              <a:buSzTx/>
              <a:buFontTx/>
              <a:buNone/>
            </a:pPr>
            <a:r>
              <a:rPr lang="fr-CA" altLang="fr-FR" sz="1800" dirty="0" err="1"/>
              <a:t>sonarqube</a:t>
            </a:r>
            <a:r>
              <a:rPr lang="fr-CA" altLang="fr-FR" sz="1800" dirty="0"/>
              <a:t>  </a:t>
            </a:r>
            <a:r>
              <a:rPr lang="fr-CA" altLang="fr-FR" sz="1800" dirty="0" err="1"/>
              <a:t>verifie</a:t>
            </a:r>
            <a:r>
              <a:rPr lang="fr-CA" altLang="fr-FR" sz="1800" dirty="0"/>
              <a:t> la qualité du code et donne un </a:t>
            </a:r>
          </a:p>
          <a:p>
            <a:pPr eaLnBrk="1" hangingPunct="1">
              <a:spcBef>
                <a:spcPct val="0"/>
              </a:spcBef>
              <a:buClrTx/>
              <a:buSzTx/>
              <a:buFontTx/>
              <a:buNone/>
            </a:pPr>
            <a:r>
              <a:rPr lang="fr-CA" altLang="fr-FR" sz="1800" dirty="0"/>
              <a:t>feedback aux </a:t>
            </a:r>
            <a:r>
              <a:rPr lang="fr-CA" altLang="fr-FR" sz="1800" dirty="0" err="1"/>
              <a:t>developpeurs</a:t>
            </a:r>
            <a:r>
              <a:rPr lang="fr-CA" altLang="fr-FR" sz="1800" dirty="0"/>
              <a:t> pour faire des modifications au niveau du code avant de faire le </a:t>
            </a:r>
            <a:r>
              <a:rPr lang="fr-CA" altLang="fr-FR" sz="1800" dirty="0" err="1"/>
              <a:t>submit</a:t>
            </a:r>
            <a:r>
              <a:rPr lang="fr-CA" altLang="fr-FR" sz="1800" dirty="0"/>
              <a:t> du code  en production</a:t>
            </a:r>
            <a:endParaRPr lang="fr-FR" altLang="fr-FR" sz="1800" dirty="0"/>
          </a:p>
        </p:txBody>
      </p:sp>
      <p:pic>
        <p:nvPicPr>
          <p:cNvPr id="132100" name="Picture 2" descr="SonarQube ! Où comment tester (et améliorer!) la qualité de votre code en  15min ! - TroisPointZéro - Agence digitale ultra-réactive - Paris, Vichy,  Vesoul">
            <a:extLst>
              <a:ext uri="{FF2B5EF4-FFF2-40B4-BE49-F238E27FC236}">
                <a16:creationId xmlns="" xmlns:a16="http://schemas.microsoft.com/office/drawing/2014/main" id="{790159F9-E8DF-2380-4C5D-DFD0B76EA7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3575" y="1125538"/>
            <a:ext cx="4032250" cy="79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Espace réservé du contenu 2">
            <a:extLst>
              <a:ext uri="{FF2B5EF4-FFF2-40B4-BE49-F238E27FC236}">
                <a16:creationId xmlns="" xmlns:a16="http://schemas.microsoft.com/office/drawing/2014/main" id="{07B354F9-B714-B3E6-E372-7C8E259E1EC7}"/>
              </a:ext>
            </a:extLst>
          </p:cNvPr>
          <p:cNvSpPr>
            <a:spLocks noGrp="1"/>
          </p:cNvSpPr>
          <p:nvPr>
            <p:ph idx="1"/>
          </p:nvPr>
        </p:nvSpPr>
        <p:spPr/>
        <p:txBody>
          <a:bodyPr/>
          <a:lstStyle/>
          <a:p>
            <a:r>
              <a:rPr lang="fr-CA" altLang="fr-FR" dirty="0" err="1"/>
              <a:t>SonarQube</a:t>
            </a:r>
            <a:r>
              <a:rPr lang="fr-CA" altLang="fr-FR" dirty="0"/>
              <a:t> est un logiciel open source de mesure de la qualité du code source de projets de développement.</a:t>
            </a:r>
          </a:p>
          <a:p>
            <a:endParaRPr lang="fr-CA" altLang="fr-FR" dirty="0"/>
          </a:p>
          <a:p>
            <a:r>
              <a:rPr lang="fr-CA" altLang="fr-FR" dirty="0"/>
              <a:t>Il permet d’obtenir des informations sur la qualité au niveau du projet</a:t>
            </a:r>
          </a:p>
          <a:p>
            <a:endParaRPr lang="fr-CA" altLang="fr-FR" dirty="0"/>
          </a:p>
          <a:p>
            <a:r>
              <a:rPr lang="fr-CA" altLang="fr-FR" dirty="0"/>
              <a:t>. Son périmètre est le code source, le design ainsi que les tests unitaires, il supporte plus d’une vingtaine de langages de programmation, dont C/C++,</a:t>
            </a:r>
            <a:r>
              <a:rPr lang="fr-CA" altLang="fr-FR" dirty="0" err="1"/>
              <a:t>C#,Java</a:t>
            </a:r>
            <a:r>
              <a:rPr lang="fr-CA" altLang="fr-FR" dirty="0"/>
              <a:t>, Python, PHP, JavaScript..</a:t>
            </a:r>
            <a:endParaRPr lang="fr-FR" altLang="fr-FR" dirty="0"/>
          </a:p>
        </p:txBody>
      </p:sp>
      <p:sp>
        <p:nvSpPr>
          <p:cNvPr id="133123" name="Espace réservé du numéro de diapositive 3">
            <a:extLst>
              <a:ext uri="{FF2B5EF4-FFF2-40B4-BE49-F238E27FC236}">
                <a16:creationId xmlns="" xmlns:a16="http://schemas.microsoft.com/office/drawing/2014/main" id="{A43250E0-1358-338E-8398-27D1D43BF5C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680A71CC-BAB7-43A1-AD8D-A8FF079EFC41}" type="slidenum">
              <a:rPr lang="fr-FR" altLang="fr-FR" sz="1400">
                <a:solidFill>
                  <a:srgbClr val="FFFFFF"/>
                </a:solidFill>
              </a:rPr>
              <a:pPr>
                <a:spcBef>
                  <a:spcPct val="0"/>
                </a:spcBef>
                <a:buClrTx/>
                <a:buSzTx/>
                <a:buFontTx/>
                <a:buNone/>
              </a:pPr>
              <a:t>178</a:t>
            </a:fld>
            <a:endParaRPr lang="fr-FR" altLang="fr-FR" sz="1400">
              <a:solidFill>
                <a:srgbClr val="FFFFFF"/>
              </a:solidFill>
            </a:endParaRPr>
          </a:p>
        </p:txBody>
      </p:sp>
    </p:spTree>
    <p:extLst>
      <p:ext uri="{BB962C8B-B14F-4D97-AF65-F5344CB8AC3E}">
        <p14:creationId xmlns:p14="http://schemas.microsoft.com/office/powerpoint/2010/main" val="1324998309"/>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CA" dirty="0"/>
              <a:t>Ce qui se passe dans la pipeline CI/CD</a:t>
            </a:r>
            <a:endParaRPr lang="fr-FR" dirty="0"/>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179</a:t>
            </a:fld>
            <a:endParaRPr lang="fr-FR" altLang="fr-FR"/>
          </a:p>
        </p:txBody>
      </p:sp>
      <p:sp>
        <p:nvSpPr>
          <p:cNvPr id="5" name="Rectangle 4"/>
          <p:cNvSpPr/>
          <p:nvPr/>
        </p:nvSpPr>
        <p:spPr>
          <a:xfrm>
            <a:off x="1403648" y="1700808"/>
            <a:ext cx="4572000" cy="1477328"/>
          </a:xfrm>
          <a:prstGeom prst="rect">
            <a:avLst/>
          </a:prstGeom>
        </p:spPr>
        <p:txBody>
          <a:bodyPr>
            <a:spAutoFit/>
          </a:bodyPr>
          <a:lstStyle/>
          <a:p>
            <a:r>
              <a:rPr lang="en-US" dirty="0"/>
              <a:t>stages:</a:t>
            </a:r>
          </a:p>
          <a:p>
            <a:r>
              <a:rPr lang="en-US" dirty="0"/>
              <a:t>  - build</a:t>
            </a:r>
          </a:p>
          <a:p>
            <a:r>
              <a:rPr lang="en-US" dirty="0"/>
              <a:t>  - test</a:t>
            </a:r>
          </a:p>
          <a:p>
            <a:r>
              <a:rPr lang="en-US" dirty="0"/>
              <a:t>  - </a:t>
            </a:r>
            <a:r>
              <a:rPr lang="en-US" dirty="0" err="1"/>
              <a:t>analyse</a:t>
            </a:r>
            <a:endParaRPr lang="en-US" dirty="0"/>
          </a:p>
          <a:p>
            <a:r>
              <a:rPr lang="en-US" dirty="0"/>
              <a:t>  - deploy</a:t>
            </a:r>
          </a:p>
        </p:txBody>
      </p:sp>
      <p:sp>
        <p:nvSpPr>
          <p:cNvPr id="9" name="Rectangle 8"/>
          <p:cNvSpPr/>
          <p:nvPr/>
        </p:nvSpPr>
        <p:spPr>
          <a:xfrm>
            <a:off x="611560" y="3789040"/>
            <a:ext cx="7560840" cy="2862322"/>
          </a:xfrm>
          <a:prstGeom prst="rect">
            <a:avLst/>
          </a:prstGeom>
        </p:spPr>
        <p:txBody>
          <a:bodyPr wrap="square">
            <a:spAutoFit/>
          </a:bodyPr>
          <a:lstStyle/>
          <a:p>
            <a:r>
              <a:rPr lang="fr-CA" dirty="0"/>
              <a:t>Lors de l’étape analyse, </a:t>
            </a:r>
            <a:r>
              <a:rPr lang="fr-CA" dirty="0" err="1"/>
              <a:t>SonarQube</a:t>
            </a:r>
            <a:r>
              <a:rPr lang="fr-CA" dirty="0"/>
              <a:t> scanne le code et envoie les résultats au serveur </a:t>
            </a:r>
            <a:r>
              <a:rPr lang="fr-CA" dirty="0" err="1"/>
              <a:t>SonarQube</a:t>
            </a:r>
            <a:r>
              <a:rPr lang="fr-CA" dirty="0"/>
              <a:t>.</a:t>
            </a:r>
          </a:p>
          <a:p>
            <a:pPr marL="285750" indent="-285750">
              <a:buFontTx/>
              <a:buChar char="-"/>
            </a:pPr>
            <a:r>
              <a:rPr lang="fr-CA" dirty="0"/>
              <a:t>Ensuite, le serveur renvoie le statut de la </a:t>
            </a:r>
            <a:r>
              <a:rPr lang="fr-CA" dirty="0" err="1"/>
              <a:t>Quality</a:t>
            </a:r>
            <a:r>
              <a:rPr lang="fr-CA" dirty="0"/>
              <a:t> </a:t>
            </a:r>
            <a:r>
              <a:rPr lang="fr-CA" dirty="0" err="1"/>
              <a:t>Gate</a:t>
            </a:r>
            <a:r>
              <a:rPr lang="fr-CA" dirty="0"/>
              <a:t> à ton pipeline</a:t>
            </a:r>
          </a:p>
          <a:p>
            <a:r>
              <a:rPr lang="fr-CA" dirty="0"/>
              <a:t>-Deux scénarios possibles :</a:t>
            </a:r>
          </a:p>
          <a:p>
            <a:r>
              <a:rPr lang="fr-CA" dirty="0"/>
              <a:t>✅ </a:t>
            </a:r>
            <a:r>
              <a:rPr lang="fr-CA" b="1" dirty="0"/>
              <a:t>a. </a:t>
            </a:r>
            <a:r>
              <a:rPr lang="fr-CA" b="1" dirty="0" err="1"/>
              <a:t>Quality</a:t>
            </a:r>
            <a:r>
              <a:rPr lang="fr-CA" b="1" dirty="0"/>
              <a:t> </a:t>
            </a:r>
            <a:r>
              <a:rPr lang="fr-CA" b="1" dirty="0" err="1"/>
              <a:t>Gate</a:t>
            </a:r>
            <a:r>
              <a:rPr lang="fr-CA" b="1" dirty="0"/>
              <a:t> PASSÉE : La </a:t>
            </a:r>
            <a:r>
              <a:rPr lang="fr-CA" dirty="0"/>
              <a:t>qualité du code est jugée </a:t>
            </a:r>
            <a:r>
              <a:rPr lang="fr-CA" dirty="0" err="1"/>
              <a:t>acceptable.Le</a:t>
            </a:r>
            <a:r>
              <a:rPr lang="fr-CA" dirty="0"/>
              <a:t> pipeline continue vers les étapes suivantes :Tests </a:t>
            </a:r>
            <a:r>
              <a:rPr lang="fr-CA" dirty="0" err="1"/>
              <a:t>supplémentaires,Déploiement</a:t>
            </a:r>
            <a:r>
              <a:rPr lang="fr-CA" dirty="0"/>
              <a:t> en </a:t>
            </a:r>
            <a:r>
              <a:rPr lang="fr-CA" dirty="0" err="1"/>
              <a:t>préproduction</a:t>
            </a:r>
            <a:r>
              <a:rPr lang="fr-CA" dirty="0"/>
              <a:t> ou </a:t>
            </a:r>
            <a:r>
              <a:rPr lang="fr-CA" dirty="0" err="1"/>
              <a:t>production.Résultat</a:t>
            </a:r>
            <a:r>
              <a:rPr lang="fr-CA" dirty="0"/>
              <a:t> : le code est intégré et déployé automatiquement.</a:t>
            </a:r>
          </a:p>
          <a:p>
            <a:r>
              <a:rPr lang="fr-CA" b="1" dirty="0"/>
              <a:t>❌ b. </a:t>
            </a:r>
            <a:r>
              <a:rPr lang="fr-CA" b="1" dirty="0" err="1"/>
              <a:t>Quality</a:t>
            </a:r>
            <a:r>
              <a:rPr lang="fr-CA" b="1" dirty="0"/>
              <a:t> </a:t>
            </a:r>
            <a:r>
              <a:rPr lang="fr-CA" b="1" dirty="0" err="1"/>
              <a:t>Gate</a:t>
            </a:r>
            <a:r>
              <a:rPr lang="fr-CA" b="1" dirty="0"/>
              <a:t> ÉCHOUÉE : Le </a:t>
            </a:r>
            <a:r>
              <a:rPr lang="fr-CA" dirty="0"/>
              <a:t>pipeline s’arrête immédiatement (ou passe en “</a:t>
            </a:r>
            <a:r>
              <a:rPr lang="fr-CA" dirty="0" err="1"/>
              <a:t>failed</a:t>
            </a:r>
            <a:r>
              <a:rPr lang="fr-CA" dirty="0"/>
              <a:t>”).Le déploiement n’est pas autorisé.</a:t>
            </a:r>
            <a:endParaRPr lang="fr-FR" dirty="0"/>
          </a:p>
        </p:txBody>
      </p:sp>
    </p:spTree>
    <p:extLst>
      <p:ext uri="{BB962C8B-B14F-4D97-AF65-F5344CB8AC3E}">
        <p14:creationId xmlns:p14="http://schemas.microsoft.com/office/powerpoint/2010/main" val="3790109757"/>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CA" sz="3600" b="1" dirty="0"/>
              <a:t>Comment les développeurs réagissent ?</a:t>
            </a:r>
            <a:r>
              <a:rPr lang="fr-CA" b="1" dirty="0"/>
              <a:t/>
            </a:r>
            <a:br>
              <a:rPr lang="fr-CA" b="1" dirty="0"/>
            </a:br>
            <a:endParaRPr lang="fr-FR" dirty="0"/>
          </a:p>
        </p:txBody>
      </p:sp>
      <p:sp>
        <p:nvSpPr>
          <p:cNvPr id="3" name="Espace réservé du contenu 2"/>
          <p:cNvSpPr>
            <a:spLocks noGrp="1"/>
          </p:cNvSpPr>
          <p:nvPr>
            <p:ph idx="1"/>
          </p:nvPr>
        </p:nvSpPr>
        <p:spPr>
          <a:xfrm>
            <a:off x="395536" y="1340768"/>
            <a:ext cx="8229600" cy="5357192"/>
          </a:xfrm>
        </p:spPr>
        <p:txBody>
          <a:bodyPr/>
          <a:lstStyle/>
          <a:p>
            <a:r>
              <a:rPr lang="fr-CA" dirty="0"/>
              <a:t>Lorsque </a:t>
            </a:r>
            <a:r>
              <a:rPr lang="fr-CA" dirty="0" err="1"/>
              <a:t>SonarQube</a:t>
            </a:r>
            <a:r>
              <a:rPr lang="fr-CA" dirty="0"/>
              <a:t> détecte des erreurs, il :</a:t>
            </a:r>
          </a:p>
          <a:p>
            <a:r>
              <a:rPr lang="fr-CA" b="1" dirty="0"/>
              <a:t>Liste chaque problème</a:t>
            </a:r>
            <a:r>
              <a:rPr lang="fr-CA" dirty="0"/>
              <a:t> dans le tableau de bord (avec sa gravité : mineur, majeur, critique) ;</a:t>
            </a:r>
          </a:p>
          <a:p>
            <a:r>
              <a:rPr lang="fr-CA" b="1" dirty="0"/>
              <a:t>Indique la ligne de code concernée</a:t>
            </a:r>
            <a:r>
              <a:rPr lang="fr-CA" dirty="0"/>
              <a:t> ;</a:t>
            </a:r>
          </a:p>
          <a:p>
            <a:r>
              <a:rPr lang="fr-CA" b="1" dirty="0"/>
              <a:t>Explique la règle violée</a:t>
            </a:r>
            <a:r>
              <a:rPr lang="fr-CA" dirty="0"/>
              <a:t> (par ex. “Variable non utilisée”, “Utiliser </a:t>
            </a:r>
            <a:r>
              <a:rPr lang="fr-CA" dirty="0" err="1"/>
              <a:t>const</a:t>
            </a:r>
            <a:r>
              <a:rPr lang="fr-CA" dirty="0"/>
              <a:t> au lieu de var”, “Boucle trop complexe”, etc.) ;</a:t>
            </a:r>
          </a:p>
          <a:p>
            <a:r>
              <a:rPr lang="fr-CA" dirty="0"/>
              <a:t>Et propose souvent une </a:t>
            </a:r>
            <a:r>
              <a:rPr lang="fr-CA" b="1" dirty="0"/>
              <a:t>solution ou recommandation</a:t>
            </a:r>
            <a:r>
              <a:rPr lang="fr-CA" dirty="0"/>
              <a:t>.</a:t>
            </a:r>
          </a:p>
          <a:p>
            <a:r>
              <a:rPr lang="fr-CA" dirty="0"/>
              <a:t>Les développeurs </a:t>
            </a:r>
            <a:r>
              <a:rPr lang="fr-CA" b="1" dirty="0"/>
              <a:t>corrigent le code localement</a:t>
            </a:r>
            <a:r>
              <a:rPr lang="fr-CA" dirty="0"/>
              <a:t>, puis </a:t>
            </a:r>
            <a:r>
              <a:rPr lang="fr-CA" b="1" dirty="0"/>
              <a:t>refont un commit</a:t>
            </a:r>
            <a:r>
              <a:rPr lang="fr-CA" dirty="0"/>
              <a:t> → ce qui </a:t>
            </a:r>
            <a:r>
              <a:rPr lang="fr-CA" b="1" dirty="0"/>
              <a:t>relance automatiquement la pipeline CI/CD</a:t>
            </a:r>
            <a:r>
              <a:rPr lang="fr-CA" dirty="0"/>
              <a:t>.</a:t>
            </a:r>
            <a:br>
              <a:rPr lang="fr-CA" dirty="0"/>
            </a:br>
            <a:r>
              <a:rPr lang="fr-CA" dirty="0"/>
              <a:t>Une fois corrigé, la </a:t>
            </a:r>
            <a:r>
              <a:rPr lang="fr-CA" b="1" dirty="0" err="1"/>
              <a:t>Quality</a:t>
            </a:r>
            <a:r>
              <a:rPr lang="fr-CA" b="1" dirty="0"/>
              <a:t> </a:t>
            </a:r>
            <a:r>
              <a:rPr lang="fr-CA" b="1" dirty="0" err="1"/>
              <a:t>Gate</a:t>
            </a:r>
            <a:r>
              <a:rPr lang="fr-CA" b="1" dirty="0"/>
              <a:t> passe au vert</a:t>
            </a:r>
            <a:r>
              <a:rPr lang="fr-CA" dirty="0"/>
              <a:t>, et le pipeline continue.</a:t>
            </a:r>
          </a:p>
          <a:p>
            <a:endParaRPr lang="fr-FR" dirty="0"/>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180</a:t>
            </a:fld>
            <a:endParaRPr lang="fr-FR" altLang="fr-FR"/>
          </a:p>
        </p:txBody>
      </p:sp>
    </p:spTree>
    <p:extLst>
      <p:ext uri="{BB962C8B-B14F-4D97-AF65-F5344CB8AC3E}">
        <p14:creationId xmlns:p14="http://schemas.microsoft.com/office/powerpoint/2010/main" val="1766403974"/>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FR" dirty="0"/>
              <a:t>Résumé:(</a:t>
            </a:r>
            <a:r>
              <a:rPr lang="en-US" dirty="0" err="1"/>
              <a:t>analyse</a:t>
            </a:r>
            <a:r>
              <a:rPr lang="en-US" dirty="0"/>
              <a:t>)</a:t>
            </a:r>
            <a:endParaRPr lang="fr-FR" dirty="0"/>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181</a:t>
            </a:fld>
            <a:endParaRPr lang="fr-FR" altLang="fr-F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700808"/>
            <a:ext cx="8136904" cy="36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4" y="5373216"/>
            <a:ext cx="8601075"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04649250"/>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F1123BAC-2BB5-2B16-29EE-A0862483F86E}"/>
              </a:ext>
            </a:extLst>
          </p:cNvPr>
          <p:cNvSpPr>
            <a:spLocks noGrp="1"/>
          </p:cNvSpPr>
          <p:nvPr>
            <p:ph type="title"/>
          </p:nvPr>
        </p:nvSpPr>
        <p:spPr/>
        <p:txBody>
          <a:bodyPr>
            <a:normAutofit fontScale="90000"/>
          </a:bodyPr>
          <a:lstStyle/>
          <a:p>
            <a:pPr>
              <a:defRPr/>
            </a:pPr>
            <a:r>
              <a:rPr lang="fr-CA" dirty="0"/>
              <a:t>1-Les trois piliers de la qualité du code (MFS)</a:t>
            </a:r>
            <a:endParaRPr lang="fr-FR" dirty="0"/>
          </a:p>
        </p:txBody>
      </p:sp>
      <p:sp>
        <p:nvSpPr>
          <p:cNvPr id="3" name="Espace réservé du contenu 2">
            <a:extLst>
              <a:ext uri="{FF2B5EF4-FFF2-40B4-BE49-F238E27FC236}">
                <a16:creationId xmlns="" xmlns:a16="http://schemas.microsoft.com/office/drawing/2014/main" id="{E316C74F-42DF-4C12-DE41-E7028CD119A9}"/>
              </a:ext>
            </a:extLst>
          </p:cNvPr>
          <p:cNvSpPr>
            <a:spLocks noGrp="1"/>
          </p:cNvSpPr>
          <p:nvPr>
            <p:ph idx="1"/>
          </p:nvPr>
        </p:nvSpPr>
        <p:spPr>
          <a:xfrm>
            <a:off x="457200" y="1600200"/>
            <a:ext cx="8507413" cy="4876800"/>
          </a:xfrm>
        </p:spPr>
        <p:txBody>
          <a:bodyPr/>
          <a:lstStyle/>
          <a:p>
            <a:pPr>
              <a:buFont typeface="Arial" charset="0"/>
              <a:buChar char="•"/>
              <a:defRPr/>
            </a:pPr>
            <a:r>
              <a:rPr lang="fr-CA" dirty="0" err="1"/>
              <a:t>SonarQube</a:t>
            </a:r>
            <a:r>
              <a:rPr lang="fr-CA" dirty="0"/>
              <a:t> classe les défauts logiciels selon 3 catégories :</a:t>
            </a:r>
          </a:p>
          <a:p>
            <a:pPr marL="0" indent="0">
              <a:buFont typeface="Arial" charset="0"/>
              <a:buNone/>
              <a:defRPr/>
            </a:pPr>
            <a:r>
              <a:rPr lang="fr-CA" dirty="0"/>
              <a:t> Scores  MSF:</a:t>
            </a:r>
          </a:p>
          <a:p>
            <a:pPr>
              <a:buFont typeface="Arial" charset="0"/>
              <a:buChar char="•"/>
              <a:defRPr/>
            </a:pPr>
            <a:r>
              <a:rPr lang="fr-CA" dirty="0"/>
              <a:t>•</a:t>
            </a:r>
            <a:r>
              <a:rPr lang="fr-CA" sz="2000" dirty="0"/>
              <a:t>Les bugs : est un défaut de conception d’un programme informatique à l’origine d’un dysfonctionnement, Ils impactent la </a:t>
            </a:r>
            <a:r>
              <a:rPr lang="fr-CA" sz="2000" b="1" dirty="0"/>
              <a:t>fiabilité</a:t>
            </a:r>
            <a:r>
              <a:rPr lang="fr-CA" sz="2000" dirty="0"/>
              <a:t> (</a:t>
            </a:r>
            <a:r>
              <a:rPr lang="fr-CA" sz="2000" dirty="0" err="1"/>
              <a:t>reliability</a:t>
            </a:r>
            <a:r>
              <a:rPr lang="fr-CA" sz="2000" dirty="0"/>
              <a:t>) de l’application. Ce nom vient du tout premier incident informatique qui a été causé par un insecte (</a:t>
            </a:r>
            <a:r>
              <a:rPr lang="fr-FR" sz="2000" dirty="0"/>
              <a:t>Harvard Mark II)</a:t>
            </a:r>
            <a:r>
              <a:rPr lang="fr-CA" sz="2000" dirty="0"/>
              <a:t>.</a:t>
            </a:r>
          </a:p>
          <a:p>
            <a:pPr>
              <a:buFont typeface="Arial" charset="0"/>
              <a:buChar char="•"/>
              <a:defRPr/>
            </a:pPr>
            <a:r>
              <a:rPr lang="fr-CA" sz="2000" dirty="0"/>
              <a:t>     </a:t>
            </a:r>
            <a:r>
              <a:rPr lang="fr-CA" sz="1600" dirty="0"/>
              <a:t>Exemple : variable non initialisée, boucle infinie, appel à une méthode inexistante.</a:t>
            </a:r>
          </a:p>
          <a:p>
            <a:pPr>
              <a:buFont typeface="Arial" charset="0"/>
              <a:buChar char="•"/>
              <a:defRPr/>
            </a:pPr>
            <a:r>
              <a:rPr lang="fr-CA" sz="2000" dirty="0"/>
              <a:t>•Les vulnérabilités : faiblesses du code pouvant nuire au système. Elles impactent la </a:t>
            </a:r>
            <a:r>
              <a:rPr lang="fr-CA" sz="2000" b="1" dirty="0"/>
              <a:t>sécurité</a:t>
            </a:r>
            <a:r>
              <a:rPr lang="fr-CA" sz="2000" dirty="0"/>
              <a:t> de l’application.</a:t>
            </a:r>
          </a:p>
          <a:p>
            <a:pPr>
              <a:buFont typeface="Arial" charset="0"/>
              <a:buChar char="•"/>
              <a:defRPr/>
            </a:pPr>
            <a:r>
              <a:rPr lang="fr-CA" sz="1600" dirty="0"/>
              <a:t>     Exemple : injection SQL, mot de passe en clair, gestion incorrecte des permissions.</a:t>
            </a:r>
            <a:endParaRPr lang="fr-CA" sz="2000" dirty="0"/>
          </a:p>
          <a:p>
            <a:pPr>
              <a:buFont typeface="Arial" charset="0"/>
              <a:buChar char="•"/>
              <a:defRPr/>
            </a:pPr>
            <a:r>
              <a:rPr lang="fr-CA" sz="2000" dirty="0"/>
              <a:t>•Les code </a:t>
            </a:r>
            <a:r>
              <a:rPr lang="fr-CA" sz="2000" dirty="0" err="1"/>
              <a:t>smells</a:t>
            </a:r>
            <a:r>
              <a:rPr lang="fr-CA" sz="2000" dirty="0"/>
              <a:t> : anti-patrons (ou anti-patterns). en général les défauts pratiques dans le code d’un programme comme code dupliqué , répété , commentaires non </a:t>
            </a:r>
            <a:r>
              <a:rPr lang="fr-CA" sz="2000"/>
              <a:t>nécessaires , </a:t>
            </a:r>
            <a:r>
              <a:rPr lang="fr-CA" sz="2000" dirty="0"/>
              <a:t>Ils impactent la </a:t>
            </a:r>
            <a:r>
              <a:rPr lang="fr-CA" sz="2000" b="1" dirty="0"/>
              <a:t>maintenabilité</a:t>
            </a:r>
            <a:r>
              <a:rPr lang="fr-CA" sz="2000" dirty="0"/>
              <a:t> de l’application</a:t>
            </a:r>
          </a:p>
          <a:p>
            <a:pPr>
              <a:buFont typeface="Arial" charset="0"/>
              <a:buChar char="•"/>
              <a:defRPr/>
            </a:pPr>
            <a:r>
              <a:rPr lang="fr-CA" sz="1600" dirty="0"/>
              <a:t>     Exemple : code dupliqué, commentaires inutiles, noms de variables ambigus</a:t>
            </a:r>
            <a:r>
              <a:rPr lang="fr-CA" sz="2000" dirty="0"/>
              <a:t>.</a:t>
            </a:r>
            <a:endParaRPr lang="fr-FR" sz="2000" dirty="0"/>
          </a:p>
        </p:txBody>
      </p:sp>
      <p:sp>
        <p:nvSpPr>
          <p:cNvPr id="134148" name="Espace réservé du numéro de diapositive 3">
            <a:extLst>
              <a:ext uri="{FF2B5EF4-FFF2-40B4-BE49-F238E27FC236}">
                <a16:creationId xmlns="" xmlns:a16="http://schemas.microsoft.com/office/drawing/2014/main" id="{703EF4A3-8CEC-1CAA-2096-087B1943286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65F3AB80-6B38-4B74-9682-634ECFA3B9F4}" type="slidenum">
              <a:rPr lang="fr-FR" altLang="fr-FR" sz="1400">
                <a:solidFill>
                  <a:srgbClr val="FFFFFF"/>
                </a:solidFill>
              </a:rPr>
              <a:pPr>
                <a:spcBef>
                  <a:spcPct val="0"/>
                </a:spcBef>
                <a:buClrTx/>
                <a:buSzTx/>
                <a:buFontTx/>
                <a:buNone/>
              </a:pPr>
              <a:t>182</a:t>
            </a:fld>
            <a:endParaRPr lang="fr-FR" altLang="fr-FR" sz="1400">
              <a:solidFill>
                <a:srgbClr val="FFFFFF"/>
              </a:solidFill>
            </a:endParaRP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BA3FCC9F-C20B-5CEA-8EBC-3BE50320B937}"/>
              </a:ext>
            </a:extLst>
          </p:cNvPr>
          <p:cNvSpPr>
            <a:spLocks noGrp="1"/>
          </p:cNvSpPr>
          <p:nvPr>
            <p:ph type="title"/>
          </p:nvPr>
        </p:nvSpPr>
        <p:spPr/>
        <p:txBody>
          <a:bodyPr>
            <a:normAutofit fontScale="90000"/>
          </a:bodyPr>
          <a:lstStyle/>
          <a:p>
            <a:pPr>
              <a:defRPr/>
            </a:pPr>
            <a:r>
              <a:rPr lang="fr-CA" dirty="0"/>
              <a:t>2-Les principales métriques de </a:t>
            </a:r>
            <a:r>
              <a:rPr lang="fr-CA" dirty="0" err="1"/>
              <a:t>SonarQube</a:t>
            </a:r>
            <a:endParaRPr lang="fr-FR" dirty="0"/>
          </a:p>
        </p:txBody>
      </p:sp>
      <p:sp>
        <p:nvSpPr>
          <p:cNvPr id="135171" name="Espace réservé du numéro de diapositive 3">
            <a:extLst>
              <a:ext uri="{FF2B5EF4-FFF2-40B4-BE49-F238E27FC236}">
                <a16:creationId xmlns="" xmlns:a16="http://schemas.microsoft.com/office/drawing/2014/main" id="{89A95AC9-2C67-EC4C-887C-733113BF53D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9EB178BF-706B-4F2F-B2AB-1B1567ABDDE3}" type="slidenum">
              <a:rPr lang="fr-FR" altLang="fr-FR" sz="1400">
                <a:solidFill>
                  <a:srgbClr val="FFFFFF"/>
                </a:solidFill>
              </a:rPr>
              <a:pPr>
                <a:spcBef>
                  <a:spcPct val="0"/>
                </a:spcBef>
                <a:buClrTx/>
                <a:buSzTx/>
                <a:buFontTx/>
                <a:buNone/>
              </a:pPr>
              <a:t>183</a:t>
            </a:fld>
            <a:endParaRPr lang="fr-FR" altLang="fr-FR" sz="1400">
              <a:solidFill>
                <a:srgbClr val="FFFFFF"/>
              </a:solidFill>
            </a:endParaRPr>
          </a:p>
        </p:txBody>
      </p:sp>
      <p:sp>
        <p:nvSpPr>
          <p:cNvPr id="4" name="Rectangle 2"/>
          <p:cNvSpPr>
            <a:spLocks noChangeArrowheads="1"/>
          </p:cNvSpPr>
          <p:nvPr/>
        </p:nvSpPr>
        <p:spPr bwMode="auto">
          <a:xfrm>
            <a:off x="352067" y="1567813"/>
            <a:ext cx="8791933" cy="5878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sz="1800" b="0" i="0" u="none" strike="noStrike" cap="none" normalizeH="0" baseline="0" dirty="0" err="1">
                <a:ln>
                  <a:noFill/>
                </a:ln>
                <a:solidFill>
                  <a:schemeClr val="tx1"/>
                </a:solidFill>
                <a:effectLst/>
                <a:latin typeface="Arial" pitchFamily="34" charset="0"/>
                <a:cs typeface="Arial" pitchFamily="34" charset="0"/>
              </a:rPr>
              <a:t>SonarQube</a:t>
            </a:r>
            <a:r>
              <a:rPr kumimoji="0" lang="fr-FR" sz="1800" b="0" i="0" u="none" strike="noStrike" cap="none" normalizeH="0" baseline="0" dirty="0">
                <a:ln>
                  <a:noFill/>
                </a:ln>
                <a:solidFill>
                  <a:schemeClr val="tx1"/>
                </a:solidFill>
                <a:effectLst/>
                <a:latin typeface="Arial" pitchFamily="34" charset="0"/>
                <a:cs typeface="Arial" pitchFamily="34" charset="0"/>
              </a:rPr>
              <a:t> calcule plusieurs </a:t>
            </a:r>
            <a:r>
              <a:rPr kumimoji="0" lang="fr-FR" sz="1800" b="1" i="0" u="none" strike="noStrike" cap="none" normalizeH="0" baseline="0" dirty="0">
                <a:ln>
                  <a:noFill/>
                </a:ln>
                <a:solidFill>
                  <a:schemeClr val="tx1"/>
                </a:solidFill>
                <a:effectLst/>
                <a:latin typeface="Arial" pitchFamily="34" charset="0"/>
                <a:cs typeface="Arial" pitchFamily="34" charset="0"/>
              </a:rPr>
              <a:t>indicateurs quantitatifs</a:t>
            </a:r>
            <a:r>
              <a:rPr kumimoji="0" lang="fr-FR" sz="1800" b="0" i="0" u="none" strike="noStrike" cap="none" normalizeH="0" baseline="0" dirty="0">
                <a:ln>
                  <a:noFill/>
                </a:ln>
                <a:solidFill>
                  <a:schemeClr val="tx1"/>
                </a:solidFill>
                <a:effectLst/>
                <a:latin typeface="Arial" pitchFamily="34" charset="0"/>
                <a:cs typeface="Arial" pitchFamily="34" charset="0"/>
              </a:rPr>
              <a:t> qui aident les équipes à suivre leur qualité.</a:t>
            </a:r>
            <a:endParaRPr kumimoji="0" lang="fr-FR" sz="700" b="1"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600" b="1" i="0" u="sng" strike="noStrike" cap="none" normalizeH="0" baseline="0" dirty="0">
                <a:ln>
                  <a:noFill/>
                </a:ln>
                <a:solidFill>
                  <a:schemeClr val="tx1"/>
                </a:solidFill>
                <a:effectLst/>
                <a:latin typeface="Arial" pitchFamily="34" charset="0"/>
                <a:cs typeface="Arial" pitchFamily="34" charset="0"/>
              </a:rPr>
              <a:t> a. Documentation</a:t>
            </a:r>
          </a:p>
          <a:p>
            <a:r>
              <a:rPr lang="fr-CA" b="1" dirty="0"/>
              <a:t>      Comment </a:t>
            </a:r>
            <a:r>
              <a:rPr lang="fr-CA" b="1" dirty="0" err="1"/>
              <a:t>lines</a:t>
            </a:r>
            <a:r>
              <a:rPr lang="fr-CA" dirty="0"/>
              <a:t> : nombre de lignes de commentaires.</a:t>
            </a:r>
          </a:p>
          <a:p>
            <a:r>
              <a:rPr lang="fr-CA" b="1" dirty="0"/>
              <a:t>      </a:t>
            </a:r>
            <a:r>
              <a:rPr lang="fr-CA" b="1" dirty="0" err="1"/>
              <a:t>Comments</a:t>
            </a:r>
            <a:r>
              <a:rPr lang="fr-CA" b="1" dirty="0"/>
              <a:t> </a:t>
            </a:r>
            <a:r>
              <a:rPr lang="fr-CA" b="1" dirty="0" err="1"/>
              <a:t>density</a:t>
            </a:r>
            <a:r>
              <a:rPr lang="fr-CA" dirty="0"/>
              <a:t> : ratio entre lignes de commentaires et lignes de code.</a:t>
            </a:r>
            <a:br>
              <a:rPr lang="fr-CA" dirty="0"/>
            </a:br>
            <a:r>
              <a:rPr lang="fr-CA" dirty="0"/>
              <a:t>Un bon équilibre garantit la compréhension sans sur-commenter.</a:t>
            </a:r>
          </a:p>
          <a:p>
            <a:r>
              <a:rPr lang="fr-CA" b="1" u="sng" dirty="0"/>
              <a:t>b. Duplication du code</a:t>
            </a:r>
          </a:p>
          <a:p>
            <a:r>
              <a:rPr lang="fr-CA" b="1" dirty="0"/>
              <a:t>  </a:t>
            </a:r>
            <a:r>
              <a:rPr lang="fr-CA" b="1" dirty="0" err="1"/>
              <a:t>Duplicated</a:t>
            </a:r>
            <a:r>
              <a:rPr lang="fr-CA" b="1" dirty="0"/>
              <a:t> </a:t>
            </a:r>
            <a:r>
              <a:rPr lang="fr-CA" b="1" dirty="0" err="1"/>
              <a:t>lines</a:t>
            </a:r>
            <a:r>
              <a:rPr lang="fr-CA" b="1" dirty="0"/>
              <a:t> (%)</a:t>
            </a:r>
            <a:r>
              <a:rPr lang="fr-CA" dirty="0"/>
              <a:t> : pourcentage de lignes identiques détectées.</a:t>
            </a:r>
            <a:br>
              <a:rPr lang="fr-CA" dirty="0"/>
            </a:br>
            <a:r>
              <a:rPr lang="fr-CA" dirty="0"/>
              <a:t>→ Trop de duplications = maintenance difficile et risque d’erreur accrue.</a:t>
            </a:r>
          </a:p>
          <a:p>
            <a:r>
              <a:rPr lang="fr-CA" b="1" u="sng" dirty="0"/>
              <a:t>c. Tests unitaires</a:t>
            </a:r>
          </a:p>
          <a:p>
            <a:r>
              <a:rPr lang="fr-CA" b="1" dirty="0" err="1"/>
              <a:t>Coverage</a:t>
            </a:r>
            <a:r>
              <a:rPr lang="fr-CA" b="1" dirty="0"/>
              <a:t> (couverture de tests)</a:t>
            </a:r>
            <a:r>
              <a:rPr lang="fr-CA" dirty="0"/>
              <a:t> : proportion de code exécuté par les tests.</a:t>
            </a:r>
          </a:p>
          <a:p>
            <a:r>
              <a:rPr lang="fr-CA" dirty="0"/>
              <a:t>Formule : (CT + CF + LC) / (2 × B + EL)</a:t>
            </a:r>
            <a:br>
              <a:rPr lang="fr-CA" dirty="0"/>
            </a:br>
            <a:r>
              <a:rPr lang="fr-CA" dirty="0"/>
              <a:t>(où CT/CF = conditions testées, LC = lignes couvertes, B = total conditions, EL = lignes exécutables)</a:t>
            </a:r>
          </a:p>
          <a:p>
            <a:r>
              <a:rPr lang="fr-CA" b="1" u="sng" dirty="0" err="1"/>
              <a:t>d,La</a:t>
            </a:r>
            <a:r>
              <a:rPr lang="fr-CA" b="1" u="sng" dirty="0"/>
              <a:t> complexité </a:t>
            </a:r>
            <a:r>
              <a:rPr lang="fr-CA" b="1" u="sng" dirty="0" err="1"/>
              <a:t>cyclomatique</a:t>
            </a:r>
            <a:r>
              <a:rPr lang="fr-CA" b="1" u="sng" dirty="0"/>
              <a:t> (</a:t>
            </a:r>
            <a:r>
              <a:rPr lang="fr-CA" b="1" u="sng" dirty="0" err="1"/>
              <a:t>Complexity</a:t>
            </a:r>
            <a:r>
              <a:rPr lang="fr-CA" b="1" u="sng" dirty="0"/>
              <a:t> / </a:t>
            </a:r>
            <a:r>
              <a:rPr lang="fr-CA" b="1" u="sng" dirty="0" err="1"/>
              <a:t>Method</a:t>
            </a:r>
            <a:r>
              <a:rPr lang="fr-CA" b="1" u="sng" dirty="0"/>
              <a:t>)</a:t>
            </a:r>
          </a:p>
          <a:p>
            <a:r>
              <a:rPr lang="fr-CA" dirty="0"/>
              <a:t>C’est une </a:t>
            </a:r>
            <a:r>
              <a:rPr lang="fr-CA" b="1" dirty="0"/>
              <a:t>mesure de la complexité d’une fonction ou d’un bout de code</a:t>
            </a:r>
            <a:r>
              <a:rPr lang="fr-CA" dirty="0"/>
              <a:t>.</a:t>
            </a:r>
            <a:br>
              <a:rPr lang="fr-CA" dirty="0"/>
            </a:br>
            <a:r>
              <a:rPr lang="fr-CA" dirty="0"/>
              <a:t>Elle indique </a:t>
            </a:r>
            <a:r>
              <a:rPr lang="fr-CA" b="1" dirty="0"/>
              <a:t>combien de chemins différents</a:t>
            </a:r>
            <a:r>
              <a:rPr lang="fr-CA" dirty="0"/>
              <a:t> le programme peut suivre quand il s’exécute.</a:t>
            </a:r>
          </a:p>
          <a:p>
            <a:endParaRPr lang="fr-CA" dirty="0"/>
          </a:p>
          <a:p>
            <a:endParaRPr lang="fr-CA"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sz="1800" b="0" i="0" u="none" strike="noStrike" cap="none" normalizeH="0" baseline="0" dirty="0">
              <a:ln>
                <a:noFill/>
              </a:ln>
              <a:solidFill>
                <a:schemeClr val="tx1"/>
              </a:solidFill>
              <a:effectLst/>
              <a:latin typeface="Arial" pitchFamily="34" charset="0"/>
              <a:cs typeface="Arial" pitchFamily="34" charset="0"/>
            </a:endParaRP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5A2B762B-AB38-E082-8CE4-CF38490DB35B}"/>
              </a:ext>
            </a:extLst>
          </p:cNvPr>
          <p:cNvSpPr>
            <a:spLocks noGrp="1"/>
          </p:cNvSpPr>
          <p:nvPr>
            <p:ph type="title"/>
          </p:nvPr>
        </p:nvSpPr>
        <p:spPr/>
        <p:txBody>
          <a:bodyPr/>
          <a:lstStyle/>
          <a:p>
            <a:pPr>
              <a:defRPr/>
            </a:pPr>
            <a:r>
              <a:rPr lang="fr-CA" dirty="0"/>
              <a:t>Exemple:</a:t>
            </a:r>
            <a:endParaRPr lang="fr-FR" dirty="0"/>
          </a:p>
        </p:txBody>
      </p:sp>
      <p:sp>
        <p:nvSpPr>
          <p:cNvPr id="139267" name="Espace réservé du contenu 2">
            <a:extLst>
              <a:ext uri="{FF2B5EF4-FFF2-40B4-BE49-F238E27FC236}">
                <a16:creationId xmlns="" xmlns:a16="http://schemas.microsoft.com/office/drawing/2014/main" id="{8F873039-F681-D30E-F882-1FD1E5978333}"/>
              </a:ext>
            </a:extLst>
          </p:cNvPr>
          <p:cNvSpPr>
            <a:spLocks noGrp="1"/>
          </p:cNvSpPr>
          <p:nvPr>
            <p:ph idx="1"/>
          </p:nvPr>
        </p:nvSpPr>
        <p:spPr/>
        <p:txBody>
          <a:bodyPr/>
          <a:lstStyle/>
          <a:p>
            <a:endParaRPr lang="fr-CA" altLang="fr-FR"/>
          </a:p>
          <a:p>
            <a:endParaRPr lang="fr-CA" altLang="fr-FR"/>
          </a:p>
          <a:p>
            <a:r>
              <a:rPr lang="fr-CA" altLang="fr-FR"/>
              <a:t>on va  tester sonarqube en local</a:t>
            </a:r>
          </a:p>
          <a:p>
            <a:endParaRPr lang="fr-CA" altLang="fr-FR"/>
          </a:p>
          <a:p>
            <a:r>
              <a:rPr lang="fr-CA" altLang="fr-FR"/>
              <a:t>1-telecharger : la version community edition</a:t>
            </a:r>
            <a:endParaRPr lang="fr-FR" altLang="fr-FR"/>
          </a:p>
        </p:txBody>
      </p:sp>
      <p:sp>
        <p:nvSpPr>
          <p:cNvPr id="139268" name="Espace réservé du numéro de diapositive 3">
            <a:extLst>
              <a:ext uri="{FF2B5EF4-FFF2-40B4-BE49-F238E27FC236}">
                <a16:creationId xmlns="" xmlns:a16="http://schemas.microsoft.com/office/drawing/2014/main" id="{05FDABC1-8E95-9F54-B634-78D4A46B575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9EC36AE8-C849-4E0E-9056-8D81EE6D8B0F}" type="slidenum">
              <a:rPr lang="fr-FR" altLang="fr-FR" sz="1400">
                <a:solidFill>
                  <a:srgbClr val="FFFFFF"/>
                </a:solidFill>
              </a:rPr>
              <a:pPr>
                <a:spcBef>
                  <a:spcPct val="0"/>
                </a:spcBef>
                <a:buClrTx/>
                <a:buSzTx/>
                <a:buFontTx/>
                <a:buNone/>
              </a:pPr>
              <a:t>184</a:t>
            </a:fld>
            <a:endParaRPr lang="fr-FR" altLang="fr-FR" sz="1400">
              <a:solidFill>
                <a:srgbClr val="FFFFFF"/>
              </a:solidFill>
            </a:endParaRP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FA3E91F1-176A-1295-FF4E-6C3EC50E171D}"/>
              </a:ext>
            </a:extLst>
          </p:cNvPr>
          <p:cNvSpPr>
            <a:spLocks noGrp="1"/>
          </p:cNvSpPr>
          <p:nvPr>
            <p:ph type="title"/>
          </p:nvPr>
        </p:nvSpPr>
        <p:spPr/>
        <p:txBody>
          <a:bodyPr/>
          <a:lstStyle/>
          <a:p>
            <a:pPr>
              <a:defRPr/>
            </a:pPr>
            <a:endParaRPr lang="fr-FR"/>
          </a:p>
        </p:txBody>
      </p:sp>
      <p:sp>
        <p:nvSpPr>
          <p:cNvPr id="140291" name="Espace réservé du numéro de diapositive 3">
            <a:extLst>
              <a:ext uri="{FF2B5EF4-FFF2-40B4-BE49-F238E27FC236}">
                <a16:creationId xmlns="" xmlns:a16="http://schemas.microsoft.com/office/drawing/2014/main" id="{682AD24A-5BF3-5374-FE52-03247DBBFAF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C6E58FD7-B784-4032-9B8D-60710411A0EA}" type="slidenum">
              <a:rPr lang="fr-FR" altLang="fr-FR" sz="1400">
                <a:solidFill>
                  <a:srgbClr val="FFFFFF"/>
                </a:solidFill>
              </a:rPr>
              <a:pPr>
                <a:spcBef>
                  <a:spcPct val="0"/>
                </a:spcBef>
                <a:buClrTx/>
                <a:buSzTx/>
                <a:buFontTx/>
                <a:buNone/>
              </a:pPr>
              <a:t>185</a:t>
            </a:fld>
            <a:endParaRPr lang="fr-FR" altLang="fr-FR" sz="1400">
              <a:solidFill>
                <a:srgbClr val="FFFFFF"/>
              </a:solidFill>
            </a:endParaRPr>
          </a:p>
        </p:txBody>
      </p:sp>
      <p:pic>
        <p:nvPicPr>
          <p:cNvPr id="140292" name="Picture 2">
            <a:extLst>
              <a:ext uri="{FF2B5EF4-FFF2-40B4-BE49-F238E27FC236}">
                <a16:creationId xmlns="" xmlns:a16="http://schemas.microsoft.com/office/drawing/2014/main" id="{2C6BDF6E-778B-977C-0113-390374243D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350" y="1916113"/>
            <a:ext cx="5656263" cy="4297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63AF8B14-CBAD-B4A5-23A1-1F269CCD5286}"/>
              </a:ext>
            </a:extLst>
          </p:cNvPr>
          <p:cNvSpPr>
            <a:spLocks noGrp="1"/>
          </p:cNvSpPr>
          <p:nvPr>
            <p:ph type="title"/>
          </p:nvPr>
        </p:nvSpPr>
        <p:spPr/>
        <p:txBody>
          <a:bodyPr/>
          <a:lstStyle/>
          <a:p>
            <a:pPr>
              <a:defRPr/>
            </a:pPr>
            <a:endParaRPr lang="fr-FR"/>
          </a:p>
        </p:txBody>
      </p:sp>
      <p:sp>
        <p:nvSpPr>
          <p:cNvPr id="141315" name="Espace réservé du contenu 2">
            <a:extLst>
              <a:ext uri="{FF2B5EF4-FFF2-40B4-BE49-F238E27FC236}">
                <a16:creationId xmlns="" xmlns:a16="http://schemas.microsoft.com/office/drawing/2014/main" id="{42E15BD1-9315-D200-3184-3D8B5D122996}"/>
              </a:ext>
            </a:extLst>
          </p:cNvPr>
          <p:cNvSpPr>
            <a:spLocks noGrp="1"/>
          </p:cNvSpPr>
          <p:nvPr>
            <p:ph idx="1"/>
          </p:nvPr>
        </p:nvSpPr>
        <p:spPr/>
        <p:txBody>
          <a:bodyPr/>
          <a:lstStyle/>
          <a:p>
            <a:r>
              <a:rPr lang="fr-CA" altLang="fr-FR"/>
              <a:t>Lancer le fichier : StarSonar.bat </a:t>
            </a:r>
            <a:endParaRPr lang="fr-FR" altLang="fr-FR"/>
          </a:p>
        </p:txBody>
      </p:sp>
      <p:sp>
        <p:nvSpPr>
          <p:cNvPr id="141316" name="Espace réservé du numéro de diapositive 3">
            <a:extLst>
              <a:ext uri="{FF2B5EF4-FFF2-40B4-BE49-F238E27FC236}">
                <a16:creationId xmlns="" xmlns:a16="http://schemas.microsoft.com/office/drawing/2014/main" id="{D81CA9B7-585B-542E-CC48-5118581C769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0712950A-390E-4C99-B9C4-F955923D9AED}" type="slidenum">
              <a:rPr lang="fr-FR" altLang="fr-FR" sz="1400">
                <a:solidFill>
                  <a:srgbClr val="FFFFFF"/>
                </a:solidFill>
              </a:rPr>
              <a:pPr>
                <a:spcBef>
                  <a:spcPct val="0"/>
                </a:spcBef>
                <a:buClrTx/>
                <a:buSzTx/>
                <a:buFontTx/>
                <a:buNone/>
              </a:pPr>
              <a:t>186</a:t>
            </a:fld>
            <a:endParaRPr lang="fr-FR" altLang="fr-FR" sz="1400">
              <a:solidFill>
                <a:srgbClr val="FFFFFF"/>
              </a:solidFill>
            </a:endParaRPr>
          </a:p>
        </p:txBody>
      </p:sp>
      <p:pic>
        <p:nvPicPr>
          <p:cNvPr id="141317" name="Picture 2">
            <a:extLst>
              <a:ext uri="{FF2B5EF4-FFF2-40B4-BE49-F238E27FC236}">
                <a16:creationId xmlns="" xmlns:a16="http://schemas.microsoft.com/office/drawing/2014/main" id="{88959388-0801-DEF7-A499-2B9F82725C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3213100"/>
            <a:ext cx="8210550"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1318" name="Rectangle 4">
            <a:extLst>
              <a:ext uri="{FF2B5EF4-FFF2-40B4-BE49-F238E27FC236}">
                <a16:creationId xmlns="" xmlns:a16="http://schemas.microsoft.com/office/drawing/2014/main" id="{B55AD609-626E-B331-9E6C-5693D34E8895}"/>
              </a:ext>
            </a:extLst>
          </p:cNvPr>
          <p:cNvSpPr>
            <a:spLocks noChangeArrowheads="1"/>
          </p:cNvSpPr>
          <p:nvPr/>
        </p:nvSpPr>
        <p:spPr bwMode="auto">
          <a:xfrm>
            <a:off x="1042988" y="5084763"/>
            <a:ext cx="72009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eaLnBrk="1" hangingPunct="1">
              <a:spcBef>
                <a:spcPct val="0"/>
              </a:spcBef>
              <a:buClrTx/>
              <a:buSzTx/>
              <a:buFontTx/>
              <a:buNone/>
            </a:pPr>
            <a:r>
              <a:rPr lang="fr-CA" altLang="fr-FR" sz="1800" dirty="0"/>
              <a:t>ouvrir le navigateur : http://localhost:9000/</a:t>
            </a:r>
          </a:p>
          <a:p>
            <a:pPr eaLnBrk="1" hangingPunct="1">
              <a:spcBef>
                <a:spcPct val="0"/>
              </a:spcBef>
              <a:buClrTx/>
              <a:buSzTx/>
              <a:buFontTx/>
              <a:buNone/>
            </a:pPr>
            <a:endParaRPr lang="fr-CA" altLang="fr-FR" sz="1800" dirty="0"/>
          </a:p>
          <a:p>
            <a:pPr eaLnBrk="1" hangingPunct="1">
              <a:spcBef>
                <a:spcPct val="0"/>
              </a:spcBef>
              <a:buClrTx/>
              <a:buSzTx/>
              <a:buFontTx/>
              <a:buNone/>
            </a:pPr>
            <a:r>
              <a:rPr lang="fr-CA" altLang="fr-FR" sz="1800" dirty="0"/>
              <a:t>par </a:t>
            </a:r>
            <a:r>
              <a:rPr lang="fr-CA" altLang="fr-FR" sz="1800" dirty="0" err="1"/>
              <a:t>defaut</a:t>
            </a:r>
            <a:r>
              <a:rPr lang="fr-CA" altLang="fr-FR" sz="1800" dirty="0"/>
              <a:t> (</a:t>
            </a:r>
            <a:r>
              <a:rPr lang="fr-CA" altLang="fr-FR" sz="1800" dirty="0" err="1"/>
              <a:t>admin</a:t>
            </a:r>
            <a:r>
              <a:rPr lang="fr-CA" altLang="fr-FR" sz="1800" dirty="0"/>
              <a:t>/</a:t>
            </a:r>
            <a:r>
              <a:rPr lang="fr-CA" altLang="fr-FR" sz="1800" dirty="0" err="1"/>
              <a:t>admin</a:t>
            </a:r>
            <a:r>
              <a:rPr lang="fr-CA" altLang="fr-FR" sz="1800" dirty="0"/>
              <a:t>)    changer le </a:t>
            </a:r>
            <a:r>
              <a:rPr lang="fr-CA" altLang="fr-FR" sz="1800" dirty="0" err="1"/>
              <a:t>pass</a:t>
            </a:r>
            <a:r>
              <a:rPr lang="fr-CA" altLang="fr-FR" sz="1800" dirty="0"/>
              <a:t> exemple:   (</a:t>
            </a:r>
            <a:r>
              <a:rPr lang="fr-CA" altLang="fr-FR" sz="1800" dirty="0" err="1"/>
              <a:t>admin-root</a:t>
            </a:r>
            <a:r>
              <a:rPr lang="fr-CA" altLang="fr-FR" sz="1800" dirty="0"/>
              <a:t>)</a:t>
            </a:r>
            <a:endParaRPr lang="fr-FR" altLang="fr-FR" sz="1800" dirty="0"/>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 xmlns:a16="http://schemas.microsoft.com/office/drawing/2014/main" id="{C9765E71-260F-A111-91FD-E908B0931BF5}"/>
              </a:ext>
            </a:extLst>
          </p:cNvPr>
          <p:cNvSpPr>
            <a:spLocks noGrp="1"/>
          </p:cNvSpPr>
          <p:nvPr>
            <p:ph type="title"/>
          </p:nvPr>
        </p:nvSpPr>
        <p:spPr/>
        <p:txBody>
          <a:bodyPr/>
          <a:lstStyle/>
          <a:p>
            <a:pPr>
              <a:defRPr/>
            </a:pPr>
            <a:endParaRPr lang="fr-FR"/>
          </a:p>
        </p:txBody>
      </p:sp>
      <p:sp>
        <p:nvSpPr>
          <p:cNvPr id="142339" name="Espace réservé du contenu 2">
            <a:extLst>
              <a:ext uri="{FF2B5EF4-FFF2-40B4-BE49-F238E27FC236}">
                <a16:creationId xmlns="" xmlns:a16="http://schemas.microsoft.com/office/drawing/2014/main" id="{E927DCF0-D101-7C2D-9014-917B572049A2}"/>
              </a:ext>
            </a:extLst>
          </p:cNvPr>
          <p:cNvSpPr>
            <a:spLocks noGrp="1"/>
          </p:cNvSpPr>
          <p:nvPr>
            <p:ph idx="1"/>
          </p:nvPr>
        </p:nvSpPr>
        <p:spPr/>
        <p:txBody>
          <a:bodyPr/>
          <a:lstStyle/>
          <a:p>
            <a:r>
              <a:rPr lang="fr-CA" altLang="fr-FR"/>
              <a:t>Pour pouvoir analyser le code télécharger : sonarscanner </a:t>
            </a:r>
          </a:p>
          <a:p>
            <a:endParaRPr lang="fr-CA" altLang="fr-FR"/>
          </a:p>
          <a:p>
            <a:endParaRPr lang="fr-FR" altLang="fr-FR"/>
          </a:p>
        </p:txBody>
      </p:sp>
      <p:sp>
        <p:nvSpPr>
          <p:cNvPr id="142340" name="Espace réservé du numéro de diapositive 3">
            <a:extLst>
              <a:ext uri="{FF2B5EF4-FFF2-40B4-BE49-F238E27FC236}">
                <a16:creationId xmlns="" xmlns:a16="http://schemas.microsoft.com/office/drawing/2014/main" id="{FC343575-4FCB-846C-1B05-C7632BE7D0D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a:spcBef>
                <a:spcPct val="0"/>
              </a:spcBef>
              <a:buClrTx/>
              <a:buSzTx/>
              <a:buFontTx/>
              <a:buNone/>
            </a:pPr>
            <a:fld id="{E7BC321C-1141-4250-BFA7-01D6661027C0}" type="slidenum">
              <a:rPr lang="fr-FR" altLang="fr-FR" sz="1400">
                <a:solidFill>
                  <a:srgbClr val="FFFFFF"/>
                </a:solidFill>
              </a:rPr>
              <a:pPr>
                <a:spcBef>
                  <a:spcPct val="0"/>
                </a:spcBef>
                <a:buClrTx/>
                <a:buSzTx/>
                <a:buFontTx/>
                <a:buNone/>
              </a:pPr>
              <a:t>187</a:t>
            </a:fld>
            <a:endParaRPr lang="fr-FR" altLang="fr-FR" sz="1400">
              <a:solidFill>
                <a:srgbClr val="FFFFFF"/>
              </a:solidFill>
            </a:endParaRPr>
          </a:p>
        </p:txBody>
      </p:sp>
      <p:sp>
        <p:nvSpPr>
          <p:cNvPr id="142341" name="Rectangle 4">
            <a:extLst>
              <a:ext uri="{FF2B5EF4-FFF2-40B4-BE49-F238E27FC236}">
                <a16:creationId xmlns="" xmlns:a16="http://schemas.microsoft.com/office/drawing/2014/main" id="{A78EA8BA-31BC-22C7-A0A6-15D853A068FC}"/>
              </a:ext>
            </a:extLst>
          </p:cNvPr>
          <p:cNvSpPr>
            <a:spLocks noChangeArrowheads="1"/>
          </p:cNvSpPr>
          <p:nvPr/>
        </p:nvSpPr>
        <p:spPr bwMode="auto">
          <a:xfrm>
            <a:off x="719138" y="2924175"/>
            <a:ext cx="756126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85000"/>
              <a:buFont typeface="Arial" panose="020B0604020202020204" pitchFamily="34" charset="0"/>
              <a:buChar char="•"/>
              <a:defRPr sz="2400">
                <a:solidFill>
                  <a:schemeClr val="tx1"/>
                </a:solidFill>
                <a:latin typeface="Arial" panose="020B0604020202020204" pitchFamily="34" charset="0"/>
              </a:defRPr>
            </a:lvl1pPr>
            <a:lvl2pPr marL="742950" indent="-285750">
              <a:spcBef>
                <a:spcPct val="20000"/>
              </a:spcBef>
              <a:buClr>
                <a:schemeClr val="accent1"/>
              </a:buClr>
              <a:buSzPct val="85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20000"/>
              </a:spcBef>
              <a:buClr>
                <a:schemeClr val="accent1"/>
              </a:buClr>
              <a:buSzPct val="90000"/>
              <a:buFont typeface="Arial" panose="020B0604020202020204" pitchFamily="34" charset="0"/>
              <a:buChar char="•"/>
              <a:defRPr>
                <a:solidFill>
                  <a:schemeClr val="tx1"/>
                </a:solidFill>
                <a:latin typeface="Arial" panose="020B0604020202020204" pitchFamily="34" charset="0"/>
              </a:defRPr>
            </a:lvl3pPr>
            <a:lvl4pPr marL="1600200" indent="-228600">
              <a:spcBef>
                <a:spcPct val="20000"/>
              </a:spcBef>
              <a:buClr>
                <a:schemeClr val="accent1"/>
              </a:buClr>
              <a:buFont typeface="Arial" panose="020B0604020202020204" pitchFamily="34" charset="0"/>
              <a:buChar char="•"/>
              <a:defRPr sz="1600">
                <a:solidFill>
                  <a:schemeClr val="tx1"/>
                </a:solidFill>
                <a:latin typeface="Arial" panose="020B0604020202020204" pitchFamily="34" charset="0"/>
              </a:defRPr>
            </a:lvl4pPr>
            <a:lvl5pPr marL="2057400" indent="-228600">
              <a:spcBef>
                <a:spcPct val="20000"/>
              </a:spcBef>
              <a:buClr>
                <a:schemeClr val="accent1"/>
              </a:buClr>
              <a:buSzPct val="100000"/>
              <a:buFont typeface="Arial" panose="020B0604020202020204" pitchFamily="34" charset="0"/>
              <a:buChar char="•"/>
              <a:defRPr sz="14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100000"/>
              <a:buFont typeface="Arial" panose="020B0604020202020204" pitchFamily="34" charset="0"/>
              <a:buChar char="•"/>
              <a:defRPr sz="1400">
                <a:solidFill>
                  <a:schemeClr val="tx1"/>
                </a:solidFill>
                <a:latin typeface="Arial" panose="020B0604020202020204" pitchFamily="34" charset="0"/>
              </a:defRPr>
            </a:lvl9pPr>
          </a:lstStyle>
          <a:p>
            <a:pPr eaLnBrk="1" hangingPunct="1">
              <a:spcBef>
                <a:spcPct val="0"/>
              </a:spcBef>
              <a:buClrTx/>
              <a:buSzTx/>
              <a:buFontTx/>
              <a:buNone/>
            </a:pPr>
            <a:r>
              <a:rPr lang="en-US" altLang="fr-FR" sz="1800"/>
              <a:t>download sonarscanner  for windows: </a:t>
            </a:r>
          </a:p>
          <a:p>
            <a:pPr eaLnBrk="1" hangingPunct="1">
              <a:spcBef>
                <a:spcPct val="0"/>
              </a:spcBef>
              <a:buClrTx/>
              <a:buSzTx/>
              <a:buFontTx/>
              <a:buNone/>
            </a:pPr>
            <a:r>
              <a:rPr lang="en-US" altLang="fr-FR" sz="1800"/>
              <a:t>https://docs.sonarqube.org/latest/analysis/scan/sonarscanner/</a:t>
            </a:r>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1-créer un nouveau projet</a:t>
            </a:r>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188</a:t>
            </a:fld>
            <a:endParaRPr lang="fr-FR" altLang="fr-FR"/>
          </a:p>
        </p:txBody>
      </p:sp>
      <p:pic>
        <p:nvPicPr>
          <p:cNvPr id="1126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2204864"/>
            <a:ext cx="7877206" cy="274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95261532"/>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189</a:t>
            </a:fld>
            <a:endParaRPr lang="fr-FR" altLang="fr-FR"/>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1484784"/>
            <a:ext cx="7188200" cy="4933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51014616"/>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2-choisir un projet local</a:t>
            </a:r>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190</a:t>
            </a:fld>
            <a:endParaRPr lang="fr-FR" altLang="fr-FR"/>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2276871"/>
            <a:ext cx="8244408" cy="3466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72408335"/>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t>3-</a:t>
            </a:r>
            <a:r>
              <a:rPr lang="fr-CA" dirty="0"/>
              <a:t> Génération d’un </a:t>
            </a:r>
            <a:r>
              <a:rPr lang="fr-CA" dirty="0" err="1"/>
              <a:t>token</a:t>
            </a:r>
            <a:r>
              <a:rPr lang="fr-CA" dirty="0"/>
              <a:t> d’analyse dans </a:t>
            </a:r>
            <a:r>
              <a:rPr lang="fr-CA" dirty="0" err="1"/>
              <a:t>SonarQube</a:t>
            </a:r>
            <a:endParaRPr lang="fr-FR" dirty="0"/>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191</a:t>
            </a:fld>
            <a:endParaRPr lang="fr-FR" altLang="fr-FR"/>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8343" y="2060848"/>
            <a:ext cx="8534400" cy="3702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02792157"/>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192</a:t>
            </a:fld>
            <a:endParaRPr lang="fr-FR" altLang="fr-FR"/>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2139950"/>
            <a:ext cx="8236272" cy="31612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69884980"/>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CA" sz="2000" b="1" dirty="0"/>
              <a:t>4-Choisir le type de projet</a:t>
            </a:r>
            <a:r>
              <a:rPr lang="fr-CA" sz="2000" dirty="0"/>
              <a:t> (</a:t>
            </a:r>
            <a:r>
              <a:rPr lang="fr-CA" sz="2000" dirty="0" err="1"/>
              <a:t>Maven</a:t>
            </a:r>
            <a:r>
              <a:rPr lang="fr-CA" sz="2000" dirty="0"/>
              <a:t>, </a:t>
            </a:r>
            <a:r>
              <a:rPr lang="fr-CA" sz="2000" dirty="0" err="1"/>
              <a:t>Gradle</a:t>
            </a:r>
            <a:r>
              <a:rPr lang="fr-CA" sz="2000" dirty="0"/>
              <a:t>, .NET ou autres langages) afin de </a:t>
            </a:r>
            <a:r>
              <a:rPr lang="fr-CA" sz="2000" b="1" dirty="0"/>
              <a:t>lancer l’analyse du code</a:t>
            </a:r>
            <a:r>
              <a:rPr lang="fr-CA" sz="2000" dirty="0"/>
              <a:t> avec le scanner approprié.</a:t>
            </a:r>
            <a:endParaRPr lang="fr-FR" sz="2000" dirty="0"/>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193</a:t>
            </a:fld>
            <a:endParaRPr lang="fr-FR" altLang="fr-FR"/>
          </a:p>
        </p:txBody>
      </p:sp>
      <p:pic>
        <p:nvPicPr>
          <p:cNvPr id="1638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32856"/>
            <a:ext cx="8604448" cy="4248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23790254"/>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5-Lancer le Scan</a:t>
            </a:r>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194</a:t>
            </a:fld>
            <a:endParaRPr lang="fr-FR" altLang="fr-FR"/>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3068960"/>
            <a:ext cx="7992888" cy="32838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899592" y="1484784"/>
            <a:ext cx="7416824" cy="923330"/>
          </a:xfrm>
          <a:prstGeom prst="rect">
            <a:avLst/>
          </a:prstGeom>
        </p:spPr>
        <p:txBody>
          <a:bodyPr wrap="square">
            <a:spAutoFit/>
          </a:bodyPr>
          <a:lstStyle/>
          <a:p>
            <a:r>
              <a:rPr lang="fr-FR" dirty="0"/>
              <a:t>sonar-scanner.bat -</a:t>
            </a:r>
            <a:r>
              <a:rPr lang="fr-FR" dirty="0" err="1"/>
              <a:t>D"sonar.projectKey</a:t>
            </a:r>
            <a:r>
              <a:rPr lang="fr-FR" dirty="0"/>
              <a:t>=</a:t>
            </a:r>
            <a:r>
              <a:rPr lang="fr-FR" dirty="0" err="1"/>
              <a:t>sonarp</a:t>
            </a:r>
            <a:r>
              <a:rPr lang="fr-FR" dirty="0"/>
              <a:t>" -</a:t>
            </a:r>
            <a:r>
              <a:rPr lang="fr-FR" dirty="0" err="1"/>
              <a:t>D"sonar.sources</a:t>
            </a:r>
            <a:r>
              <a:rPr lang="fr-FR" dirty="0"/>
              <a:t>=." -</a:t>
            </a:r>
            <a:r>
              <a:rPr lang="fr-FR" dirty="0" err="1"/>
              <a:t>D"sonar.host.url</a:t>
            </a:r>
            <a:r>
              <a:rPr lang="fr-FR" dirty="0"/>
              <a:t>=http://localhost:9000" -</a:t>
            </a:r>
            <a:r>
              <a:rPr lang="fr-FR" dirty="0" err="1"/>
              <a:t>D"sonar.login</a:t>
            </a:r>
            <a:r>
              <a:rPr lang="fr-FR" dirty="0"/>
              <a:t>=sqp_dec93f8ef1ebb49c9dee515c2a539ff577be3ce6"</a:t>
            </a:r>
          </a:p>
        </p:txBody>
      </p:sp>
    </p:spTree>
    <p:extLst>
      <p:ext uri="{BB962C8B-B14F-4D97-AF65-F5344CB8AC3E}">
        <p14:creationId xmlns:p14="http://schemas.microsoft.com/office/powerpoint/2010/main" val="3427967642"/>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6-afficher le résultat</a:t>
            </a:r>
          </a:p>
        </p:txBody>
      </p:sp>
      <p:sp>
        <p:nvSpPr>
          <p:cNvPr id="4" name="Espace réservé du numéro de diapositive 3"/>
          <p:cNvSpPr>
            <a:spLocks noGrp="1"/>
          </p:cNvSpPr>
          <p:nvPr>
            <p:ph type="sldNum" sz="quarter" idx="12"/>
          </p:nvPr>
        </p:nvSpPr>
        <p:spPr/>
        <p:txBody>
          <a:bodyPr/>
          <a:lstStyle/>
          <a:p>
            <a:pPr>
              <a:defRPr/>
            </a:pPr>
            <a:fld id="{5AADBDEC-170C-4FD0-9153-539311C0A87E}" type="slidenum">
              <a:rPr lang="fr-FR" altLang="fr-FR" smtClean="0"/>
              <a:pPr>
                <a:defRPr/>
              </a:pPr>
              <a:t>195</a:t>
            </a:fld>
            <a:endParaRPr lang="fr-FR" altLang="fr-FR"/>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40" y="2276872"/>
            <a:ext cx="8763000" cy="25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3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719" y="2795049"/>
            <a:ext cx="8680421" cy="3960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6775825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té">
  <a:themeElements>
    <a:clrScheme name="Clarté">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que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té">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larté">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themeOverride>
</file>

<file path=ppt/theme/themeOverride2.xml><?xml version="1.0" encoding="utf-8"?>
<a:themeOverride xmlns:a="http://schemas.openxmlformats.org/drawingml/2006/main">
  <a:clrScheme name="Clarté">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themeOverride>
</file>

<file path=ppt/theme/themeOverride3.xml><?xml version="1.0" encoding="utf-8"?>
<a:themeOverride xmlns:a="http://schemas.openxmlformats.org/drawingml/2006/main">
  <a:clrScheme name="Clarté">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5746</TotalTime>
  <Words>4810</Words>
  <Application>Microsoft Office PowerPoint</Application>
  <PresentationFormat>Affichage à l'écran (4:3)</PresentationFormat>
  <Paragraphs>877</Paragraphs>
  <Slides>195</Slides>
  <Notes>0</Notes>
  <HiddenSlides>0</HiddenSlides>
  <MMClips>0</MMClips>
  <ScaleCrop>false</ScaleCrop>
  <HeadingPairs>
    <vt:vector size="6" baseType="variant">
      <vt:variant>
        <vt:lpstr>Thème</vt:lpstr>
      </vt:variant>
      <vt:variant>
        <vt:i4>1</vt:i4>
      </vt:variant>
      <vt:variant>
        <vt:lpstr>Serveurs OLE incorporés</vt:lpstr>
      </vt:variant>
      <vt:variant>
        <vt:i4>1</vt:i4>
      </vt:variant>
      <vt:variant>
        <vt:lpstr>Titres des diapositives</vt:lpstr>
      </vt:variant>
      <vt:variant>
        <vt:i4>195</vt:i4>
      </vt:variant>
    </vt:vector>
  </HeadingPairs>
  <TitlesOfParts>
    <vt:vector size="197" baseType="lpstr">
      <vt:lpstr>Clarté</vt:lpstr>
      <vt:lpstr>MS Org Chart</vt:lpstr>
      <vt:lpstr>Gestion de projets</vt:lpstr>
      <vt:lpstr>I-Qu'est ce qu'un projet ?</vt:lpstr>
      <vt:lpstr>Qu'est ce qu'un projet ?</vt:lpstr>
      <vt:lpstr>Les axes clés encadrés par la Charte de projet</vt:lpstr>
      <vt:lpstr>Exemple : Développement d’une application mobile de gestion des transports urbains</vt:lpstr>
      <vt:lpstr>Présentation PowerPoint</vt:lpstr>
      <vt:lpstr>Présentation PowerPoint</vt:lpstr>
      <vt:lpstr>Présentation PowerPoint</vt:lpstr>
      <vt:lpstr> II-La Gestion de projets.</vt:lpstr>
      <vt:lpstr>Contraintes dans la gestion d’un projet  </vt:lpstr>
      <vt:lpstr>III-Caractéristiques générales d’un projet informatique </vt:lpstr>
      <vt:lpstr>Exemple : Développement d’une application mobile de réservation de salles de réunion pour une entreprise</vt:lpstr>
      <vt:lpstr>Présentation PowerPoint</vt:lpstr>
      <vt:lpstr>Présentation PowerPoint</vt:lpstr>
      <vt:lpstr>Présentation PowerPoint</vt:lpstr>
      <vt:lpstr>Présentation PowerPoint</vt:lpstr>
      <vt:lpstr>Acteurs(Le couple MOA-MOE )</vt:lpstr>
      <vt:lpstr>Présentation PowerPoint</vt:lpstr>
      <vt:lpstr>Le chef de projet </vt:lpstr>
      <vt:lpstr>Le chef de projet</vt:lpstr>
      <vt:lpstr>Cycle de vie d’un projet informatique</vt:lpstr>
      <vt:lpstr>phase de recette</vt:lpstr>
      <vt:lpstr>Présentation PowerPoint</vt:lpstr>
      <vt:lpstr>caractéristiques:</vt:lpstr>
      <vt:lpstr>Présentation PowerPoint</vt:lpstr>
      <vt:lpstr>Présentation PowerPoint</vt:lpstr>
      <vt:lpstr>exemple concret : un projet de mise en place d’un système de gestion universitaire (gestion des étudiants, des cours et des examens).</vt:lpstr>
      <vt:lpstr>Présentation PowerPoint</vt:lpstr>
      <vt:lpstr>Présentation PowerPoint</vt:lpstr>
      <vt:lpstr>Présentation PowerPoint</vt:lpstr>
      <vt:lpstr>Différence en une phrase </vt:lpstr>
      <vt:lpstr>IV-L’ordonnancement et la planification</vt:lpstr>
      <vt:lpstr>V-LE DIAGRAMME DE GANTT</vt:lpstr>
      <vt:lpstr>VI-LE DIAGRAMME DE PERT</vt:lpstr>
      <vt:lpstr>Exemples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4 valeurs</vt:lpstr>
      <vt:lpstr>12 principes</vt:lpstr>
      <vt:lpstr>Présentation PowerPoint</vt:lpstr>
      <vt:lpstr>Présentation PowerPoint</vt:lpstr>
      <vt:lpstr>Présentation PowerPoint</vt:lpstr>
      <vt:lpstr>En résumé</vt:lpstr>
      <vt:lpstr>Présentation PowerPoint</vt:lpstr>
      <vt:lpstr>Présentation PowerPoint</vt:lpstr>
      <vt:lpstr>Agilité</vt:lpstr>
      <vt:lpstr>SCRUM</vt:lpstr>
      <vt:lpstr>Framework SCRUM</vt:lpstr>
      <vt:lpstr>Sprint</vt:lpstr>
      <vt:lpstr>Présentation PowerPoint</vt:lpstr>
      <vt:lpstr>Présentation PowerPoint</vt:lpstr>
      <vt:lpstr>Présentation PowerPoint</vt:lpstr>
      <vt:lpstr>Présentation PowerPoint</vt:lpstr>
      <vt:lpstr>Framework SCRUM</vt:lpstr>
      <vt:lpstr>1-Product backlog</vt:lpstr>
      <vt:lpstr>User story</vt:lpstr>
      <vt:lpstr>2-Priorisation </vt:lpstr>
      <vt:lpstr>3-Préparation / Refinement (Backlog Refinement)</vt:lpstr>
      <vt:lpstr>4-Estimation de l’effort</vt:lpstr>
      <vt:lpstr>Présentation PowerPoint</vt:lpstr>
      <vt:lpstr>Exemple :</vt:lpstr>
      <vt:lpstr>5-ready (user story)</vt:lpstr>
      <vt:lpstr>6-Sprint Planning</vt:lpstr>
      <vt:lpstr>7-Sprint Backlog</vt:lpstr>
      <vt:lpstr>Présentation PowerPoint</vt:lpstr>
      <vt:lpstr>suivi du Sprint (tableau des taches) </vt:lpstr>
      <vt:lpstr>Présentation PowerPoint</vt:lpstr>
      <vt:lpstr>7-Pendant le Sprint  </vt:lpstr>
      <vt:lpstr>8-Daily Scrum </vt:lpstr>
      <vt:lpstr>9-Fin du Sprint</vt:lpstr>
      <vt:lpstr>10-Sprint Review</vt:lpstr>
      <vt:lpstr>11-Sprint Retrospective</vt:lpstr>
      <vt:lpstr>12-Sprint suivant </vt:lpstr>
      <vt:lpstr>Présentation PowerPoint</vt:lpstr>
      <vt:lpstr>Présentation PowerPoint</vt:lpstr>
      <vt:lpstr>Présentation PowerPoint</vt:lpstr>
      <vt:lpstr>Présentation PowerPoint</vt:lpstr>
      <vt:lpstr>Présentation PowerPoint</vt:lpstr>
      <vt:lpstr>Exemple concret </vt:lpstr>
      <vt:lpstr>Jira</vt:lpstr>
      <vt:lpstr>Présentation PowerPoint</vt:lpstr>
      <vt:lpstr>Créer un espace</vt:lpstr>
      <vt:lpstr>Choisir model scrum</vt:lpstr>
      <vt:lpstr>Présentation PowerPoint</vt:lpstr>
      <vt:lpstr>Présentation PowerPoint</vt:lpstr>
      <vt:lpstr>Présentation PowerPoint</vt:lpstr>
      <vt:lpstr>Présentation PowerPoint</vt:lpstr>
      <vt:lpstr>Présentation PowerPoint</vt:lpstr>
      <vt:lpstr>Créer le product backlog</vt:lpstr>
      <vt:lpstr>Présentation PowerPoint</vt:lpstr>
      <vt:lpstr>Présentation PowerPoint</vt:lpstr>
      <vt:lpstr>Présentation PowerPoint</vt:lpstr>
      <vt:lpstr>Présentation PowerPoint</vt:lpstr>
      <vt:lpstr>Quiz 1</vt:lpstr>
      <vt:lpstr>Présentation PowerPoint</vt:lpstr>
      <vt:lpstr>Présentation PowerPoint</vt:lpstr>
      <vt:lpstr>Présentation PowerPoint</vt:lpstr>
      <vt:lpstr>Questions 1 (ce qui est faux)</vt:lpstr>
      <vt:lpstr>Réponses 1( ce qui est faux)</vt:lpstr>
      <vt:lpstr>Questions 2</vt:lpstr>
      <vt:lpstr>Réponses 2</vt:lpstr>
      <vt:lpstr>Questions 3</vt:lpstr>
      <vt:lpstr>Réponses 3</vt:lpstr>
      <vt:lpstr>Quiz2</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définition</vt:lpstr>
      <vt:lpstr>Présentation PowerPoint</vt:lpstr>
      <vt:lpstr>travailler sur un dépôt local (local repository)</vt:lpstr>
      <vt:lpstr>Présentation PowerPoint</vt:lpstr>
      <vt:lpstr>Présentation PowerPoint</vt:lpstr>
      <vt:lpstr>Présentation PowerPoint</vt:lpstr>
      <vt:lpstr>Revenir à un commit</vt:lpstr>
      <vt:lpstr>Les branches </vt:lpstr>
      <vt:lpstr>Présentation PowerPoint</vt:lpstr>
      <vt:lpstr>Présentation PowerPoint</vt:lpstr>
      <vt:lpstr>Présentation PowerPoint</vt:lpstr>
      <vt:lpstr>Présentation PowerPoint</vt:lpstr>
      <vt:lpstr>Définition</vt:lpstr>
      <vt:lpstr>Présentation PowerPoint</vt:lpstr>
      <vt:lpstr>Présentation PowerPoint</vt:lpstr>
      <vt:lpstr>Dev, Ops et DevOps : rôles et exemples de tâches</vt:lpstr>
      <vt:lpstr>DevOps </vt:lpstr>
      <vt:lpstr>Présentation PowerPoint</vt:lpstr>
      <vt:lpstr>DevOps dans le contexte Scrum / Agile </vt:lpstr>
      <vt:lpstr>En résumé</vt:lpstr>
      <vt:lpstr>Compétences principales d’un profil DevOps </vt:lpstr>
      <vt:lpstr>Présentation PowerPoint</vt:lpstr>
      <vt:lpstr>CI</vt:lpstr>
      <vt:lpstr>CI</vt:lpstr>
      <vt:lpstr>Exemple de pipeline CI</vt:lpstr>
      <vt:lpstr>CD</vt:lpstr>
      <vt:lpstr>CD</vt:lpstr>
      <vt:lpstr>Exemple de pipeline CD</vt:lpstr>
      <vt:lpstr>En résumé : </vt:lpstr>
      <vt:lpstr>automatisation CI/CD </vt:lpstr>
      <vt:lpstr>Jenkins</vt:lpstr>
      <vt:lpstr>Exemple 1 :Sprint quick annonces V1 static sur vercel</vt:lpstr>
      <vt:lpstr>Exemple 2 :Sprint quick annonces V1 static sur GitLab pages</vt:lpstr>
      <vt:lpstr>Pipeline CI/CD GitLab pour le Hosting de Pages Web Statiques</vt:lpstr>
      <vt:lpstr>Exemple avec test : </vt:lpstr>
      <vt:lpstr>Présentation PowerPoint</vt:lpstr>
      <vt:lpstr>Exemple GitLab (web hosting)</vt:lpstr>
      <vt:lpstr>1-Définition des étapes de la pipeline </vt:lpstr>
      <vt:lpstr>2-Définition du job de déploiement (GitLab Pages)</vt:lpstr>
      <vt:lpstr>3-Le script à exécuter (ce que GitLab fait pendant la pipeline)</vt:lpstr>
      <vt:lpstr>4-Définition des artefacts (fichiers à publier)</vt:lpstr>
      <vt:lpstr>5-Condition d’exécution du job</vt:lpstr>
      <vt:lpstr>résumé</vt:lpstr>
      <vt:lpstr>Présentation PowerPoint</vt:lpstr>
      <vt:lpstr>Présentation PowerPoint</vt:lpstr>
      <vt:lpstr>Présentation PowerPoint</vt:lpstr>
      <vt:lpstr>Ce qui se passe dans la pipeline CI/CD</vt:lpstr>
      <vt:lpstr>Comment les développeurs réagissent ? </vt:lpstr>
      <vt:lpstr>Résumé:(analyse)</vt:lpstr>
      <vt:lpstr>1-Les trois piliers de la qualité du code (MFS)</vt:lpstr>
      <vt:lpstr>2-Les principales métriques de SonarQube</vt:lpstr>
      <vt:lpstr>Exemple:</vt:lpstr>
      <vt:lpstr>Présentation PowerPoint</vt:lpstr>
      <vt:lpstr>Présentation PowerPoint</vt:lpstr>
      <vt:lpstr>Présentation PowerPoint</vt:lpstr>
      <vt:lpstr>1-créer un nouveau projet</vt:lpstr>
      <vt:lpstr>Présentation PowerPoint</vt:lpstr>
      <vt:lpstr>2-choisir un projet local</vt:lpstr>
      <vt:lpstr>3- Génération d’un token d’analyse dans SonarQube</vt:lpstr>
      <vt:lpstr>Présentation PowerPoint</vt:lpstr>
      <vt:lpstr>4-Choisir le type de projet (Maven, Gradle, .NET ou autres langages) afin de lancer l’analyse du code avec le scanner approprié.</vt:lpstr>
      <vt:lpstr>5-Lancer le Scan</vt:lpstr>
      <vt:lpstr>6-afficher le résultat</vt:lpstr>
    </vt:vector>
  </TitlesOfParts>
  <Company>ofppt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Gestion de projets</dc:title>
  <dc:creator>azeggouar</dc:creator>
  <cp:lastModifiedBy>Admin</cp:lastModifiedBy>
  <cp:revision>674</cp:revision>
  <dcterms:created xsi:type="dcterms:W3CDTF">2009-03-18T21:47:01Z</dcterms:created>
  <dcterms:modified xsi:type="dcterms:W3CDTF">2026-10-21T07:38:23Z</dcterms:modified>
</cp:coreProperties>
</file>