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66"/>
  </p:notesMasterIdLst>
  <p:handoutMasterIdLst>
    <p:handoutMasterId r:id="rId167"/>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283" r:id="rId47"/>
    <p:sldId id="344" r:id="rId48"/>
    <p:sldId id="284" r:id="rId49"/>
    <p:sldId id="285" r:id="rId50"/>
    <p:sldId id="286" r:id="rId51"/>
    <p:sldId id="287" r:id="rId52"/>
    <p:sldId id="288" r:id="rId53"/>
    <p:sldId id="414" r:id="rId54"/>
    <p:sldId id="289" r:id="rId55"/>
    <p:sldId id="365" r:id="rId56"/>
    <p:sldId id="413" r:id="rId57"/>
    <p:sldId id="290" r:id="rId58"/>
    <p:sldId id="291" r:id="rId59"/>
    <p:sldId id="415" r:id="rId60"/>
    <p:sldId id="292" r:id="rId61"/>
    <p:sldId id="293" r:id="rId62"/>
    <p:sldId id="294" r:id="rId63"/>
    <p:sldId id="404" r:id="rId64"/>
    <p:sldId id="295" r:id="rId65"/>
    <p:sldId id="296" r:id="rId66"/>
    <p:sldId id="297" r:id="rId67"/>
    <p:sldId id="298" r:id="rId68"/>
    <p:sldId id="299" r:id="rId69"/>
    <p:sldId id="301" r:id="rId70"/>
    <p:sldId id="405" r:id="rId71"/>
    <p:sldId id="406" r:id="rId72"/>
    <p:sldId id="407" r:id="rId73"/>
    <p:sldId id="303" r:id="rId74"/>
    <p:sldId id="304" r:id="rId75"/>
    <p:sldId id="300" r:id="rId76"/>
    <p:sldId id="302" r:id="rId77"/>
    <p:sldId id="305" r:id="rId78"/>
    <p:sldId id="342" r:id="rId79"/>
    <p:sldId id="306" r:id="rId80"/>
    <p:sldId id="343" r:id="rId81"/>
    <p:sldId id="307" r:id="rId82"/>
    <p:sldId id="308" r:id="rId83"/>
    <p:sldId id="309" r:id="rId84"/>
    <p:sldId id="310" r:id="rId85"/>
    <p:sldId id="311" r:id="rId86"/>
    <p:sldId id="312" r:id="rId87"/>
    <p:sldId id="313" r:id="rId88"/>
    <p:sldId id="314" r:id="rId89"/>
    <p:sldId id="315" r:id="rId90"/>
    <p:sldId id="366" r:id="rId91"/>
    <p:sldId id="316" r:id="rId92"/>
    <p:sldId id="317" r:id="rId93"/>
    <p:sldId id="318" r:id="rId94"/>
    <p:sldId id="319" r:id="rId95"/>
    <p:sldId id="320" r:id="rId96"/>
    <p:sldId id="321" r:id="rId97"/>
    <p:sldId id="322" r:id="rId98"/>
    <p:sldId id="323" r:id="rId99"/>
    <p:sldId id="324" r:id="rId100"/>
    <p:sldId id="325" r:id="rId101"/>
    <p:sldId id="326" r:id="rId102"/>
    <p:sldId id="327" r:id="rId103"/>
    <p:sldId id="328" r:id="rId104"/>
    <p:sldId id="329" r:id="rId105"/>
    <p:sldId id="330" r:id="rId106"/>
    <p:sldId id="331" r:id="rId107"/>
    <p:sldId id="332" r:id="rId108"/>
    <p:sldId id="333" r:id="rId109"/>
    <p:sldId id="334" r:id="rId110"/>
    <p:sldId id="335" r:id="rId111"/>
    <p:sldId id="336" r:id="rId112"/>
    <p:sldId id="337" r:id="rId113"/>
    <p:sldId id="338" r:id="rId114"/>
    <p:sldId id="339" r:id="rId115"/>
    <p:sldId id="340" r:id="rId116"/>
    <p:sldId id="341" r:id="rId117"/>
    <p:sldId id="345" r:id="rId118"/>
    <p:sldId id="346" r:id="rId119"/>
    <p:sldId id="347" r:id="rId120"/>
    <p:sldId id="348" r:id="rId121"/>
    <p:sldId id="349" r:id="rId122"/>
    <p:sldId id="350" r:id="rId123"/>
    <p:sldId id="351" r:id="rId124"/>
    <p:sldId id="408" r:id="rId125"/>
    <p:sldId id="357" r:id="rId126"/>
    <p:sldId id="358" r:id="rId127"/>
    <p:sldId id="409" r:id="rId128"/>
    <p:sldId id="410" r:id="rId129"/>
    <p:sldId id="411" r:id="rId130"/>
    <p:sldId id="359" r:id="rId131"/>
    <p:sldId id="361" r:id="rId132"/>
    <p:sldId id="367" r:id="rId133"/>
    <p:sldId id="368" r:id="rId134"/>
    <p:sldId id="362" r:id="rId135"/>
    <p:sldId id="369" r:id="rId136"/>
    <p:sldId id="412" r:id="rId137"/>
    <p:sldId id="416" r:id="rId138"/>
    <p:sldId id="417" r:id="rId139"/>
    <p:sldId id="378" r:id="rId140"/>
    <p:sldId id="418" r:id="rId141"/>
    <p:sldId id="419" r:id="rId142"/>
    <p:sldId id="420" r:id="rId143"/>
    <p:sldId id="421" r:id="rId144"/>
    <p:sldId id="422" r:id="rId145"/>
    <p:sldId id="423" r:id="rId146"/>
    <p:sldId id="377" r:id="rId147"/>
    <p:sldId id="435" r:id="rId148"/>
    <p:sldId id="424" r:id="rId149"/>
    <p:sldId id="425" r:id="rId150"/>
    <p:sldId id="426" r:id="rId151"/>
    <p:sldId id="371" r:id="rId152"/>
    <p:sldId id="372" r:id="rId153"/>
    <p:sldId id="376" r:id="rId154"/>
    <p:sldId id="379" r:id="rId155"/>
    <p:sldId id="380" r:id="rId156"/>
    <p:sldId id="381" r:id="rId157"/>
    <p:sldId id="427" r:id="rId158"/>
    <p:sldId id="428" r:id="rId159"/>
    <p:sldId id="429" r:id="rId160"/>
    <p:sldId id="430" r:id="rId161"/>
    <p:sldId id="431" r:id="rId162"/>
    <p:sldId id="432" r:id="rId163"/>
    <p:sldId id="433" r:id="rId164"/>
    <p:sldId id="434" r:id="rId165"/>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43"/>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0"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slide" Target="slides/slide163.xml"/><Relationship Id="rId16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xmlns=""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a16="http://schemas.microsoft.com/office/drawing/2014/main" xmlns=""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23/09/2026</a:t>
            </a:fld>
            <a:endParaRPr lang="fr-FR"/>
          </a:p>
        </p:txBody>
      </p:sp>
      <p:sp>
        <p:nvSpPr>
          <p:cNvPr id="4" name="Espace réservé du pied de page 3">
            <a:extLst>
              <a:ext uri="{FF2B5EF4-FFF2-40B4-BE49-F238E27FC236}">
                <a16:creationId xmlns:a16="http://schemas.microsoft.com/office/drawing/2014/main" xmlns=""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a16="http://schemas.microsoft.com/office/drawing/2014/main" xmlns=""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a16="http://schemas.microsoft.com/office/drawing/2014/main" xmlns=""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a16="http://schemas.microsoft.com/office/drawing/2014/main" xmlns=""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a16="http://schemas.microsoft.com/office/drawing/2014/main" xmlns=""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a16="http://schemas.microsoft.com/office/drawing/2014/main" xmlns=""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a16="http://schemas.microsoft.com/office/drawing/2014/main" xmlns=""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a16="http://schemas.microsoft.com/office/drawing/2014/main" xmlns=""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a16="http://schemas.microsoft.com/office/drawing/2014/main" xmlns=""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xmlns=""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a16="http://schemas.microsoft.com/office/drawing/2014/main" xmlns=""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a16="http://schemas.microsoft.com/office/drawing/2014/main" xmlns=""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a16="http://schemas.microsoft.com/office/drawing/2014/main" xmlns=""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a16="http://schemas.microsoft.com/office/drawing/2014/main" xmlns=""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a16="http://schemas.microsoft.com/office/drawing/2014/main" xmlns=""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a16="http://schemas.microsoft.com/office/drawing/2014/main" xmlns=""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a16="http://schemas.microsoft.com/office/drawing/2014/main" xmlns=""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a16="http://schemas.microsoft.com/office/drawing/2014/main" xmlns=""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xmlns=""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a16="http://schemas.microsoft.com/office/drawing/2014/main" xmlns=""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a16="http://schemas.microsoft.com/office/drawing/2014/main" xmlns=""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a16="http://schemas.microsoft.com/office/drawing/2014/main" xmlns=""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a16="http://schemas.microsoft.com/office/drawing/2014/main" xmlns=""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a16="http://schemas.microsoft.com/office/drawing/2014/main" xmlns=""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a16="http://schemas.microsoft.com/office/drawing/2014/main" xmlns=""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a16="http://schemas.microsoft.com/office/drawing/2014/main" xmlns=""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a16="http://schemas.microsoft.com/office/drawing/2014/main" xmlns=""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xmlns=""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a16="http://schemas.microsoft.com/office/drawing/2014/main" xmlns=""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a16="http://schemas.microsoft.com/office/drawing/2014/main" xmlns=""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a16="http://schemas.microsoft.com/office/drawing/2014/main" xmlns=""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a16="http://schemas.microsoft.com/office/drawing/2014/main" xmlns=""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a16="http://schemas.microsoft.com/office/drawing/2014/main" xmlns=""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a16="http://schemas.microsoft.com/office/drawing/2014/main" xmlns=""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hyperlink" Target="https://www.appvizer.fr/magazine/operations/gestion-de-projet/equipe-scrum"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8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hyperlink" Target="https://www.youtube.com/watch?v=P_8Zav29rJs"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91.jpe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2.png"/><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45.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xmlns=""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a16="http://schemas.microsoft.com/office/drawing/2014/main" xmlns=""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a16="http://schemas.microsoft.com/office/drawing/2014/main" xmlns=""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a16="http://schemas.microsoft.com/office/drawing/2014/main" xmlns=""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xmlns=""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a16="http://schemas.microsoft.com/office/drawing/2014/main" xmlns=""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a16="http://schemas.microsoft.com/office/drawing/2014/main" xmlns=""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a16="http://schemas.microsoft.com/office/drawing/2014/main" xmlns=""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a16="http://schemas.microsoft.com/office/drawing/2014/main" xmlns=""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a16="http://schemas.microsoft.com/office/drawing/2014/main" xmlns=""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a16="http://schemas.microsoft.com/office/drawing/2014/main" xmlns=""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a16="http://schemas.microsoft.com/office/drawing/2014/main" xmlns=""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a16="http://schemas.microsoft.com/office/drawing/2014/main" xmlns=""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a16="http://schemas.microsoft.com/office/drawing/2014/main" xmlns=""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a16="http://schemas.microsoft.com/office/drawing/2014/main" xmlns=""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a16="http://schemas.microsoft.com/office/drawing/2014/main" xmlns=""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a16="http://schemas.microsoft.com/office/drawing/2014/main" xmlns=""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a16="http://schemas.microsoft.com/office/drawing/2014/main" xmlns=""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a16="http://schemas.microsoft.com/office/drawing/2014/main" xmlns=""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a16="http://schemas.microsoft.com/office/drawing/2014/main" xmlns=""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a16="http://schemas.microsoft.com/office/drawing/2014/main" xmlns=""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a16="http://schemas.microsoft.com/office/drawing/2014/main" xmlns=""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a16="http://schemas.microsoft.com/office/drawing/2014/main" xmlns=""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a16="http://schemas.microsoft.com/office/drawing/2014/main" xmlns=""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xmlns=""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a16="http://schemas.microsoft.com/office/drawing/2014/main" xmlns=""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a16="http://schemas.microsoft.com/office/drawing/2014/main" xmlns=""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xmlns=""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a16="http://schemas.microsoft.com/office/drawing/2014/main" xmlns=""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a16="http://schemas.microsoft.com/office/drawing/2014/main" xmlns=""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a16="http://schemas.microsoft.com/office/drawing/2014/main" xmlns=""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xmlns=""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a16="http://schemas.microsoft.com/office/drawing/2014/main" xmlns=""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a16="http://schemas.microsoft.com/office/drawing/2014/main" xmlns=""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a16="http://schemas.microsoft.com/office/drawing/2014/main" xmlns=""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a16="http://schemas.microsoft.com/office/drawing/2014/main" xmlns=""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a16="http://schemas.microsoft.com/office/drawing/2014/main" xmlns=""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a16="http://schemas.microsoft.com/office/drawing/2014/main" xmlns=""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a16="http://schemas.microsoft.com/office/drawing/2014/main" xmlns=""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a16="http://schemas.microsoft.com/office/drawing/2014/main" xmlns=""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a16="http://schemas.microsoft.com/office/drawing/2014/main" xmlns=""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a16="http://schemas.microsoft.com/office/drawing/2014/main" xmlns=""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a16="http://schemas.microsoft.com/office/drawing/2014/main" xmlns=""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a16="http://schemas.microsoft.com/office/drawing/2014/main" xmlns=""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xmlns=""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a16="http://schemas.microsoft.com/office/drawing/2014/main" xmlns=""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a16="http://schemas.microsoft.com/office/drawing/2014/main" xmlns=""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xmlns=""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a16="http://schemas.microsoft.com/office/drawing/2014/main" xmlns=""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a16="http://schemas.microsoft.com/office/drawing/2014/main" xmlns=""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a16="http://schemas.microsoft.com/office/drawing/2014/main" xmlns=""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a16="http://schemas.microsoft.com/office/drawing/2014/main" xmlns=""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a16="http://schemas.microsoft.com/office/drawing/2014/main" xmlns=""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a16="http://schemas.microsoft.com/office/drawing/2014/main" xmlns=""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a16="http://schemas.microsoft.com/office/drawing/2014/main" xmlns=""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036"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a16="http://schemas.microsoft.com/office/drawing/2014/main" xmlns=""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a16="http://schemas.microsoft.com/office/drawing/2014/main" xmlns=""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a16="http://schemas.microsoft.com/office/drawing/2014/main" xmlns=""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a16="http://schemas.microsoft.com/office/drawing/2014/main" xmlns=""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a16="http://schemas.microsoft.com/office/drawing/2014/main" xmlns=""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a16="http://schemas.microsoft.com/office/drawing/2014/main" xmlns=""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a16="http://schemas.microsoft.com/office/drawing/2014/main" xmlns=""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a16="http://schemas.microsoft.com/office/drawing/2014/main" xmlns=""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a16="http://schemas.microsoft.com/office/drawing/2014/main" xmlns=""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a16="http://schemas.microsoft.com/office/drawing/2014/main" xmlns=""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a16="http://schemas.microsoft.com/office/drawing/2014/main" xmlns=""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a16="http://schemas.microsoft.com/office/drawing/2014/main" xmlns=""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a16="http://schemas.microsoft.com/office/drawing/2014/main" xmlns=""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a16="http://schemas.microsoft.com/office/drawing/2014/main" xmlns=""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a16="http://schemas.microsoft.com/office/drawing/2014/main" xmlns=""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a16="http://schemas.microsoft.com/office/drawing/2014/main" xmlns=""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a16="http://schemas.microsoft.com/office/drawing/2014/main" xmlns=""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a16="http://schemas.microsoft.com/office/drawing/2014/main" xmlns=""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a16="http://schemas.microsoft.com/office/drawing/2014/main" xmlns=""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a16="http://schemas.microsoft.com/office/drawing/2014/main" xmlns=""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a16="http://schemas.microsoft.com/office/drawing/2014/main" xmlns=""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a16="http://schemas.microsoft.com/office/drawing/2014/main" xmlns=""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a16="http://schemas.microsoft.com/office/drawing/2014/main" xmlns=""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a16="http://schemas.microsoft.com/office/drawing/2014/main" xmlns=""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a16="http://schemas.microsoft.com/office/drawing/2014/main" xmlns=""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a16="http://schemas.microsoft.com/office/drawing/2014/main" xmlns=""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a16="http://schemas.microsoft.com/office/drawing/2014/main" xmlns=""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a16="http://schemas.microsoft.com/office/drawing/2014/main" xmlns=""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a16="http://schemas.microsoft.com/office/drawing/2014/main" xmlns=""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a16="http://schemas.microsoft.com/office/drawing/2014/main" xmlns=""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a16="http://schemas.microsoft.com/office/drawing/2014/main" xmlns=""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a16="http://schemas.microsoft.com/office/drawing/2014/main" xmlns=""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a16="http://schemas.microsoft.com/office/drawing/2014/main" xmlns=""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a16="http://schemas.microsoft.com/office/drawing/2014/main" xmlns=""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a16="http://schemas.microsoft.com/office/drawing/2014/main" xmlns=""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a16="http://schemas.microsoft.com/office/drawing/2014/main" xmlns=""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a16="http://schemas.microsoft.com/office/drawing/2014/main" xmlns=""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a16="http://schemas.microsoft.com/office/drawing/2014/main" xmlns=""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a16="http://schemas.microsoft.com/office/drawing/2014/main" xmlns=""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a16="http://schemas.microsoft.com/office/drawing/2014/main" xmlns=""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a16="http://schemas.microsoft.com/office/drawing/2014/main" xmlns=""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a16="http://schemas.microsoft.com/office/drawing/2014/main" xmlns=""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a16="http://schemas.microsoft.com/office/drawing/2014/main" xmlns=""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a16="http://schemas.microsoft.com/office/drawing/2014/main" xmlns=""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a16="http://schemas.microsoft.com/office/drawing/2014/main" xmlns=""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a16="http://schemas.microsoft.com/office/drawing/2014/main" xmlns=""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a16="http://schemas.microsoft.com/office/drawing/2014/main" xmlns=""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a16="http://schemas.microsoft.com/office/drawing/2014/main" xmlns=""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a16="http://schemas.microsoft.com/office/drawing/2014/main" xmlns=""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a16="http://schemas.microsoft.com/office/drawing/2014/main" xmlns=""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a16="http://schemas.microsoft.com/office/drawing/2014/main" xmlns=""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a16="http://schemas.microsoft.com/office/drawing/2014/main" xmlns=""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a16="http://schemas.microsoft.com/office/drawing/2014/main" xmlns=""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a16="http://schemas.microsoft.com/office/drawing/2014/main" xmlns=""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a16="http://schemas.microsoft.com/office/drawing/2014/main" xmlns=""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a16="http://schemas.microsoft.com/office/drawing/2014/main" xmlns=""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a16="http://schemas.microsoft.com/office/drawing/2014/main" xmlns=""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a16="http://schemas.microsoft.com/office/drawing/2014/main" xmlns=""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a16="http://schemas.microsoft.com/office/drawing/2014/main" xmlns=""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a16="http://schemas.microsoft.com/office/drawing/2014/main" xmlns=""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a16="http://schemas.microsoft.com/office/drawing/2014/main" xmlns=""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a16="http://schemas.microsoft.com/office/drawing/2014/main" xmlns=""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a16="http://schemas.microsoft.com/office/drawing/2014/main" xmlns=""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a16="http://schemas.microsoft.com/office/drawing/2014/main" xmlns=""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a16="http://schemas.microsoft.com/office/drawing/2014/main" xmlns=""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a16="http://schemas.microsoft.com/office/drawing/2014/main" xmlns=""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a16="http://schemas.microsoft.com/office/drawing/2014/main" xmlns=""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a16="http://schemas.microsoft.com/office/drawing/2014/main" xmlns=""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a16="http://schemas.microsoft.com/office/drawing/2014/main" xmlns=""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a16="http://schemas.microsoft.com/office/drawing/2014/main" xmlns=""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a16="http://schemas.microsoft.com/office/drawing/2014/main" xmlns=""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a16="http://schemas.microsoft.com/office/drawing/2014/main" xmlns=""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a16="http://schemas.microsoft.com/office/drawing/2014/main" xmlns=""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a16="http://schemas.microsoft.com/office/drawing/2014/main" xmlns=""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a16="http://schemas.microsoft.com/office/drawing/2014/main" xmlns=""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a16="http://schemas.microsoft.com/office/drawing/2014/main" xmlns=""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a16="http://schemas.microsoft.com/office/drawing/2014/main" xmlns=""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a16="http://schemas.microsoft.com/office/drawing/2014/main" xmlns=""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a16="http://schemas.microsoft.com/office/drawing/2014/main" xmlns=""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a16="http://schemas.microsoft.com/office/drawing/2014/main" xmlns=""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xmlns=""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a16="http://schemas.microsoft.com/office/drawing/2014/main" xmlns=""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a16="http://schemas.microsoft.com/office/drawing/2014/main" xmlns=""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a16="http://schemas.microsoft.com/office/drawing/2014/main" xmlns=""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a16="http://schemas.microsoft.com/office/drawing/2014/main" xmlns=""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1078626"/>
            <a:ext cx="7372350" cy="412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071166"/>
            <a:ext cx="8280920" cy="5094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980728"/>
            <a:ext cx="8568952" cy="51845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620688"/>
            <a:ext cx="8136903" cy="5688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a16="http://schemas.microsoft.com/office/drawing/2014/main" xmlns=""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a16="http://schemas.microsoft.com/office/drawing/2014/main" xmlns=""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a16="http://schemas.microsoft.com/office/drawing/2014/main" xmlns=""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a16="http://schemas.microsoft.com/office/drawing/2014/main" xmlns=""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a16="http://schemas.microsoft.com/office/drawing/2014/main" xmlns=""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a16="http://schemas.microsoft.com/office/drawing/2014/main" xmlns=""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a16="http://schemas.microsoft.com/office/drawing/2014/main" xmlns=""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a16="http://schemas.microsoft.com/office/drawing/2014/main" xmlns=""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a16="http://schemas.microsoft.com/office/drawing/2014/main" xmlns=""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46</a:t>
            </a:fld>
            <a:endParaRPr lang="fr-FR" altLang="fr-FR" sz="1400">
              <a:solidFill>
                <a:srgbClr val="FFFFFF"/>
              </a:solidFill>
            </a:endParaRPr>
          </a:p>
        </p:txBody>
      </p:sp>
      <p:pic>
        <p:nvPicPr>
          <p:cNvPr id="45060" name="Picture 2">
            <a:extLst>
              <a:ext uri="{FF2B5EF4-FFF2-40B4-BE49-F238E27FC236}">
                <a16:creationId xmlns:a16="http://schemas.microsoft.com/office/drawing/2014/main" xmlns="" id="{F6632274-DA76-24E6-6DBD-954B4E687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8650" y="2514600"/>
            <a:ext cx="7886700" cy="182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a16="http://schemas.microsoft.com/office/drawing/2014/main" xmlns=""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a16="http://schemas.microsoft.com/office/drawing/2014/main" xmlns=""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a16="http://schemas.microsoft.com/office/drawing/2014/main" xmlns="" id="{317CDD68-852D-A5CD-79CD-EB062312E4E6}"/>
              </a:ext>
            </a:extLst>
          </p:cNvPr>
          <p:cNvSpPr>
            <a:spLocks noGrp="1"/>
          </p:cNvSpPr>
          <p:nvPr>
            <p:ph idx="1"/>
          </p:nvPr>
        </p:nvSpPr>
        <p:spPr/>
        <p:txBody>
          <a:bodyPr/>
          <a:lstStyle/>
          <a:p>
            <a:r>
              <a:rPr lang="fr-CA" altLang="fr-FR"/>
              <a:t>Les individus et leurs interactions plus que les processus et les outils </a:t>
            </a:r>
          </a:p>
          <a:p>
            <a:endParaRPr lang="fr-CA" altLang="fr-FR"/>
          </a:p>
          <a:p>
            <a:r>
              <a:rPr lang="fr-CA" altLang="fr-FR"/>
              <a:t>Des logiciels opérationnels plus qu’une documentation exhaustive</a:t>
            </a:r>
          </a:p>
          <a:p>
            <a:endParaRPr lang="fr-CA" altLang="fr-FR"/>
          </a:p>
          <a:p>
            <a:r>
              <a:rPr lang="fr-CA" altLang="fr-FR"/>
              <a:t>La collaboration avec les clients plus que la négociation contractuelle</a:t>
            </a:r>
          </a:p>
          <a:p>
            <a:endParaRPr lang="fr-CA" altLang="fr-FR"/>
          </a:p>
          <a:p>
            <a:r>
              <a:rPr lang="fr-CA" altLang="fr-FR"/>
              <a:t> L’adaptation au changement plus que le suivi d’un plan</a:t>
            </a:r>
            <a:endParaRPr lang="fr-FR" altLang="fr-FR"/>
          </a:p>
        </p:txBody>
      </p:sp>
      <p:sp>
        <p:nvSpPr>
          <p:cNvPr id="47108" name="Espace réservé du numéro de diapositive 3">
            <a:extLst>
              <a:ext uri="{FF2B5EF4-FFF2-40B4-BE49-F238E27FC236}">
                <a16:creationId xmlns:a16="http://schemas.microsoft.com/office/drawing/2014/main" xmlns=""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a16="http://schemas.microsoft.com/office/drawing/2014/main" xmlns="" id="{41568896-6E08-DB2D-72B0-B131A103E5B3}"/>
              </a:ext>
            </a:extLst>
          </p:cNvPr>
          <p:cNvSpPr>
            <a:spLocks noGrp="1"/>
          </p:cNvSpPr>
          <p:nvPr>
            <p:ph idx="1"/>
          </p:nvPr>
        </p:nvSpPr>
        <p:spPr/>
        <p:txBody>
          <a:bodyPr/>
          <a:lstStyle/>
          <a:p>
            <a:pPr>
              <a:buFont typeface="Arial" charset="0"/>
              <a:buChar char="•"/>
              <a:defRPr/>
            </a:pPr>
            <a:r>
              <a:rPr lang="fr-CA" dirty="0"/>
              <a:t>1.la principale priorité est de satisfaire le client en</a:t>
            </a:r>
          </a:p>
          <a:p>
            <a:pPr marL="0" indent="0">
              <a:buFont typeface="Arial" charset="0"/>
              <a:buNone/>
              <a:defRPr/>
            </a:pPr>
            <a:r>
              <a:rPr lang="fr-CA" dirty="0"/>
              <a:t>    livrant rapidement et régulièrement des solutions qui   apportent de la valeur.</a:t>
            </a:r>
          </a:p>
          <a:p>
            <a:pPr marL="0" indent="0">
              <a:buFont typeface="Arial" charset="0"/>
              <a:buNone/>
              <a:defRPr/>
            </a:pPr>
            <a:endParaRPr lang="fr-CA" dirty="0"/>
          </a:p>
          <a:p>
            <a:pPr marL="0" indent="0">
              <a:buFont typeface="Arial" charset="0"/>
              <a:buNone/>
              <a:defRPr/>
            </a:pPr>
            <a:r>
              <a:rPr lang="fr-CA" dirty="0"/>
              <a:t>2.Accueillez positivement les changements de besoins,</a:t>
            </a:r>
          </a:p>
          <a:p>
            <a:pPr marL="0" indent="0">
              <a:buFont typeface="Arial" charset="0"/>
              <a:buNone/>
              <a:defRPr/>
            </a:pPr>
            <a:r>
              <a:rPr lang="fr-CA" dirty="0"/>
              <a:t>même tardifs dans le développement. </a:t>
            </a:r>
          </a:p>
          <a:p>
            <a:pPr marL="0" indent="0">
              <a:buFont typeface="Arial" charset="0"/>
              <a:buNone/>
              <a:defRPr/>
            </a:pPr>
            <a:endParaRPr lang="fr-CA" dirty="0"/>
          </a:p>
          <a:p>
            <a:pPr marL="0" indent="0">
              <a:buFont typeface="Arial" charset="0"/>
              <a:buNone/>
              <a:defRPr/>
            </a:pPr>
            <a:r>
              <a:rPr lang="fr-CA" dirty="0"/>
              <a:t>3.Livrez fréquemment un logiciel opérationnel, à une</a:t>
            </a:r>
          </a:p>
          <a:p>
            <a:pPr marL="0" indent="0">
              <a:buFont typeface="Arial" charset="0"/>
              <a:buNone/>
              <a:defRPr/>
            </a:pPr>
            <a:r>
              <a:rPr lang="fr-CA" dirty="0"/>
              <a:t>fréquence allant de quelques semaines à quelques mois</a:t>
            </a:r>
            <a:endParaRPr lang="fr-FR" dirty="0"/>
          </a:p>
        </p:txBody>
      </p:sp>
      <p:sp>
        <p:nvSpPr>
          <p:cNvPr id="48132" name="Espace réservé du numéro de diapositive 3">
            <a:extLst>
              <a:ext uri="{FF2B5EF4-FFF2-40B4-BE49-F238E27FC236}">
                <a16:creationId xmlns:a16="http://schemas.microsoft.com/office/drawing/2014/main" xmlns=""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49</a:t>
            </a:fld>
            <a:endParaRPr lang="fr-FR" altLang="fr-FR" sz="1400">
              <a:solidFill>
                <a:srgbClr val="FFFFFF"/>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marL="0" indent="0">
              <a:buFont typeface="Arial" charset="0"/>
              <a:buNone/>
              <a:defRPr/>
            </a:pPr>
            <a:r>
              <a:rPr lang="fr-CA" dirty="0"/>
              <a:t>5.Réalisez les projets avec des personnes motivées.</a:t>
            </a:r>
          </a:p>
          <a:p>
            <a:pPr marL="0" indent="0">
              <a:buFont typeface="Arial" charset="0"/>
              <a:buNone/>
              <a:defRPr/>
            </a:pPr>
            <a:r>
              <a:rPr lang="fr-CA" dirty="0"/>
              <a:t>Fournissez-leur l’environnement et le soutien dont elles ont besoin et faites-leur confiance pour atteindre les objectifs fixés</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a16="http://schemas.microsoft.com/office/drawing/2014/main" xmlns=""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marL="0" indent="0">
              <a:buFont typeface="Arial" charset="0"/>
              <a:buNone/>
              <a:defRPr/>
            </a:pPr>
            <a:r>
              <a:rPr lang="fr-CA" dirty="0"/>
              <a:t>8.Les processus agiles encouragent un rythme de</a:t>
            </a:r>
          </a:p>
          <a:p>
            <a:pPr marL="0" indent="0">
              <a:buFont typeface="Arial" charset="0"/>
              <a:buNone/>
              <a:defRPr/>
            </a:pPr>
            <a:r>
              <a:rPr lang="fr-CA" dirty="0"/>
              <a:t>développement soutenable</a:t>
            </a:r>
          </a:p>
          <a:p>
            <a:pPr marL="0" indent="0">
              <a:buFont typeface="Arial" charset="0"/>
              <a:buNone/>
              <a:defRPr/>
            </a:pPr>
            <a:endParaRPr lang="fr-CA" dirty="0"/>
          </a:p>
          <a:p>
            <a:pPr marL="0" indent="0">
              <a:buFont typeface="Arial" charset="0"/>
              <a:buNone/>
              <a:defRPr/>
            </a:pPr>
            <a:r>
              <a:rPr lang="fr-CA" dirty="0"/>
              <a:t>9.Porter continuellement attention à l’excellence</a:t>
            </a:r>
          </a:p>
          <a:p>
            <a:pPr marL="0" indent="0">
              <a:buFont typeface="Arial" charset="0"/>
              <a:buNone/>
              <a:defRPr/>
            </a:pPr>
            <a:r>
              <a:rPr lang="fr-CA" dirty="0"/>
              <a:t>technique et à la qualité de la conception renforce l’agilité</a:t>
            </a:r>
          </a:p>
          <a:p>
            <a:pPr marL="0" indent="0">
              <a:buFont typeface="Arial" charset="0"/>
              <a:buNone/>
              <a:defRPr/>
            </a:pPr>
            <a:endParaRPr lang="fr-CA" dirty="0"/>
          </a:p>
          <a:p>
            <a:pPr marL="0" indent="0">
              <a:buFont typeface="Arial" charset="0"/>
              <a:buNone/>
              <a:defRPr/>
            </a:pPr>
            <a:r>
              <a:rPr lang="fr-CA" dirty="0"/>
              <a:t>10.La 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a16="http://schemas.microsoft.com/office/drawing/2014/main" xmlns=""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931CF970-B658-0A04-7A69-72E6CC637C17}"/>
              </a:ext>
            </a:extLst>
          </p:cNvPr>
          <p:cNvSpPr>
            <a:spLocks noGrp="1"/>
          </p:cNvSpPr>
          <p:nvPr>
            <p:ph idx="1"/>
          </p:nvPr>
        </p:nvSpPr>
        <p:spPr/>
        <p:txBody>
          <a:bodyPr/>
          <a:lstStyle/>
          <a:p>
            <a:pPr>
              <a:buFont typeface="Arial" charset="0"/>
              <a:buChar char="•"/>
              <a:defRPr/>
            </a:pPr>
            <a:r>
              <a:rPr lang="fr-CA" dirty="0"/>
              <a:t>11.Les meilleures architectures, spécifications et</a:t>
            </a:r>
          </a:p>
          <a:p>
            <a:pPr marL="0" indent="0">
              <a:buFont typeface="Arial" charset="0"/>
              <a:buNone/>
              <a:defRPr/>
            </a:pPr>
            <a:r>
              <a:rPr lang="fr-CA" dirty="0"/>
              <a:t>conceptions émergent d’équipes auto-organisées</a:t>
            </a:r>
          </a:p>
          <a:p>
            <a:pPr marL="0" indent="0">
              <a:buFont typeface="Arial" charset="0"/>
              <a:buNone/>
              <a:defRPr/>
            </a:pPr>
            <a:endParaRPr lang="fr-CA" dirty="0"/>
          </a:p>
          <a:p>
            <a:pPr marL="0" indent="0">
              <a:buFont typeface="Arial" charset="0"/>
              <a:buNone/>
              <a:defRPr/>
            </a:pPr>
            <a:r>
              <a:rPr lang="fr-CA" dirty="0"/>
              <a:t>12.A intervalles réguliers, l’équipe réfléchit aux façons</a:t>
            </a:r>
          </a:p>
          <a:p>
            <a:pPr marL="0" indent="0">
              <a:buFont typeface="Arial" charset="0"/>
              <a:buNone/>
              <a:defRPr/>
            </a:pPr>
            <a:r>
              <a:rPr lang="fr-CA" dirty="0"/>
              <a:t>de devenir plus efficace, puis modifie son comportement et l’ajuste en conséquence</a:t>
            </a:r>
            <a:endParaRPr lang="fr-FR" dirty="0"/>
          </a:p>
        </p:txBody>
      </p:sp>
      <p:sp>
        <p:nvSpPr>
          <p:cNvPr id="51204" name="Espace réservé du numéro de diapositive 3">
            <a:extLst>
              <a:ext uri="{FF2B5EF4-FFF2-40B4-BE49-F238E27FC236}">
                <a16:creationId xmlns:a16="http://schemas.microsoft.com/office/drawing/2014/main" xmlns=""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a16="http://schemas.microsoft.com/office/drawing/2014/main" xmlns=""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pic>
        <p:nvPicPr>
          <p:cNvPr id="52228" name="Picture 2">
            <a:extLst>
              <a:ext uri="{FF2B5EF4-FFF2-40B4-BE49-F238E27FC236}">
                <a16:creationId xmlns:a16="http://schemas.microsoft.com/office/drawing/2014/main" xmlns=""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a16="http://schemas.microsoft.com/office/drawing/2014/main" xmlns=""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a16="http://schemas.microsoft.com/office/drawing/2014/main" xmlns=""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55</a:t>
            </a:fld>
            <a:endParaRPr lang="fr-FR" altLang="fr-FR" sz="1400">
              <a:solidFill>
                <a:srgbClr val="FFFFFF"/>
              </a:solidFill>
            </a:endParaRPr>
          </a:p>
        </p:txBody>
      </p:sp>
      <p:pic>
        <p:nvPicPr>
          <p:cNvPr id="53252" name="Picture 2">
            <a:extLst>
              <a:ext uri="{FF2B5EF4-FFF2-40B4-BE49-F238E27FC236}">
                <a16:creationId xmlns:a16="http://schemas.microsoft.com/office/drawing/2014/main" xmlns=""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56</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18F26C-9192-1D72-1DBB-ED332ECAAB55}"/>
              </a:ext>
            </a:extLst>
          </p:cNvPr>
          <p:cNvSpPr>
            <a:spLocks noGrp="1"/>
          </p:cNvSpPr>
          <p:nvPr>
            <p:ph type="title"/>
          </p:nvPr>
        </p:nvSpPr>
        <p:spPr/>
        <p:txBody>
          <a:bodyPr/>
          <a:lstStyle/>
          <a:p>
            <a:pPr>
              <a:defRPr/>
            </a:pPr>
            <a:r>
              <a:rPr lang="fr-CA" dirty="0"/>
              <a:t>SCRUM</a:t>
            </a:r>
            <a:endParaRPr lang="fr-FR" dirty="0"/>
          </a:p>
        </p:txBody>
      </p:sp>
      <p:sp>
        <p:nvSpPr>
          <p:cNvPr id="54275" name="Espace réservé du contenu 2">
            <a:extLst>
              <a:ext uri="{FF2B5EF4-FFF2-40B4-BE49-F238E27FC236}">
                <a16:creationId xmlns:a16="http://schemas.microsoft.com/office/drawing/2014/main" xmlns="" id="{68B918BF-6B34-517A-73DC-4DD068FAFF1B}"/>
              </a:ext>
            </a:extLst>
          </p:cNvPr>
          <p:cNvSpPr>
            <a:spLocks noGrp="1"/>
          </p:cNvSpPr>
          <p:nvPr>
            <p:ph idx="1"/>
          </p:nvPr>
        </p:nvSpPr>
        <p:spPr/>
        <p:txBody>
          <a:bodyPr/>
          <a:lstStyle/>
          <a:p>
            <a:r>
              <a:rPr lang="fr-CA" altLang="fr-FR"/>
              <a:t>Scrum est un cadre de travail (Framework) au sein duquel les acteurs peuvent aborder des problèmes complexes et adaptatifs, en livrant de manière efficace et créative des produits de la plus grande valeur possible</a:t>
            </a:r>
            <a:endParaRPr lang="fr-FR" altLang="fr-FR"/>
          </a:p>
        </p:txBody>
      </p:sp>
      <p:sp>
        <p:nvSpPr>
          <p:cNvPr id="54276" name="Espace réservé du numéro de diapositive 3">
            <a:extLst>
              <a:ext uri="{FF2B5EF4-FFF2-40B4-BE49-F238E27FC236}">
                <a16:creationId xmlns:a16="http://schemas.microsoft.com/office/drawing/2014/main" xmlns=""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a16="http://schemas.microsoft.com/office/drawing/2014/main" xmlns=""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58</a:t>
            </a:fld>
            <a:endParaRPr lang="fr-FR" altLang="fr-FR" sz="1400">
              <a:solidFill>
                <a:srgbClr val="FFFFFF"/>
              </a:solidFill>
            </a:endParaRPr>
          </a:p>
        </p:txBody>
      </p:sp>
      <p:pic>
        <p:nvPicPr>
          <p:cNvPr id="55300" name="Picture 2">
            <a:extLst>
              <a:ext uri="{FF2B5EF4-FFF2-40B4-BE49-F238E27FC236}">
                <a16:creationId xmlns:a16="http://schemas.microsoft.com/office/drawing/2014/main" xmlns=""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Evenements</a:t>
            </a:r>
            <a:r>
              <a:rPr lang="fr-FR" dirty="0"/>
              <a:t> SCRUM</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59</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1950" y="1916832"/>
            <a:ext cx="8420100" cy="3816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880912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CB2A69-A505-0683-C016-DBE5F75500C7}"/>
              </a:ext>
            </a:extLst>
          </p:cNvPr>
          <p:cNvSpPr>
            <a:spLocks noGrp="1"/>
          </p:cNvSpPr>
          <p:nvPr>
            <p:ph type="title"/>
          </p:nvPr>
        </p:nvSpPr>
        <p:spPr/>
        <p:txBody>
          <a:bodyPr/>
          <a:lstStyle/>
          <a:p>
            <a:pPr>
              <a:defRPr/>
            </a:pPr>
            <a:r>
              <a:rPr lang="fr-FR" dirty="0"/>
              <a:t>Les différents rôles -L’équipe</a:t>
            </a:r>
          </a:p>
        </p:txBody>
      </p:sp>
      <p:sp>
        <p:nvSpPr>
          <p:cNvPr id="56323" name="Espace réservé du contenu 2">
            <a:extLst>
              <a:ext uri="{FF2B5EF4-FFF2-40B4-BE49-F238E27FC236}">
                <a16:creationId xmlns:a16="http://schemas.microsoft.com/office/drawing/2014/main" xmlns="" id="{0DD649B8-8073-9D54-2E70-C87AB0F541D3}"/>
              </a:ext>
            </a:extLst>
          </p:cNvPr>
          <p:cNvSpPr>
            <a:spLocks noGrp="1"/>
          </p:cNvSpPr>
          <p:nvPr>
            <p:ph idx="1"/>
          </p:nvPr>
        </p:nvSpPr>
        <p:spPr/>
        <p:txBody>
          <a:bodyPr/>
          <a:lstStyle/>
          <a:p>
            <a:r>
              <a:rPr lang="fr-CA" altLang="fr-FR"/>
              <a:t>1-Scrum Master</a:t>
            </a:r>
          </a:p>
          <a:p>
            <a:endParaRPr lang="fr-CA" altLang="fr-FR"/>
          </a:p>
          <a:p>
            <a:endParaRPr lang="fr-FR" altLang="fr-FR"/>
          </a:p>
        </p:txBody>
      </p:sp>
      <p:sp>
        <p:nvSpPr>
          <p:cNvPr id="56324" name="Espace réservé du numéro de diapositive 3">
            <a:extLst>
              <a:ext uri="{FF2B5EF4-FFF2-40B4-BE49-F238E27FC236}">
                <a16:creationId xmlns:a16="http://schemas.microsoft.com/office/drawing/2014/main" xmlns=""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60</a:t>
            </a:fld>
            <a:endParaRPr lang="fr-FR" altLang="fr-FR" sz="1400">
              <a:solidFill>
                <a:srgbClr val="FFFFFF"/>
              </a:solidFill>
            </a:endParaRPr>
          </a:p>
        </p:txBody>
      </p:sp>
      <p:pic>
        <p:nvPicPr>
          <p:cNvPr id="56325" name="Picture 2">
            <a:extLst>
              <a:ext uri="{FF2B5EF4-FFF2-40B4-BE49-F238E27FC236}">
                <a16:creationId xmlns:a16="http://schemas.microsoft.com/office/drawing/2014/main" xmlns="" id="{266ADAC4-5C62-2FE7-2CD3-B460031068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1628800"/>
            <a:ext cx="4752975" cy="339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9632" y="5019700"/>
            <a:ext cx="6762750" cy="793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F6CAF08-7AA8-6B25-46CC-73C192C6C3D2}"/>
              </a:ext>
            </a:extLst>
          </p:cNvPr>
          <p:cNvSpPr>
            <a:spLocks noGrp="1"/>
          </p:cNvSpPr>
          <p:nvPr>
            <p:ph type="title"/>
          </p:nvPr>
        </p:nvSpPr>
        <p:spPr/>
        <p:txBody>
          <a:bodyPr/>
          <a:lstStyle/>
          <a:p>
            <a:pPr>
              <a:defRPr/>
            </a:pPr>
            <a:endParaRPr lang="fr-FR"/>
          </a:p>
        </p:txBody>
      </p:sp>
      <p:sp>
        <p:nvSpPr>
          <p:cNvPr id="57347" name="Espace réservé du contenu 2">
            <a:extLst>
              <a:ext uri="{FF2B5EF4-FFF2-40B4-BE49-F238E27FC236}">
                <a16:creationId xmlns:a16="http://schemas.microsoft.com/office/drawing/2014/main" xmlns="" id="{4394F8D9-6035-EB0B-2286-C89F4A9AF845}"/>
              </a:ext>
            </a:extLst>
          </p:cNvPr>
          <p:cNvSpPr>
            <a:spLocks noGrp="1"/>
          </p:cNvSpPr>
          <p:nvPr>
            <p:ph idx="1"/>
          </p:nvPr>
        </p:nvSpPr>
        <p:spPr/>
        <p:txBody>
          <a:bodyPr/>
          <a:lstStyle/>
          <a:p>
            <a:r>
              <a:rPr lang="fr-CA" altLang="fr-FR"/>
              <a:t>2-Product Owner</a:t>
            </a:r>
          </a:p>
          <a:p>
            <a:endParaRPr lang="fr-FR" altLang="fr-FR"/>
          </a:p>
        </p:txBody>
      </p:sp>
      <p:sp>
        <p:nvSpPr>
          <p:cNvPr id="57348" name="Espace réservé du numéro de diapositive 3">
            <a:extLst>
              <a:ext uri="{FF2B5EF4-FFF2-40B4-BE49-F238E27FC236}">
                <a16:creationId xmlns:a16="http://schemas.microsoft.com/office/drawing/2014/main" xmlns="" id="{A5798977-F6A8-144A-CC58-23A7B7F48A9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B7E8789-2475-48C5-B214-862C07912B55}" type="slidenum">
              <a:rPr lang="fr-FR" altLang="fr-FR" sz="1400">
                <a:solidFill>
                  <a:srgbClr val="FFFFFF"/>
                </a:solidFill>
              </a:rPr>
              <a:pPr>
                <a:spcBef>
                  <a:spcPct val="0"/>
                </a:spcBef>
                <a:buClrTx/>
                <a:buSzTx/>
                <a:buFontTx/>
                <a:buNone/>
              </a:pPr>
              <a:t>61</a:t>
            </a:fld>
            <a:endParaRPr lang="fr-FR" altLang="fr-FR" sz="1400">
              <a:solidFill>
                <a:srgbClr val="FFFFFF"/>
              </a:solidFill>
            </a:endParaRPr>
          </a:p>
        </p:txBody>
      </p:sp>
      <p:pic>
        <p:nvPicPr>
          <p:cNvPr id="57349" name="Picture 2">
            <a:extLst>
              <a:ext uri="{FF2B5EF4-FFF2-40B4-BE49-F238E27FC236}">
                <a16:creationId xmlns:a16="http://schemas.microsoft.com/office/drawing/2014/main" xmlns="" id="{AE541892-8A28-3064-4C04-98EECAA8CB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9792" y="2132856"/>
            <a:ext cx="4943475" cy="3333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639" y="5472778"/>
            <a:ext cx="6959699" cy="8780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2830E7F-CC41-C891-8945-BECE8B89B56F}"/>
              </a:ext>
            </a:extLst>
          </p:cNvPr>
          <p:cNvSpPr>
            <a:spLocks noGrp="1"/>
          </p:cNvSpPr>
          <p:nvPr>
            <p:ph type="title"/>
          </p:nvPr>
        </p:nvSpPr>
        <p:spPr/>
        <p:txBody>
          <a:bodyPr/>
          <a:lstStyle/>
          <a:p>
            <a:pPr>
              <a:defRPr/>
            </a:pPr>
            <a:endParaRPr lang="fr-FR"/>
          </a:p>
        </p:txBody>
      </p:sp>
      <p:sp>
        <p:nvSpPr>
          <p:cNvPr id="58371" name="Espace réservé du contenu 2">
            <a:extLst>
              <a:ext uri="{FF2B5EF4-FFF2-40B4-BE49-F238E27FC236}">
                <a16:creationId xmlns:a16="http://schemas.microsoft.com/office/drawing/2014/main" xmlns="" id="{890EF3F0-7124-3626-E812-CFD81A4C2A3D}"/>
              </a:ext>
            </a:extLst>
          </p:cNvPr>
          <p:cNvSpPr>
            <a:spLocks noGrp="1"/>
          </p:cNvSpPr>
          <p:nvPr>
            <p:ph idx="1"/>
          </p:nvPr>
        </p:nvSpPr>
        <p:spPr/>
        <p:txBody>
          <a:bodyPr/>
          <a:lstStyle/>
          <a:p>
            <a:r>
              <a:rPr lang="fr-CA" altLang="fr-FR" dirty="0"/>
              <a:t>3-équipe de développement (Team Dev)</a:t>
            </a:r>
            <a:endParaRPr lang="fr-FR" altLang="fr-FR" dirty="0"/>
          </a:p>
        </p:txBody>
      </p:sp>
      <p:sp>
        <p:nvSpPr>
          <p:cNvPr id="58372" name="Espace réservé du numéro de diapositive 3">
            <a:extLst>
              <a:ext uri="{FF2B5EF4-FFF2-40B4-BE49-F238E27FC236}">
                <a16:creationId xmlns:a16="http://schemas.microsoft.com/office/drawing/2014/main" xmlns="" id="{AF0AB41F-83C2-7139-AEF6-B0AF8BFE114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9731E34-6ED5-4334-875D-E53295D267F3}" type="slidenum">
              <a:rPr lang="fr-FR" altLang="fr-FR" sz="1400">
                <a:solidFill>
                  <a:srgbClr val="FFFFFF"/>
                </a:solidFill>
              </a:rPr>
              <a:pPr>
                <a:spcBef>
                  <a:spcPct val="0"/>
                </a:spcBef>
                <a:buClrTx/>
                <a:buSzTx/>
                <a:buFontTx/>
                <a:buNone/>
              </a:pPr>
              <a:t>62</a:t>
            </a:fld>
            <a:endParaRPr lang="fr-FR" altLang="fr-FR" sz="1400">
              <a:solidFill>
                <a:srgbClr val="FFFFFF"/>
              </a:solidFill>
            </a:endParaRPr>
          </a:p>
        </p:txBody>
      </p:sp>
      <p:pic>
        <p:nvPicPr>
          <p:cNvPr id="51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9712" y="2348880"/>
            <a:ext cx="4392488" cy="39968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48362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C9AFA13-501B-3AF9-50A4-DB82D2FD91F6}"/>
              </a:ext>
            </a:extLst>
          </p:cNvPr>
          <p:cNvSpPr>
            <a:spLocks noGrp="1"/>
          </p:cNvSpPr>
          <p:nvPr>
            <p:ph type="title"/>
          </p:nvPr>
        </p:nvSpPr>
        <p:spPr/>
        <p:txBody>
          <a:bodyPr/>
          <a:lstStyle/>
          <a:p>
            <a:pPr>
              <a:defRPr/>
            </a:pPr>
            <a:r>
              <a:rPr lang="fr-FR" dirty="0"/>
              <a:t>User Stories &amp; Product </a:t>
            </a:r>
            <a:r>
              <a:rPr lang="fr-FR" dirty="0" err="1"/>
              <a:t>Backlog</a:t>
            </a:r>
            <a:endParaRPr lang="fr-FR" dirty="0"/>
          </a:p>
        </p:txBody>
      </p:sp>
      <p:sp>
        <p:nvSpPr>
          <p:cNvPr id="59395" name="Espace réservé du numéro de diapositive 3">
            <a:extLst>
              <a:ext uri="{FF2B5EF4-FFF2-40B4-BE49-F238E27FC236}">
                <a16:creationId xmlns:a16="http://schemas.microsoft.com/office/drawing/2014/main" xmlns="" id="{B4AB374D-F5F7-7A5E-59D3-7796885FDA6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8124BD2-D982-4784-A8C9-7F64E47CAA91}" type="slidenum">
              <a:rPr lang="fr-FR" altLang="fr-FR" sz="1400">
                <a:solidFill>
                  <a:srgbClr val="FFFFFF"/>
                </a:solidFill>
              </a:rPr>
              <a:pPr>
                <a:spcBef>
                  <a:spcPct val="0"/>
                </a:spcBef>
                <a:buClrTx/>
                <a:buSzTx/>
                <a:buFontTx/>
                <a:buNone/>
              </a:pPr>
              <a:t>64</a:t>
            </a:fld>
            <a:endParaRPr lang="fr-FR" altLang="fr-FR" sz="1400">
              <a:solidFill>
                <a:srgbClr val="FFFFFF"/>
              </a:solidFill>
            </a:endParaRPr>
          </a:p>
        </p:txBody>
      </p:sp>
      <p:pic>
        <p:nvPicPr>
          <p:cNvPr id="59396" name="Picture 2">
            <a:extLst>
              <a:ext uri="{FF2B5EF4-FFF2-40B4-BE49-F238E27FC236}">
                <a16:creationId xmlns:a16="http://schemas.microsoft.com/office/drawing/2014/main" xmlns="" id="{4DAB6F0E-F51B-75CF-5C92-FE4E62730A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6375" y="1971675"/>
            <a:ext cx="5548313" cy="381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28A4738-77AF-000B-E048-854AB410FE7B}"/>
              </a:ext>
            </a:extLst>
          </p:cNvPr>
          <p:cNvSpPr>
            <a:spLocks noGrp="1"/>
          </p:cNvSpPr>
          <p:nvPr>
            <p:ph type="title"/>
          </p:nvPr>
        </p:nvSpPr>
        <p:spPr/>
        <p:txBody>
          <a:bodyPr/>
          <a:lstStyle/>
          <a:p>
            <a:pPr>
              <a:defRPr/>
            </a:pPr>
            <a:endParaRPr lang="fr-FR"/>
          </a:p>
        </p:txBody>
      </p:sp>
      <p:sp>
        <p:nvSpPr>
          <p:cNvPr id="60419" name="Espace réservé du numéro de diapositive 3">
            <a:extLst>
              <a:ext uri="{FF2B5EF4-FFF2-40B4-BE49-F238E27FC236}">
                <a16:creationId xmlns:a16="http://schemas.microsoft.com/office/drawing/2014/main" xmlns="" id="{5DE22E07-F178-827C-BC2F-564EEFB8E4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149BC8A-5C56-4DBF-9874-258E976BF6B2}" type="slidenum">
              <a:rPr lang="fr-FR" altLang="fr-FR" sz="1400">
                <a:solidFill>
                  <a:srgbClr val="FFFFFF"/>
                </a:solidFill>
              </a:rPr>
              <a:pPr>
                <a:spcBef>
                  <a:spcPct val="0"/>
                </a:spcBef>
                <a:buClrTx/>
                <a:buSzTx/>
                <a:buFontTx/>
                <a:buNone/>
              </a:pPr>
              <a:t>65</a:t>
            </a:fld>
            <a:endParaRPr lang="fr-FR" altLang="fr-FR" sz="1400">
              <a:solidFill>
                <a:srgbClr val="FFFFFF"/>
              </a:solidFill>
            </a:endParaRPr>
          </a:p>
        </p:txBody>
      </p:sp>
      <p:pic>
        <p:nvPicPr>
          <p:cNvPr id="60420" name="Picture 2">
            <a:extLst>
              <a:ext uri="{FF2B5EF4-FFF2-40B4-BE49-F238E27FC236}">
                <a16:creationId xmlns:a16="http://schemas.microsoft.com/office/drawing/2014/main" xmlns="" id="{F8CCA819-FF2B-72D0-F7EA-998B3F7C4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205038"/>
            <a:ext cx="6591300" cy="380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0D500E6-57C5-BAB8-9E9C-80A9A7D0EB6B}"/>
              </a:ext>
            </a:extLst>
          </p:cNvPr>
          <p:cNvSpPr>
            <a:spLocks noGrp="1"/>
          </p:cNvSpPr>
          <p:nvPr>
            <p:ph type="title"/>
          </p:nvPr>
        </p:nvSpPr>
        <p:spPr/>
        <p:txBody>
          <a:bodyPr/>
          <a:lstStyle/>
          <a:p>
            <a:pPr>
              <a:defRPr/>
            </a:pPr>
            <a:endParaRPr lang="fr-FR"/>
          </a:p>
        </p:txBody>
      </p:sp>
      <p:sp>
        <p:nvSpPr>
          <p:cNvPr id="61443" name="Espace réservé du numéro de diapositive 3">
            <a:extLst>
              <a:ext uri="{FF2B5EF4-FFF2-40B4-BE49-F238E27FC236}">
                <a16:creationId xmlns:a16="http://schemas.microsoft.com/office/drawing/2014/main" xmlns="" id="{00C58FD0-98C5-9BE0-294A-2E082F927B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3FDBA17-0DA6-407E-9BF7-6AD6F3EAFF96}"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61444" name="Picture 2">
            <a:extLst>
              <a:ext uri="{FF2B5EF4-FFF2-40B4-BE49-F238E27FC236}">
                <a16:creationId xmlns:a16="http://schemas.microsoft.com/office/drawing/2014/main" xmlns="" id="{4ED5A227-A60F-3076-2210-713A7FB83C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2060575"/>
            <a:ext cx="7191375" cy="3790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1F7C2DA-C088-C72C-4F72-6AE7F1E86BDD}"/>
              </a:ext>
            </a:extLst>
          </p:cNvPr>
          <p:cNvSpPr>
            <a:spLocks noGrp="1"/>
          </p:cNvSpPr>
          <p:nvPr>
            <p:ph type="title"/>
          </p:nvPr>
        </p:nvSpPr>
        <p:spPr>
          <a:xfrm>
            <a:off x="395288" y="549275"/>
            <a:ext cx="8229600" cy="990600"/>
          </a:xfrm>
        </p:spPr>
        <p:txBody>
          <a:bodyPr/>
          <a:lstStyle/>
          <a:p>
            <a:pPr>
              <a:defRPr/>
            </a:pPr>
            <a:r>
              <a:rPr lang="fr-CA" dirty="0" err="1"/>
              <a:t>Grooming</a:t>
            </a:r>
            <a:endParaRPr lang="fr-FR" dirty="0"/>
          </a:p>
        </p:txBody>
      </p:sp>
      <p:sp>
        <p:nvSpPr>
          <p:cNvPr id="62467" name="Espace réservé du numéro de diapositive 3">
            <a:extLst>
              <a:ext uri="{FF2B5EF4-FFF2-40B4-BE49-F238E27FC236}">
                <a16:creationId xmlns:a16="http://schemas.microsoft.com/office/drawing/2014/main" xmlns="" id="{CEA7F2CA-4A1F-62A1-2737-E10FED3CFB6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20D016F-1B15-426B-AA34-E0121356DD7F}" type="slidenum">
              <a:rPr lang="fr-FR" altLang="fr-FR" sz="1400">
                <a:solidFill>
                  <a:srgbClr val="FFFFFF"/>
                </a:solidFill>
              </a:rPr>
              <a:pPr>
                <a:spcBef>
                  <a:spcPct val="0"/>
                </a:spcBef>
                <a:buClrTx/>
                <a:buSzTx/>
                <a:buFontTx/>
                <a:buNone/>
              </a:pPr>
              <a:t>67</a:t>
            </a:fld>
            <a:endParaRPr lang="fr-FR" altLang="fr-FR" sz="1400">
              <a:solidFill>
                <a:srgbClr val="FFFFFF"/>
              </a:solidFill>
            </a:endParaRPr>
          </a:p>
        </p:txBody>
      </p:sp>
      <p:pic>
        <p:nvPicPr>
          <p:cNvPr id="62468" name="Picture 3">
            <a:extLst>
              <a:ext uri="{FF2B5EF4-FFF2-40B4-BE49-F238E27FC236}">
                <a16:creationId xmlns:a16="http://schemas.microsoft.com/office/drawing/2014/main" xmlns="" id="{1D1088F5-F11A-3898-7322-1DBA4770A5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349500"/>
            <a:ext cx="6972300" cy="3819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3535754-FE4B-7078-ED02-6DED683D2FF9}"/>
              </a:ext>
            </a:extLst>
          </p:cNvPr>
          <p:cNvSpPr>
            <a:spLocks noGrp="1"/>
          </p:cNvSpPr>
          <p:nvPr>
            <p:ph type="title"/>
          </p:nvPr>
        </p:nvSpPr>
        <p:spPr/>
        <p:txBody>
          <a:bodyPr/>
          <a:lstStyle/>
          <a:p>
            <a:pPr>
              <a:defRPr/>
            </a:pPr>
            <a:endParaRPr lang="fr-FR"/>
          </a:p>
        </p:txBody>
      </p:sp>
      <p:sp>
        <p:nvSpPr>
          <p:cNvPr id="63491" name="Espace réservé du numéro de diapositive 3">
            <a:extLst>
              <a:ext uri="{FF2B5EF4-FFF2-40B4-BE49-F238E27FC236}">
                <a16:creationId xmlns:a16="http://schemas.microsoft.com/office/drawing/2014/main" xmlns="" id="{30836C38-D0E8-F25B-6F41-72CD5460DB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24C1D-DE6F-4E4D-961A-FB3F9BFE0E67}" type="slidenum">
              <a:rPr lang="fr-FR" altLang="fr-FR" sz="1400">
                <a:solidFill>
                  <a:srgbClr val="FFFFFF"/>
                </a:solidFill>
              </a:rPr>
              <a:pPr>
                <a:spcBef>
                  <a:spcPct val="0"/>
                </a:spcBef>
                <a:buClrTx/>
                <a:buSzTx/>
                <a:buFontTx/>
                <a:buNone/>
              </a:pPr>
              <a:t>68</a:t>
            </a:fld>
            <a:endParaRPr lang="fr-FR" altLang="fr-FR" sz="1400">
              <a:solidFill>
                <a:srgbClr val="FFFFFF"/>
              </a:solidFill>
            </a:endParaRPr>
          </a:p>
        </p:txBody>
      </p:sp>
      <p:pic>
        <p:nvPicPr>
          <p:cNvPr id="63492" name="Picture 3">
            <a:extLst>
              <a:ext uri="{FF2B5EF4-FFF2-40B4-BE49-F238E27FC236}">
                <a16:creationId xmlns:a16="http://schemas.microsoft.com/office/drawing/2014/main" xmlns=""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2205038"/>
            <a:ext cx="6159500" cy="367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187AD6-9D17-C60B-B3AF-36D2DE7F0200}"/>
              </a:ext>
            </a:extLst>
          </p:cNvPr>
          <p:cNvSpPr>
            <a:spLocks noGrp="1"/>
          </p:cNvSpPr>
          <p:nvPr>
            <p:ph type="title"/>
          </p:nvPr>
        </p:nvSpPr>
        <p:spPr/>
        <p:txBody>
          <a:bodyPr/>
          <a:lstStyle/>
          <a:p>
            <a:pPr>
              <a:defRPr/>
            </a:pPr>
            <a:r>
              <a:rPr lang="fr-CA" dirty="0"/>
              <a:t>Planning poker</a:t>
            </a:r>
            <a:endParaRPr lang="fr-FR" dirty="0"/>
          </a:p>
        </p:txBody>
      </p:sp>
      <p:sp>
        <p:nvSpPr>
          <p:cNvPr id="64515" name="Espace réservé du numéro de diapositive 3">
            <a:extLst>
              <a:ext uri="{FF2B5EF4-FFF2-40B4-BE49-F238E27FC236}">
                <a16:creationId xmlns:a16="http://schemas.microsoft.com/office/drawing/2014/main" xmlns="" id="{B28BF47C-4EFE-F2B2-8518-90771125301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58630F3-11A3-46C1-A43F-C4B24C1D23BC}" type="slidenum">
              <a:rPr lang="fr-FR" altLang="fr-FR" sz="1400">
                <a:solidFill>
                  <a:srgbClr val="FFFFFF"/>
                </a:solidFill>
              </a:rPr>
              <a:pPr>
                <a:spcBef>
                  <a:spcPct val="0"/>
                </a:spcBef>
                <a:buClrTx/>
                <a:buSzTx/>
                <a:buFontTx/>
                <a:buNone/>
              </a:pPr>
              <a:t>69</a:t>
            </a:fld>
            <a:endParaRPr lang="fr-FR" altLang="fr-FR" sz="1400">
              <a:solidFill>
                <a:srgbClr val="FFFFFF"/>
              </a:solidFill>
            </a:endParaRPr>
          </a:p>
        </p:txBody>
      </p:sp>
      <p:pic>
        <p:nvPicPr>
          <p:cNvPr id="64516" name="Picture 2">
            <a:extLst>
              <a:ext uri="{FF2B5EF4-FFF2-40B4-BE49-F238E27FC236}">
                <a16:creationId xmlns:a16="http://schemas.microsoft.com/office/drawing/2014/main" xmlns=""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813" y="2205038"/>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43189" y="1772816"/>
            <a:ext cx="2936924" cy="4633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7043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sp>
        <p:nvSpPr>
          <p:cNvPr id="7" name="Rectangle 6"/>
          <p:cNvSpPr/>
          <p:nvPr/>
        </p:nvSpPr>
        <p:spPr>
          <a:xfrm>
            <a:off x="635228" y="1844824"/>
            <a:ext cx="7609179" cy="1477328"/>
          </a:xfrm>
          <a:prstGeom prst="rect">
            <a:avLst/>
          </a:prstGeom>
        </p:spPr>
        <p:txBody>
          <a:bodyPr wrap="square">
            <a:spAutoFit/>
          </a:bodyPr>
          <a:lstStyle/>
          <a:p>
            <a:r>
              <a:rPr lang="fr-CA" dirty="0"/>
              <a:t>- Le </a:t>
            </a:r>
            <a:r>
              <a:rPr lang="fr-CA" b="1" dirty="0"/>
              <a:t>Product </a:t>
            </a:r>
            <a:r>
              <a:rPr lang="fr-CA" b="1" dirty="0" err="1"/>
              <a:t>Backlog</a:t>
            </a:r>
            <a:r>
              <a:rPr lang="fr-CA" b="1" dirty="0"/>
              <a:t> n’est pas un document figé au début du projet</a:t>
            </a:r>
            <a:r>
              <a:rPr lang="fr-CA" dirty="0"/>
              <a:t>.</a:t>
            </a:r>
            <a:br>
              <a:rPr lang="fr-CA" dirty="0"/>
            </a:br>
            <a:r>
              <a:rPr lang="fr-CA" dirty="0"/>
              <a:t>-C’est une </a:t>
            </a:r>
            <a:r>
              <a:rPr lang="fr-CA" b="1" dirty="0"/>
              <a:t>liste vivante</a:t>
            </a:r>
            <a:r>
              <a:rPr lang="fr-CA" dirty="0"/>
              <a:t>, </a:t>
            </a:r>
            <a:r>
              <a:rPr lang="fr-CA" b="1" dirty="0"/>
              <a:t>évolutive</a:t>
            </a:r>
            <a:r>
              <a:rPr lang="fr-CA" dirty="0"/>
              <a:t> et </a:t>
            </a:r>
            <a:r>
              <a:rPr lang="fr-CA" b="1" dirty="0"/>
              <a:t>priorisée en continu</a:t>
            </a:r>
            <a:r>
              <a:rPr lang="fr-CA" dirty="0"/>
              <a:t> tout au long du développement du produit.</a:t>
            </a:r>
          </a:p>
          <a:p>
            <a:r>
              <a:rPr lang="fr-CA" dirty="0"/>
              <a:t>-C’est d’ailleurs l’un des </a:t>
            </a:r>
            <a:r>
              <a:rPr lang="fr-CA" b="1" dirty="0"/>
              <a:t>principes clés de </a:t>
            </a:r>
            <a:r>
              <a:rPr lang="fr-CA" b="1" dirty="0" err="1"/>
              <a:t>Scrum</a:t>
            </a:r>
            <a:r>
              <a:rPr lang="fr-CA" dirty="0"/>
              <a:t> </a:t>
            </a:r>
          </a:p>
          <a:p>
            <a:endParaRPr lang="fr-CA" dirty="0"/>
          </a:p>
        </p:txBody>
      </p:sp>
      <p:sp>
        <p:nvSpPr>
          <p:cNvPr id="8" name="Rectangle 7"/>
          <p:cNvSpPr/>
          <p:nvPr/>
        </p:nvSpPr>
        <p:spPr>
          <a:xfrm>
            <a:off x="1475656" y="3212976"/>
            <a:ext cx="7560840" cy="369332"/>
          </a:xfrm>
          <a:prstGeom prst="rect">
            <a:avLst/>
          </a:prstGeom>
        </p:spPr>
        <p:txBody>
          <a:bodyPr wrap="square">
            <a:spAutoFit/>
          </a:bodyPr>
          <a:lstStyle/>
          <a:p>
            <a:r>
              <a:rPr lang="fr-CA" dirty="0"/>
              <a:t>1. Le Product </a:t>
            </a:r>
            <a:r>
              <a:rPr lang="fr-CA" dirty="0" err="1"/>
              <a:t>Backlog</a:t>
            </a:r>
            <a:r>
              <a:rPr lang="fr-CA" dirty="0"/>
              <a:t> est créé au démarrage… mais reste évolutif</a:t>
            </a:r>
            <a:endParaRPr lang="fr-FR" dirty="0"/>
          </a:p>
        </p:txBody>
      </p:sp>
      <p:sp>
        <p:nvSpPr>
          <p:cNvPr id="9" name="Rectangle 8"/>
          <p:cNvSpPr/>
          <p:nvPr/>
        </p:nvSpPr>
        <p:spPr>
          <a:xfrm>
            <a:off x="1475656" y="3752166"/>
            <a:ext cx="6768752" cy="369332"/>
          </a:xfrm>
          <a:prstGeom prst="rect">
            <a:avLst/>
          </a:prstGeom>
        </p:spPr>
        <p:txBody>
          <a:bodyPr wrap="square">
            <a:spAutoFit/>
          </a:bodyPr>
          <a:lstStyle/>
          <a:p>
            <a:r>
              <a:rPr lang="fr-CA" dirty="0"/>
              <a:t>2. Le Product </a:t>
            </a:r>
            <a:r>
              <a:rPr lang="fr-CA" dirty="0" err="1"/>
              <a:t>Backlog</a:t>
            </a:r>
            <a:r>
              <a:rPr lang="fr-CA" dirty="0"/>
              <a:t> s’affine et s’enrichit en continu</a:t>
            </a:r>
            <a:endParaRPr lang="fr-FR" dirty="0"/>
          </a:p>
        </p:txBody>
      </p:sp>
      <p:sp>
        <p:nvSpPr>
          <p:cNvPr id="10" name="Rectangle 9"/>
          <p:cNvSpPr/>
          <p:nvPr/>
        </p:nvSpPr>
        <p:spPr>
          <a:xfrm>
            <a:off x="1475656" y="4365104"/>
            <a:ext cx="4352474" cy="369332"/>
          </a:xfrm>
          <a:prstGeom prst="rect">
            <a:avLst/>
          </a:prstGeom>
        </p:spPr>
        <p:txBody>
          <a:bodyPr wrap="none">
            <a:spAutoFit/>
          </a:bodyPr>
          <a:lstStyle/>
          <a:p>
            <a:r>
              <a:rPr lang="fr-CA" dirty="0"/>
              <a:t>3. Le rôle central du </a:t>
            </a:r>
            <a:r>
              <a:rPr lang="fr-CA" dirty="0" err="1"/>
              <a:t>Backlog</a:t>
            </a:r>
            <a:r>
              <a:rPr lang="fr-CA" dirty="0"/>
              <a:t> </a:t>
            </a:r>
            <a:r>
              <a:rPr lang="fr-CA" dirty="0" err="1"/>
              <a:t>Refinement</a:t>
            </a:r>
            <a:endParaRPr lang="fr-FR" dirty="0"/>
          </a:p>
        </p:txBody>
      </p:sp>
    </p:spTree>
    <p:extLst>
      <p:ext uri="{BB962C8B-B14F-4D97-AF65-F5344CB8AC3E}">
        <p14:creationId xmlns:p14="http://schemas.microsoft.com/office/powerpoint/2010/main" val="35173362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r>
              <a:rPr lang="fr-CA" dirty="0"/>
              <a:t>👉 Résultat :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spTree>
    <p:extLst>
      <p:ext uri="{BB962C8B-B14F-4D97-AF65-F5344CB8AC3E}">
        <p14:creationId xmlns:p14="http://schemas.microsoft.com/office/powerpoint/2010/main" val="34159275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004F89C-3FB8-9512-F373-729B0AADEC6C}"/>
              </a:ext>
            </a:extLst>
          </p:cNvPr>
          <p:cNvSpPr>
            <a:spLocks noGrp="1"/>
          </p:cNvSpPr>
          <p:nvPr>
            <p:ph type="title"/>
          </p:nvPr>
        </p:nvSpPr>
        <p:spPr/>
        <p:txBody>
          <a:bodyPr>
            <a:normAutofit fontScale="90000"/>
          </a:bodyPr>
          <a:lstStyle/>
          <a:p>
            <a:pPr>
              <a:defRPr/>
            </a:pPr>
            <a:r>
              <a:rPr lang="fr-CA" b="1" dirty="0"/>
              <a:t>Qu’est ce qu’un sprint ?</a:t>
            </a:r>
            <a:br>
              <a:rPr lang="fr-CA" b="1" dirty="0"/>
            </a:br>
            <a:endParaRPr lang="fr-FR" dirty="0"/>
          </a:p>
        </p:txBody>
      </p:sp>
      <p:sp>
        <p:nvSpPr>
          <p:cNvPr id="65539" name="Espace réservé du contenu 2">
            <a:extLst>
              <a:ext uri="{FF2B5EF4-FFF2-40B4-BE49-F238E27FC236}">
                <a16:creationId xmlns:a16="http://schemas.microsoft.com/office/drawing/2014/main" xmlns="" id="{563F8443-C909-B7A6-0822-B4ED4F327893}"/>
              </a:ext>
            </a:extLst>
          </p:cNvPr>
          <p:cNvSpPr>
            <a:spLocks noGrp="1"/>
          </p:cNvSpPr>
          <p:nvPr>
            <p:ph idx="1"/>
          </p:nvPr>
        </p:nvSpPr>
        <p:spPr/>
        <p:txBody>
          <a:bodyPr/>
          <a:lstStyle/>
          <a:p>
            <a:r>
              <a:rPr lang="fr-CA" altLang="fr-FR"/>
              <a:t>Pour maintenir la continuité, les sprints sont des événements d’un mois ou moins. Après l’achèvement du sprint précédent, un nouveau sprint commence.</a:t>
            </a:r>
          </a:p>
          <a:p>
            <a:r>
              <a:rPr lang="fr-CA" altLang="fr-FR"/>
              <a:t>Les sprints contiennent tout le travail nécessaire pour atteindre le but du produit, y compris la planification du sprint, les scrum quotidiennes, la revue du sprint et la rétrospective du sprint.</a:t>
            </a:r>
          </a:p>
          <a:p>
            <a:endParaRPr lang="fr-FR" altLang="fr-FR"/>
          </a:p>
        </p:txBody>
      </p:sp>
      <p:sp>
        <p:nvSpPr>
          <p:cNvPr id="65540" name="Espace réservé du numéro de diapositive 3">
            <a:extLst>
              <a:ext uri="{FF2B5EF4-FFF2-40B4-BE49-F238E27FC236}">
                <a16:creationId xmlns:a16="http://schemas.microsoft.com/office/drawing/2014/main" xmlns="" id="{177B6C74-1445-4D96-C53B-556CB73E3D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2AD5021-1671-44ED-8288-83A361A8FD92}" type="slidenum">
              <a:rPr lang="fr-FR" altLang="fr-FR" sz="1400">
                <a:solidFill>
                  <a:srgbClr val="FFFFFF"/>
                </a:solidFill>
              </a:rPr>
              <a:pPr>
                <a:spcBef>
                  <a:spcPct val="0"/>
                </a:spcBef>
                <a:buClrTx/>
                <a:buSzTx/>
                <a:buFontTx/>
                <a:buNone/>
              </a:pPr>
              <a:t>73</a:t>
            </a:fld>
            <a:endParaRPr lang="fr-FR" altLang="fr-FR" sz="1400">
              <a:solidFill>
                <a:srgbClr val="FFFFFF"/>
              </a:solidFill>
            </a:endParaRPr>
          </a:p>
        </p:txBody>
      </p:sp>
      <p:pic>
        <p:nvPicPr>
          <p:cNvPr id="65541" name="Picture 2" descr="Schéma du sprint en scrum et méthode agile">
            <a:extLst>
              <a:ext uri="{FF2B5EF4-FFF2-40B4-BE49-F238E27FC236}">
                <a16:creationId xmlns:a16="http://schemas.microsoft.com/office/drawing/2014/main" xmlns="" id="{FC1146C1-7969-E8EE-093A-FB34612AB9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2275" y="4292600"/>
            <a:ext cx="5688013"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0CCF673-35BE-DCE4-FE41-2685D27005DC}"/>
              </a:ext>
            </a:extLst>
          </p:cNvPr>
          <p:cNvSpPr>
            <a:spLocks noGrp="1"/>
          </p:cNvSpPr>
          <p:nvPr>
            <p:ph type="title"/>
          </p:nvPr>
        </p:nvSpPr>
        <p:spPr/>
        <p:txBody>
          <a:bodyPr/>
          <a:lstStyle/>
          <a:p>
            <a:pPr>
              <a:defRPr/>
            </a:pPr>
            <a:endParaRPr lang="fr-FR"/>
          </a:p>
        </p:txBody>
      </p:sp>
      <p:sp>
        <p:nvSpPr>
          <p:cNvPr id="66563" name="Espace réservé du numéro de diapositive 3">
            <a:extLst>
              <a:ext uri="{FF2B5EF4-FFF2-40B4-BE49-F238E27FC236}">
                <a16:creationId xmlns:a16="http://schemas.microsoft.com/office/drawing/2014/main" xmlns="" id="{E097E359-6C4D-12AF-C6F3-1C372CA4FB2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C293A4A-04A4-4980-BC71-6A20B299D45D}" type="slidenum">
              <a:rPr lang="fr-FR" altLang="fr-FR" sz="1400">
                <a:solidFill>
                  <a:srgbClr val="FFFFFF"/>
                </a:solidFill>
              </a:rPr>
              <a:pPr>
                <a:spcBef>
                  <a:spcPct val="0"/>
                </a:spcBef>
                <a:buClrTx/>
                <a:buSzTx/>
                <a:buFontTx/>
                <a:buNone/>
              </a:pPr>
              <a:t>74</a:t>
            </a:fld>
            <a:endParaRPr lang="fr-FR" altLang="fr-FR" sz="1400">
              <a:solidFill>
                <a:srgbClr val="FFFFFF"/>
              </a:solidFill>
            </a:endParaRPr>
          </a:p>
        </p:txBody>
      </p:sp>
      <p:pic>
        <p:nvPicPr>
          <p:cNvPr id="66564" name="Picture 2">
            <a:extLst>
              <a:ext uri="{FF2B5EF4-FFF2-40B4-BE49-F238E27FC236}">
                <a16:creationId xmlns:a16="http://schemas.microsoft.com/office/drawing/2014/main" xmlns="" id="{A9D9ED0D-E6B4-4ECF-DE42-0CFEEFAAD7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1844675"/>
            <a:ext cx="6624637" cy="4002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DFDAE8-9DA8-264F-11B8-30D776178209}"/>
              </a:ext>
            </a:extLst>
          </p:cNvPr>
          <p:cNvSpPr>
            <a:spLocks noGrp="1"/>
          </p:cNvSpPr>
          <p:nvPr>
            <p:ph type="title"/>
          </p:nvPr>
        </p:nvSpPr>
        <p:spPr/>
        <p:txBody>
          <a:bodyPr/>
          <a:lstStyle/>
          <a:p>
            <a:pPr>
              <a:defRPr/>
            </a:pPr>
            <a:r>
              <a:rPr lang="fr-CA" dirty="0"/>
              <a:t>Sprint planning</a:t>
            </a:r>
            <a:endParaRPr lang="fr-FR" dirty="0"/>
          </a:p>
        </p:txBody>
      </p:sp>
      <p:sp>
        <p:nvSpPr>
          <p:cNvPr id="67587" name="Espace réservé du numéro de diapositive 3">
            <a:extLst>
              <a:ext uri="{FF2B5EF4-FFF2-40B4-BE49-F238E27FC236}">
                <a16:creationId xmlns:a16="http://schemas.microsoft.com/office/drawing/2014/main" xmlns="" id="{46090546-A6F0-D78D-6E96-AEA54A43E2A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AD12BAA-25B7-4E68-800B-723B12419B19}" type="slidenum">
              <a:rPr lang="fr-FR" altLang="fr-FR" sz="1400">
                <a:solidFill>
                  <a:srgbClr val="FFFFFF"/>
                </a:solidFill>
              </a:rPr>
              <a:pPr>
                <a:spcBef>
                  <a:spcPct val="0"/>
                </a:spcBef>
                <a:buClrTx/>
                <a:buSzTx/>
                <a:buFontTx/>
                <a:buNone/>
              </a:pPr>
              <a:t>75</a:t>
            </a:fld>
            <a:endParaRPr lang="fr-FR" altLang="fr-FR" sz="1400">
              <a:solidFill>
                <a:srgbClr val="FFFFFF"/>
              </a:solidFill>
            </a:endParaRP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1844824"/>
            <a:ext cx="6408712" cy="4093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36F8AB1-852B-5A4B-0E2C-04C8E5305510}"/>
              </a:ext>
            </a:extLst>
          </p:cNvPr>
          <p:cNvSpPr>
            <a:spLocks noGrp="1"/>
          </p:cNvSpPr>
          <p:nvPr>
            <p:ph type="title"/>
          </p:nvPr>
        </p:nvSpPr>
        <p:spPr/>
        <p:txBody>
          <a:bodyPr/>
          <a:lstStyle/>
          <a:p>
            <a:pPr>
              <a:defRPr/>
            </a:pPr>
            <a:r>
              <a:rPr lang="fr-FR" dirty="0"/>
              <a:t>Sprint </a:t>
            </a:r>
            <a:r>
              <a:rPr lang="fr-FR" dirty="0" err="1"/>
              <a:t>Execution</a:t>
            </a:r>
            <a:endParaRPr lang="fr-FR" dirty="0"/>
          </a:p>
        </p:txBody>
      </p:sp>
      <p:sp>
        <p:nvSpPr>
          <p:cNvPr id="68611" name="Espace réservé du contenu 2">
            <a:extLst>
              <a:ext uri="{FF2B5EF4-FFF2-40B4-BE49-F238E27FC236}">
                <a16:creationId xmlns:a16="http://schemas.microsoft.com/office/drawing/2014/main" xmlns="" id="{6B0DB506-DFF7-FB91-F97D-0A4B496D57B3}"/>
              </a:ext>
            </a:extLst>
          </p:cNvPr>
          <p:cNvSpPr>
            <a:spLocks noGrp="1"/>
          </p:cNvSpPr>
          <p:nvPr>
            <p:ph idx="1"/>
          </p:nvPr>
        </p:nvSpPr>
        <p:spPr/>
        <p:txBody>
          <a:bodyPr/>
          <a:lstStyle/>
          <a:p>
            <a:r>
              <a:rPr lang="fr-CA" altLang="fr-FR"/>
              <a:t>1-Daily Scrum : la mêlée quotidienne (au début de la matinée , durée 15min)</a:t>
            </a:r>
          </a:p>
        </p:txBody>
      </p:sp>
      <p:sp>
        <p:nvSpPr>
          <p:cNvPr id="68612" name="Espace réservé du numéro de diapositive 3">
            <a:extLst>
              <a:ext uri="{FF2B5EF4-FFF2-40B4-BE49-F238E27FC236}">
                <a16:creationId xmlns:a16="http://schemas.microsoft.com/office/drawing/2014/main" xmlns="" id="{42B7BCCB-BD88-0108-E9C5-1E226130EC2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3279AB9-C1B3-4F3A-A357-EB958C061EC4}" type="slidenum">
              <a:rPr lang="fr-FR" altLang="fr-FR" sz="1400">
                <a:solidFill>
                  <a:srgbClr val="FFFFFF"/>
                </a:solidFill>
              </a:rPr>
              <a:pPr>
                <a:spcBef>
                  <a:spcPct val="0"/>
                </a:spcBef>
                <a:buClrTx/>
                <a:buSzTx/>
                <a:buFontTx/>
                <a:buNone/>
              </a:pPr>
              <a:t>76</a:t>
            </a:fld>
            <a:endParaRPr lang="fr-FR" altLang="fr-FR" sz="1400">
              <a:solidFill>
                <a:srgbClr val="FFFFFF"/>
              </a:solidFill>
            </a:endParaRPr>
          </a:p>
        </p:txBody>
      </p:sp>
      <p:pic>
        <p:nvPicPr>
          <p:cNvPr id="68613" name="Picture 2">
            <a:extLst>
              <a:ext uri="{FF2B5EF4-FFF2-40B4-BE49-F238E27FC236}">
                <a16:creationId xmlns:a16="http://schemas.microsoft.com/office/drawing/2014/main" xmlns="" id="{030B20DF-21BA-7D73-B245-F8B04437DD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713" y="2401888"/>
            <a:ext cx="5616575" cy="3205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614" name="Rectangle 4">
            <a:extLst>
              <a:ext uri="{FF2B5EF4-FFF2-40B4-BE49-F238E27FC236}">
                <a16:creationId xmlns:a16="http://schemas.microsoft.com/office/drawing/2014/main" xmlns="" id="{5BCCD959-979A-E617-7BBF-364CD47EA0DD}"/>
              </a:ext>
            </a:extLst>
          </p:cNvPr>
          <p:cNvSpPr>
            <a:spLocks noChangeArrowheads="1"/>
          </p:cNvSpPr>
          <p:nvPr/>
        </p:nvSpPr>
        <p:spPr bwMode="auto">
          <a:xfrm>
            <a:off x="2484438" y="56213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Qu’est-ce que j’ai fait hier ?</a:t>
            </a:r>
          </a:p>
          <a:p>
            <a:pPr eaLnBrk="1" hangingPunct="1">
              <a:spcBef>
                <a:spcPct val="0"/>
              </a:spcBef>
              <a:buClrTx/>
              <a:buSzTx/>
              <a:buFontTx/>
              <a:buNone/>
            </a:pPr>
            <a:r>
              <a:rPr lang="fr-CA" altLang="fr-FR" sz="1800"/>
              <a:t>Qu’est-ce que je vais faire aujourd’hui ?</a:t>
            </a:r>
          </a:p>
          <a:p>
            <a:pPr eaLnBrk="1" hangingPunct="1">
              <a:spcBef>
                <a:spcPct val="0"/>
              </a:spcBef>
              <a:buClrTx/>
              <a:buSzTx/>
              <a:buFontTx/>
              <a:buNone/>
            </a:pPr>
            <a:r>
              <a:rPr lang="fr-CA" altLang="fr-FR" sz="1800"/>
              <a:t>Qu’est-ce qui me bloque ?</a:t>
            </a:r>
            <a:endParaRPr lang="fr-FR" altLang="fr-FR" sz="18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8E4422D-53B4-2E80-A2B6-9C3FFA070B0D}"/>
              </a:ext>
            </a:extLst>
          </p:cNvPr>
          <p:cNvSpPr>
            <a:spLocks noGrp="1"/>
          </p:cNvSpPr>
          <p:nvPr>
            <p:ph type="title"/>
          </p:nvPr>
        </p:nvSpPr>
        <p:spPr/>
        <p:txBody>
          <a:bodyPr/>
          <a:lstStyle/>
          <a:p>
            <a:pPr>
              <a:defRPr/>
            </a:pPr>
            <a:endParaRPr lang="fr-FR"/>
          </a:p>
        </p:txBody>
      </p:sp>
      <p:sp>
        <p:nvSpPr>
          <p:cNvPr id="69635" name="Espace réservé du contenu 2">
            <a:extLst>
              <a:ext uri="{FF2B5EF4-FFF2-40B4-BE49-F238E27FC236}">
                <a16:creationId xmlns:a16="http://schemas.microsoft.com/office/drawing/2014/main" xmlns="" id="{D5A3464B-2EA6-5BEB-4924-CF856FCF59F6}"/>
              </a:ext>
            </a:extLst>
          </p:cNvPr>
          <p:cNvSpPr>
            <a:spLocks noGrp="1"/>
          </p:cNvSpPr>
          <p:nvPr>
            <p:ph idx="1"/>
          </p:nvPr>
        </p:nvSpPr>
        <p:spPr/>
        <p:txBody>
          <a:bodyPr/>
          <a:lstStyle/>
          <a:p>
            <a:r>
              <a:rPr lang="fr-CA" altLang="fr-FR"/>
              <a:t>2-suivi du Sprint (tableau des taches)</a:t>
            </a:r>
            <a:endParaRPr lang="fr-FR" altLang="fr-FR"/>
          </a:p>
        </p:txBody>
      </p:sp>
      <p:sp>
        <p:nvSpPr>
          <p:cNvPr id="69636" name="Espace réservé du numéro de diapositive 3">
            <a:extLst>
              <a:ext uri="{FF2B5EF4-FFF2-40B4-BE49-F238E27FC236}">
                <a16:creationId xmlns:a16="http://schemas.microsoft.com/office/drawing/2014/main" xmlns=""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77</a:t>
            </a:fld>
            <a:endParaRPr lang="fr-FR" altLang="fr-FR" sz="1400">
              <a:solidFill>
                <a:srgbClr val="FFFFFF"/>
              </a:solidFill>
            </a:endParaRPr>
          </a:p>
        </p:txBody>
      </p:sp>
      <p:sp>
        <p:nvSpPr>
          <p:cNvPr id="69637" name="Rectangle 2">
            <a:extLst>
              <a:ext uri="{FF2B5EF4-FFF2-40B4-BE49-F238E27FC236}">
                <a16:creationId xmlns:a16="http://schemas.microsoft.com/office/drawing/2014/main" xmlns="" id="{199108E6-F770-3959-7612-AD6DD96B852F}"/>
              </a:ext>
            </a:extLst>
          </p:cNvPr>
          <p:cNvSpPr>
            <a:spLocks noChangeArrowheads="1"/>
          </p:cNvSpPr>
          <p:nvPr/>
        </p:nvSpPr>
        <p:spPr bwMode="auto">
          <a:xfrm>
            <a:off x="1331913" y="2636838"/>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Un sprint de 2 semaines peut contenir une trentaine de cartes</a:t>
            </a:r>
            <a:endParaRPr lang="fr-FR" altLang="fr-FR" sz="1800"/>
          </a:p>
        </p:txBody>
      </p:sp>
      <p:pic>
        <p:nvPicPr>
          <p:cNvPr id="69638" name="Picture 5">
            <a:extLst>
              <a:ext uri="{FF2B5EF4-FFF2-40B4-BE49-F238E27FC236}">
                <a16:creationId xmlns:a16="http://schemas.microsoft.com/office/drawing/2014/main" xmlns=""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4888" y="3452813"/>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a16="http://schemas.microsoft.com/office/drawing/2014/main" xmlns=""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a16="http://schemas.microsoft.com/office/drawing/2014/main" xmlns=""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pic>
        <p:nvPicPr>
          <p:cNvPr id="70661" name="Picture 2">
            <a:extLst>
              <a:ext uri="{FF2B5EF4-FFF2-40B4-BE49-F238E27FC236}">
                <a16:creationId xmlns:a16="http://schemas.microsoft.com/office/drawing/2014/main" xmlns=""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77B36B-D55F-1728-23AA-DF6891179746}"/>
              </a:ext>
            </a:extLst>
          </p:cNvPr>
          <p:cNvSpPr>
            <a:spLocks noGrp="1"/>
          </p:cNvSpPr>
          <p:nvPr>
            <p:ph type="title"/>
          </p:nvPr>
        </p:nvSpPr>
        <p:spPr/>
        <p:txBody>
          <a:bodyPr/>
          <a:lstStyle/>
          <a:p>
            <a:pPr>
              <a:defRPr/>
            </a:pPr>
            <a:endParaRPr lang="fr-FR"/>
          </a:p>
        </p:txBody>
      </p:sp>
      <p:sp>
        <p:nvSpPr>
          <p:cNvPr id="71683" name="Espace réservé du contenu 2">
            <a:extLst>
              <a:ext uri="{FF2B5EF4-FFF2-40B4-BE49-F238E27FC236}">
                <a16:creationId xmlns:a16="http://schemas.microsoft.com/office/drawing/2014/main" xmlns="" id="{EBFC5E4F-C511-E29D-160F-C62748085856}"/>
              </a:ext>
            </a:extLst>
          </p:cNvPr>
          <p:cNvSpPr>
            <a:spLocks noGrp="1"/>
          </p:cNvSpPr>
          <p:nvPr>
            <p:ph idx="1"/>
          </p:nvPr>
        </p:nvSpPr>
        <p:spPr>
          <a:xfrm>
            <a:off x="395288" y="1628775"/>
            <a:ext cx="8229600" cy="4876800"/>
          </a:xfrm>
        </p:spPr>
        <p:txBody>
          <a:bodyPr/>
          <a:lstStyle/>
          <a:p>
            <a:r>
              <a:rPr lang="fr-CA" altLang="fr-FR"/>
              <a:t>3-Sprint Review</a:t>
            </a:r>
          </a:p>
          <a:p>
            <a:endParaRPr lang="fr-CA" altLang="fr-FR"/>
          </a:p>
          <a:p>
            <a:r>
              <a:rPr lang="fr-CA" altLang="fr-FR"/>
              <a:t>La </a:t>
            </a:r>
            <a:r>
              <a:rPr lang="fr-CA" altLang="fr-FR" b="1"/>
              <a:t>sprint review</a:t>
            </a:r>
            <a:r>
              <a:rPr lang="fr-CA" altLang="fr-FR"/>
              <a:t>, ou</a:t>
            </a:r>
            <a:r>
              <a:rPr lang="fr-CA" altLang="fr-FR" b="1"/>
              <a:t> revue de sprint</a:t>
            </a:r>
            <a:r>
              <a:rPr lang="fr-CA" altLang="fr-FR"/>
              <a:t> en français, est la réunion destinée à évaluer les résultats obtenus par l’</a:t>
            </a:r>
            <a:r>
              <a:rPr lang="fr-CA" altLang="fr-FR" b="1">
                <a:hlinkClick r:id="rId2"/>
              </a:rPr>
              <a:t>équipe scrum</a:t>
            </a:r>
            <a:r>
              <a:rPr lang="fr-CA" altLang="fr-FR"/>
              <a:t> après un sprint. </a:t>
            </a:r>
          </a:p>
          <a:p>
            <a:r>
              <a:rPr lang="fr-CA" altLang="fr-FR"/>
              <a:t>Elle permet d’analyser les </a:t>
            </a:r>
            <a:r>
              <a:rPr lang="fr-CA" altLang="fr-FR" b="1"/>
              <a:t>progrès réalisés </a:t>
            </a:r>
            <a:r>
              <a:rPr lang="fr-CA" altLang="fr-FR"/>
              <a:t>par le développement afin d’atteindre l’objectif fixé.</a:t>
            </a:r>
            <a:endParaRPr lang="fr-FR" altLang="fr-FR"/>
          </a:p>
        </p:txBody>
      </p:sp>
      <p:sp>
        <p:nvSpPr>
          <p:cNvPr id="71684" name="Espace réservé du numéro de diapositive 3">
            <a:extLst>
              <a:ext uri="{FF2B5EF4-FFF2-40B4-BE49-F238E27FC236}">
                <a16:creationId xmlns:a16="http://schemas.microsoft.com/office/drawing/2014/main" xmlns="" id="{E258302E-D7F0-EA77-FD1D-A9D360E16D1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DD0788C-F4C2-4519-9F07-8C02DB36648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B4704E3-6431-5CAD-F405-6868F2F440B1}"/>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5E963301-653E-921D-085B-B0F799A5CE19}"/>
              </a:ext>
            </a:extLst>
          </p:cNvPr>
          <p:cNvSpPr>
            <a:spLocks noGrp="1"/>
          </p:cNvSpPr>
          <p:nvPr>
            <p:ph idx="1"/>
          </p:nvPr>
        </p:nvSpPr>
        <p:spPr/>
        <p:txBody>
          <a:bodyPr/>
          <a:lstStyle/>
          <a:p>
            <a:pPr>
              <a:buFont typeface="Arial" charset="0"/>
              <a:buChar char="•"/>
              <a:defRPr/>
            </a:pPr>
            <a:r>
              <a:rPr lang="fr-CA" b="1" u="sng" dirty="0"/>
              <a:t>Objectif du sprint </a:t>
            </a:r>
            <a:r>
              <a:rPr lang="fr-CA" b="1" u="sng" dirty="0" err="1"/>
              <a:t>Review</a:t>
            </a:r>
            <a:r>
              <a:rPr lang="fr-CA" b="1" u="sng" dirty="0"/>
              <a:t>: </a:t>
            </a:r>
          </a:p>
          <a:p>
            <a:pPr>
              <a:buFont typeface="Arial" charset="0"/>
              <a:buChar char="•"/>
              <a:defRPr/>
            </a:pPr>
            <a:r>
              <a:rPr lang="fr-CA" dirty="0"/>
              <a:t>-pour l’équipe </a:t>
            </a:r>
            <a:r>
              <a:rPr lang="fr-CA" dirty="0" err="1"/>
              <a:t>Scrum</a:t>
            </a:r>
            <a:r>
              <a:rPr lang="fr-CA" dirty="0"/>
              <a:t> : Présenter le résultat du sprint sous forme de démonstration.</a:t>
            </a:r>
          </a:p>
          <a:p>
            <a:pPr>
              <a:buFont typeface="Arial" charset="0"/>
              <a:buChar char="•"/>
              <a:defRPr/>
            </a:pPr>
            <a:endParaRPr lang="fr-CA" dirty="0"/>
          </a:p>
          <a:p>
            <a:pPr>
              <a:buFont typeface="Arial" charset="0"/>
              <a:buChar char="•"/>
              <a:defRPr/>
            </a:pPr>
            <a:r>
              <a:rPr lang="fr-CA" dirty="0"/>
              <a:t>-pour l’utilisateur : vérifier si l’incrément(résultat du sprint)</a:t>
            </a:r>
          </a:p>
          <a:p>
            <a:pPr marL="0" indent="0">
              <a:buFont typeface="Arial" charset="0"/>
              <a:buNone/>
              <a:defRPr/>
            </a:pPr>
            <a:r>
              <a:rPr lang="fr-CA" dirty="0"/>
              <a:t> Répond aux besoins</a:t>
            </a:r>
          </a:p>
          <a:p>
            <a:pPr marL="0" indent="0">
              <a:buFont typeface="Arial" charset="0"/>
              <a:buNone/>
              <a:defRPr/>
            </a:pPr>
            <a:endParaRPr lang="fr-CA" dirty="0"/>
          </a:p>
          <a:p>
            <a:pPr marL="0" indent="0">
              <a:buFont typeface="Arial" charset="0"/>
              <a:buNone/>
              <a:defRPr/>
            </a:pPr>
            <a:r>
              <a:rPr lang="fr-CA" b="1" u="sng" dirty="0"/>
              <a:t> </a:t>
            </a:r>
            <a:r>
              <a:rPr lang="fr-CA" b="1" u="sng" dirty="0" err="1"/>
              <a:t>Partcipants</a:t>
            </a:r>
            <a:r>
              <a:rPr lang="fr-CA" b="1" u="sng" dirty="0"/>
              <a:t>: </a:t>
            </a:r>
          </a:p>
          <a:p>
            <a:pPr marL="0" indent="0">
              <a:buFont typeface="Arial" charset="0"/>
              <a:buNone/>
              <a:defRPr/>
            </a:pPr>
            <a:r>
              <a:rPr lang="fr-CA" dirty="0"/>
              <a:t>Product </a:t>
            </a:r>
            <a:r>
              <a:rPr lang="fr-CA" dirty="0" err="1"/>
              <a:t>owner</a:t>
            </a:r>
            <a:r>
              <a:rPr lang="fr-CA" dirty="0"/>
              <a:t> – </a:t>
            </a:r>
            <a:r>
              <a:rPr lang="fr-CA" dirty="0" err="1"/>
              <a:t>scrum</a:t>
            </a:r>
            <a:r>
              <a:rPr lang="fr-CA" dirty="0"/>
              <a:t> master- </a:t>
            </a:r>
            <a:r>
              <a:rPr lang="fr-CA" dirty="0" err="1"/>
              <a:t>developpeurs</a:t>
            </a:r>
            <a:endParaRPr lang="fr-CA" dirty="0"/>
          </a:p>
          <a:p>
            <a:pPr marL="0" indent="0">
              <a:buFont typeface="Arial" charset="0"/>
              <a:buNone/>
              <a:defRPr/>
            </a:pPr>
            <a:endParaRPr lang="fr-CA" dirty="0"/>
          </a:p>
          <a:p>
            <a:pPr marL="0" indent="0">
              <a:buFont typeface="Arial" charset="0"/>
              <a:buNone/>
              <a:defRPr/>
            </a:pPr>
            <a:endParaRPr lang="fr-CA" dirty="0"/>
          </a:p>
          <a:p>
            <a:pPr>
              <a:buFont typeface="Arial" charset="0"/>
              <a:buChar char="•"/>
              <a:defRPr/>
            </a:pPr>
            <a:endParaRPr lang="fr-CA" dirty="0"/>
          </a:p>
          <a:p>
            <a:pPr>
              <a:buFont typeface="Arial" charset="0"/>
              <a:buChar char="•"/>
              <a:defRPr/>
            </a:pPr>
            <a:endParaRPr lang="fr-FR" dirty="0"/>
          </a:p>
        </p:txBody>
      </p:sp>
      <p:sp>
        <p:nvSpPr>
          <p:cNvPr id="72708" name="Espace réservé du numéro de diapositive 3">
            <a:extLst>
              <a:ext uri="{FF2B5EF4-FFF2-40B4-BE49-F238E27FC236}">
                <a16:creationId xmlns:a16="http://schemas.microsoft.com/office/drawing/2014/main" xmlns="" id="{190FAFFC-2E16-CDD1-7770-65CF46E6C6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C4E2389-264D-47E0-BFAC-2E6F4FD02198}" type="slidenum">
              <a:rPr lang="fr-FR" altLang="fr-FR" sz="1400">
                <a:solidFill>
                  <a:srgbClr val="FFFFFF"/>
                </a:solidFill>
              </a:rPr>
              <a:pPr>
                <a:spcBef>
                  <a:spcPct val="0"/>
                </a:spcBef>
                <a:buClrTx/>
                <a:buSzTx/>
                <a:buFontTx/>
                <a:buNone/>
              </a:pPr>
              <a:t>80</a:t>
            </a:fld>
            <a:endParaRPr lang="fr-FR" altLang="fr-FR" sz="1400">
              <a:solidFill>
                <a:srgbClr val="FFFFFF"/>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6D0FE1-816F-CDB3-2581-73EFE4B2EE8E}"/>
              </a:ext>
            </a:extLst>
          </p:cNvPr>
          <p:cNvSpPr>
            <a:spLocks noGrp="1"/>
          </p:cNvSpPr>
          <p:nvPr>
            <p:ph type="title"/>
          </p:nvPr>
        </p:nvSpPr>
        <p:spPr/>
        <p:txBody>
          <a:bodyPr/>
          <a:lstStyle/>
          <a:p>
            <a:pPr>
              <a:defRPr/>
            </a:pPr>
            <a:endParaRPr lang="fr-FR"/>
          </a:p>
        </p:txBody>
      </p:sp>
      <p:sp>
        <p:nvSpPr>
          <p:cNvPr id="54275" name="Espace réservé du contenu 2">
            <a:extLst>
              <a:ext uri="{FF2B5EF4-FFF2-40B4-BE49-F238E27FC236}">
                <a16:creationId xmlns:a16="http://schemas.microsoft.com/office/drawing/2014/main" xmlns="" id="{C1486269-3AEF-3C75-5359-753EB24BD108}"/>
              </a:ext>
            </a:extLst>
          </p:cNvPr>
          <p:cNvSpPr>
            <a:spLocks noGrp="1"/>
          </p:cNvSpPr>
          <p:nvPr>
            <p:ph idx="1"/>
          </p:nvPr>
        </p:nvSpPr>
        <p:spPr/>
        <p:txBody>
          <a:bodyPr/>
          <a:lstStyle/>
          <a:p>
            <a:pPr>
              <a:buFont typeface="Arial" charset="0"/>
              <a:buChar char="•"/>
              <a:defRPr/>
            </a:pPr>
            <a:r>
              <a:rPr lang="fr-CA" dirty="0"/>
              <a:t>4-Sprint </a:t>
            </a:r>
            <a:r>
              <a:rPr lang="fr-CA" dirty="0" err="1"/>
              <a:t>Retrospective</a:t>
            </a:r>
            <a:endParaRPr lang="fr-CA" dirty="0"/>
          </a:p>
          <a:p>
            <a:pPr>
              <a:buFont typeface="Arial" charset="0"/>
              <a:buChar char="•"/>
              <a:defRPr/>
            </a:pPr>
            <a:endParaRPr lang="fr-CA" dirty="0"/>
          </a:p>
          <a:p>
            <a:pPr>
              <a:buFont typeface="Arial" charset="0"/>
              <a:buChar char="•"/>
              <a:defRPr/>
            </a:pPr>
            <a:r>
              <a:rPr lang="fr-CA" b="1" u="sng" dirty="0"/>
              <a:t>Objectif: </a:t>
            </a:r>
          </a:p>
          <a:p>
            <a:pPr>
              <a:buFont typeface="Arial" charset="0"/>
              <a:buChar char="•"/>
              <a:defRPr/>
            </a:pPr>
            <a:endParaRPr lang="fr-CA" dirty="0"/>
          </a:p>
          <a:p>
            <a:pPr>
              <a:buFont typeface="Arial" charset="0"/>
              <a:buChar char="•"/>
              <a:defRPr/>
            </a:pPr>
            <a:r>
              <a:rPr lang="fr-CA" dirty="0"/>
              <a:t>Discuter les pratiques utilisées (amélioration continue)</a:t>
            </a:r>
          </a:p>
          <a:p>
            <a:pPr>
              <a:buFont typeface="Arial" charset="0"/>
              <a:buChar char="•"/>
              <a:defRPr/>
            </a:pPr>
            <a:endParaRPr lang="fr-CA" dirty="0"/>
          </a:p>
          <a:p>
            <a:pPr marL="0" indent="0">
              <a:buFont typeface="Arial" charset="0"/>
              <a:buNone/>
              <a:defRPr/>
            </a:pPr>
            <a:r>
              <a:rPr lang="fr-CA" b="1" u="sng" dirty="0"/>
              <a:t> </a:t>
            </a:r>
            <a:r>
              <a:rPr lang="fr-CA" b="1" u="sng" dirty="0" err="1"/>
              <a:t>Partcipants</a:t>
            </a:r>
            <a:r>
              <a:rPr lang="fr-CA" b="1" u="sng" dirty="0"/>
              <a:t>: </a:t>
            </a:r>
          </a:p>
          <a:p>
            <a:pPr marL="0" indent="0">
              <a:buFont typeface="Arial" charset="0"/>
              <a:buNone/>
              <a:defRPr/>
            </a:pPr>
            <a:r>
              <a:rPr lang="fr-CA" dirty="0" err="1"/>
              <a:t>scrum</a:t>
            </a:r>
            <a:r>
              <a:rPr lang="fr-CA" dirty="0"/>
              <a:t> master- </a:t>
            </a:r>
            <a:r>
              <a:rPr lang="fr-CA" dirty="0" err="1"/>
              <a:t>developpeurs</a:t>
            </a:r>
            <a:endParaRPr lang="fr-CA" dirty="0"/>
          </a:p>
          <a:p>
            <a:pPr marL="0" indent="0">
              <a:buFont typeface="Arial" charset="0"/>
              <a:buNone/>
              <a:defRPr/>
            </a:pPr>
            <a:endParaRPr lang="fr-CA" dirty="0"/>
          </a:p>
        </p:txBody>
      </p:sp>
      <p:sp>
        <p:nvSpPr>
          <p:cNvPr id="73732" name="Espace réservé du numéro de diapositive 3">
            <a:extLst>
              <a:ext uri="{FF2B5EF4-FFF2-40B4-BE49-F238E27FC236}">
                <a16:creationId xmlns:a16="http://schemas.microsoft.com/office/drawing/2014/main" xmlns="" id="{E98B93C3-1980-4AE7-FFB8-03AFE971345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A938647-6992-4907-9DBC-2160636814E1}" type="slidenum">
              <a:rPr lang="fr-FR" altLang="fr-FR" sz="1400">
                <a:solidFill>
                  <a:srgbClr val="FFFFFF"/>
                </a:solidFill>
              </a:rPr>
              <a:pPr>
                <a:spcBef>
                  <a:spcPct val="0"/>
                </a:spcBef>
                <a:buClrTx/>
                <a:buSzTx/>
                <a:buFontTx/>
                <a:buNone/>
              </a:pPr>
              <a:t>81</a:t>
            </a:fld>
            <a:endParaRPr lang="fr-FR" altLang="fr-FR" sz="1400">
              <a:solidFill>
                <a:srgbClr val="FFFFFF"/>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a16="http://schemas.microsoft.com/office/drawing/2014/main" xmlns=""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a16="http://schemas.microsoft.com/office/drawing/2014/main" xmlns=""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82</a:t>
            </a:fld>
            <a:endParaRPr lang="fr-FR" altLang="fr-FR" sz="1400">
              <a:solidFill>
                <a:srgbClr val="FFFFFF"/>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0D3E46A-B836-708F-6C37-21C4E671BB37}"/>
              </a:ext>
            </a:extLst>
          </p:cNvPr>
          <p:cNvSpPr>
            <a:spLocks noGrp="1"/>
          </p:cNvSpPr>
          <p:nvPr>
            <p:ph type="title"/>
          </p:nvPr>
        </p:nvSpPr>
        <p:spPr/>
        <p:txBody>
          <a:bodyPr/>
          <a:lstStyle/>
          <a:p>
            <a:pPr>
              <a:defRPr/>
            </a:pPr>
            <a:endParaRPr lang="fr-FR"/>
          </a:p>
        </p:txBody>
      </p:sp>
      <p:sp>
        <p:nvSpPr>
          <p:cNvPr id="75779" name="Espace réservé du numéro de diapositive 3">
            <a:extLst>
              <a:ext uri="{FF2B5EF4-FFF2-40B4-BE49-F238E27FC236}">
                <a16:creationId xmlns:a16="http://schemas.microsoft.com/office/drawing/2014/main" xmlns="" id="{465CBA47-BB9F-6A23-6E35-E59C9BC8483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9CE7B9D-401F-49A1-9093-258D318C9A95}" type="slidenum">
              <a:rPr lang="fr-FR" altLang="fr-FR" sz="1400">
                <a:solidFill>
                  <a:srgbClr val="FFFFFF"/>
                </a:solidFill>
              </a:rPr>
              <a:pPr>
                <a:spcBef>
                  <a:spcPct val="0"/>
                </a:spcBef>
                <a:buClrTx/>
                <a:buSzTx/>
                <a:buFontTx/>
                <a:buNone/>
              </a:pPr>
              <a:t>83</a:t>
            </a:fld>
            <a:endParaRPr lang="fr-FR" altLang="fr-FR" sz="1400">
              <a:solidFill>
                <a:srgbClr val="FFFFFF"/>
              </a:solidFill>
            </a:endParaRPr>
          </a:p>
        </p:txBody>
      </p:sp>
      <p:pic>
        <p:nvPicPr>
          <p:cNvPr id="75780" name="Picture 2">
            <a:extLst>
              <a:ext uri="{FF2B5EF4-FFF2-40B4-BE49-F238E27FC236}">
                <a16:creationId xmlns:a16="http://schemas.microsoft.com/office/drawing/2014/main" xmlns="" id="{C2E5EE50-B46C-EEC0-18DA-B29034F4D3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1628775"/>
            <a:ext cx="4100512" cy="4822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a:extLst>
              <a:ext uri="{FF2B5EF4-FFF2-40B4-BE49-F238E27FC236}">
                <a16:creationId xmlns:a16="http://schemas.microsoft.com/office/drawing/2014/main" xmlns="" id="{CA915126-2D5F-CE8C-2A79-33075C9BC385}"/>
              </a:ext>
            </a:extLst>
          </p:cNvPr>
          <p:cNvSpPr/>
          <p:nvPr/>
        </p:nvSpPr>
        <p:spPr>
          <a:xfrm>
            <a:off x="5143500" y="3933825"/>
            <a:ext cx="2524125" cy="3587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Nom du projet</a:t>
            </a:r>
            <a:endParaRPr lang="fr-FR"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30E8A07-7BB9-1EC5-799A-E89CB0D4F650}"/>
              </a:ext>
            </a:extLst>
          </p:cNvPr>
          <p:cNvSpPr>
            <a:spLocks noGrp="1"/>
          </p:cNvSpPr>
          <p:nvPr>
            <p:ph type="title"/>
          </p:nvPr>
        </p:nvSpPr>
        <p:spPr/>
        <p:txBody>
          <a:bodyPr/>
          <a:lstStyle/>
          <a:p>
            <a:pPr>
              <a:defRPr/>
            </a:pPr>
            <a:endParaRPr lang="fr-FR"/>
          </a:p>
        </p:txBody>
      </p:sp>
      <p:sp>
        <p:nvSpPr>
          <p:cNvPr id="76803" name="Espace réservé du numéro de diapositive 3">
            <a:extLst>
              <a:ext uri="{FF2B5EF4-FFF2-40B4-BE49-F238E27FC236}">
                <a16:creationId xmlns:a16="http://schemas.microsoft.com/office/drawing/2014/main" xmlns="" id="{FA2B065F-2E32-C9CA-E00A-4C822C6799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07D2CF7-0F12-4B4B-8562-03C1BA364A9D}" type="slidenum">
              <a:rPr lang="fr-FR" altLang="fr-FR" sz="1400">
                <a:solidFill>
                  <a:srgbClr val="FFFFFF"/>
                </a:solidFill>
              </a:rPr>
              <a:pPr>
                <a:spcBef>
                  <a:spcPct val="0"/>
                </a:spcBef>
                <a:buClrTx/>
                <a:buSzTx/>
                <a:buFontTx/>
                <a:buNone/>
              </a:pPr>
              <a:t>84</a:t>
            </a:fld>
            <a:endParaRPr lang="fr-FR" altLang="fr-FR" sz="1400">
              <a:solidFill>
                <a:srgbClr val="FFFFFF"/>
              </a:solidFill>
            </a:endParaRPr>
          </a:p>
        </p:txBody>
      </p:sp>
      <p:pic>
        <p:nvPicPr>
          <p:cNvPr id="76804" name="Picture 2">
            <a:extLst>
              <a:ext uri="{FF2B5EF4-FFF2-40B4-BE49-F238E27FC236}">
                <a16:creationId xmlns:a16="http://schemas.microsoft.com/office/drawing/2014/main" xmlns="" id="{546AB44C-3175-D608-1994-4F1B4090B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1700213"/>
            <a:ext cx="7905750" cy="4830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4D2C14D-3A87-1390-8FF9-3396F08A2B0E}"/>
              </a:ext>
            </a:extLst>
          </p:cNvPr>
          <p:cNvSpPr>
            <a:spLocks noGrp="1"/>
          </p:cNvSpPr>
          <p:nvPr>
            <p:ph type="title"/>
          </p:nvPr>
        </p:nvSpPr>
        <p:spPr/>
        <p:txBody>
          <a:bodyPr/>
          <a:lstStyle/>
          <a:p>
            <a:pPr>
              <a:defRPr/>
            </a:pPr>
            <a:endParaRPr lang="fr-FR"/>
          </a:p>
        </p:txBody>
      </p:sp>
      <p:sp>
        <p:nvSpPr>
          <p:cNvPr id="77827" name="Espace réservé du numéro de diapositive 3">
            <a:extLst>
              <a:ext uri="{FF2B5EF4-FFF2-40B4-BE49-F238E27FC236}">
                <a16:creationId xmlns:a16="http://schemas.microsoft.com/office/drawing/2014/main" xmlns="" id="{2ECBFEE2-3C11-E024-40BA-C0FBFAF9393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445CE76-B2DB-4B5A-8627-D0C0804CCED4}" type="slidenum">
              <a:rPr lang="fr-FR" altLang="fr-FR" sz="1400">
                <a:solidFill>
                  <a:srgbClr val="FFFFFF"/>
                </a:solidFill>
              </a:rPr>
              <a:pPr>
                <a:spcBef>
                  <a:spcPct val="0"/>
                </a:spcBef>
                <a:buClrTx/>
                <a:buSzTx/>
                <a:buFontTx/>
                <a:buNone/>
              </a:pPr>
              <a:t>85</a:t>
            </a:fld>
            <a:endParaRPr lang="fr-FR" altLang="fr-FR" sz="1400">
              <a:solidFill>
                <a:srgbClr val="FFFFFF"/>
              </a:solidFill>
            </a:endParaRPr>
          </a:p>
        </p:txBody>
      </p:sp>
      <p:pic>
        <p:nvPicPr>
          <p:cNvPr id="77828" name="Picture 2">
            <a:extLst>
              <a:ext uri="{FF2B5EF4-FFF2-40B4-BE49-F238E27FC236}">
                <a16:creationId xmlns:a16="http://schemas.microsoft.com/office/drawing/2014/main" xmlns="" id="{CC5F8803-548F-54B5-68BE-B69CF8D38AB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1188" y="1844675"/>
            <a:ext cx="7524750" cy="3522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BD88D63-A06E-235C-31D5-68E484FC79F7}"/>
              </a:ext>
            </a:extLst>
          </p:cNvPr>
          <p:cNvSpPr>
            <a:spLocks noGrp="1"/>
          </p:cNvSpPr>
          <p:nvPr>
            <p:ph type="title"/>
          </p:nvPr>
        </p:nvSpPr>
        <p:spPr/>
        <p:txBody>
          <a:bodyPr/>
          <a:lstStyle/>
          <a:p>
            <a:pPr>
              <a:defRPr/>
            </a:pPr>
            <a:r>
              <a:rPr lang="fr-CA" dirty="0"/>
              <a:t>Créer </a:t>
            </a:r>
            <a:r>
              <a:rPr lang="fr-CA" dirty="0" err="1"/>
              <a:t>epic</a:t>
            </a:r>
            <a:endParaRPr lang="fr-FR" dirty="0"/>
          </a:p>
        </p:txBody>
      </p:sp>
      <p:sp>
        <p:nvSpPr>
          <p:cNvPr id="78851" name="Espace réservé du numéro de diapositive 3">
            <a:extLst>
              <a:ext uri="{FF2B5EF4-FFF2-40B4-BE49-F238E27FC236}">
                <a16:creationId xmlns:a16="http://schemas.microsoft.com/office/drawing/2014/main" xmlns="" id="{7474A2A9-87C2-15DD-21B0-788D2987CC1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64D3072-FF7E-47F8-847E-726662C5386F}"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78852" name="Picture 3">
            <a:extLst>
              <a:ext uri="{FF2B5EF4-FFF2-40B4-BE49-F238E27FC236}">
                <a16:creationId xmlns:a16="http://schemas.microsoft.com/office/drawing/2014/main" xmlns="" id="{7A8F150A-E48D-D6E5-0E09-11BA933BDB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1628775"/>
            <a:ext cx="8101012" cy="4230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978D539-6363-1670-7EE7-A24A7A15BCA8}"/>
              </a:ext>
            </a:extLst>
          </p:cNvPr>
          <p:cNvSpPr>
            <a:spLocks noGrp="1"/>
          </p:cNvSpPr>
          <p:nvPr>
            <p:ph type="title"/>
          </p:nvPr>
        </p:nvSpPr>
        <p:spPr/>
        <p:txBody>
          <a:bodyPr/>
          <a:lstStyle/>
          <a:p>
            <a:pPr>
              <a:defRPr/>
            </a:pPr>
            <a:r>
              <a:rPr lang="fr-CA" dirty="0"/>
              <a:t>Créer story</a:t>
            </a:r>
            <a:endParaRPr lang="fr-FR" dirty="0"/>
          </a:p>
        </p:txBody>
      </p:sp>
      <p:sp>
        <p:nvSpPr>
          <p:cNvPr id="79875" name="Espace réservé du numéro de diapositive 3">
            <a:extLst>
              <a:ext uri="{FF2B5EF4-FFF2-40B4-BE49-F238E27FC236}">
                <a16:creationId xmlns:a16="http://schemas.microsoft.com/office/drawing/2014/main" xmlns="" id="{4D51E90A-D5BE-3CE2-1CB1-EC492E76C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7E2B8C-86D9-4EA6-96A3-03F330E3286B}" type="slidenum">
              <a:rPr lang="fr-FR" altLang="fr-FR" sz="1400">
                <a:solidFill>
                  <a:srgbClr val="FFFFFF"/>
                </a:solidFill>
              </a:rPr>
              <a:pPr>
                <a:spcBef>
                  <a:spcPct val="0"/>
                </a:spcBef>
                <a:buClrTx/>
                <a:buSzTx/>
                <a:buFontTx/>
                <a:buNone/>
              </a:pPr>
              <a:t>87</a:t>
            </a:fld>
            <a:endParaRPr lang="fr-FR" altLang="fr-FR" sz="1400">
              <a:solidFill>
                <a:srgbClr val="FFFFFF"/>
              </a:solidFill>
            </a:endParaRPr>
          </a:p>
        </p:txBody>
      </p:sp>
      <p:pic>
        <p:nvPicPr>
          <p:cNvPr id="79876" name="Picture 2">
            <a:extLst>
              <a:ext uri="{FF2B5EF4-FFF2-40B4-BE49-F238E27FC236}">
                <a16:creationId xmlns:a16="http://schemas.microsoft.com/office/drawing/2014/main" xmlns="" id="{28D7EB57-AFEC-E780-BDF7-00669539D0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1989138"/>
            <a:ext cx="7092950" cy="370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45F373-59F7-E4A0-3F4F-02350180BFBA}"/>
              </a:ext>
            </a:extLst>
          </p:cNvPr>
          <p:cNvSpPr>
            <a:spLocks noGrp="1"/>
          </p:cNvSpPr>
          <p:nvPr>
            <p:ph type="title"/>
          </p:nvPr>
        </p:nvSpPr>
        <p:spPr/>
        <p:txBody>
          <a:bodyPr/>
          <a:lstStyle/>
          <a:p>
            <a:pPr>
              <a:defRPr/>
            </a:pPr>
            <a:r>
              <a:rPr lang="fr-CA" dirty="0"/>
              <a:t>Démarrer le Sprint</a:t>
            </a:r>
            <a:endParaRPr lang="fr-FR" dirty="0"/>
          </a:p>
        </p:txBody>
      </p:sp>
      <p:sp>
        <p:nvSpPr>
          <p:cNvPr id="80899" name="Espace réservé du numéro de diapositive 3">
            <a:extLst>
              <a:ext uri="{FF2B5EF4-FFF2-40B4-BE49-F238E27FC236}">
                <a16:creationId xmlns:a16="http://schemas.microsoft.com/office/drawing/2014/main" xmlns="" id="{30B985F6-B052-8569-8CE1-DB829A0D9DC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A013977-2A67-431D-AED8-80CAD2A8B31A}" type="slidenum">
              <a:rPr lang="fr-FR" altLang="fr-FR" sz="1400">
                <a:solidFill>
                  <a:srgbClr val="FFFFFF"/>
                </a:solidFill>
              </a:rPr>
              <a:pPr>
                <a:spcBef>
                  <a:spcPct val="0"/>
                </a:spcBef>
                <a:buClrTx/>
                <a:buSzTx/>
                <a:buFontTx/>
                <a:buNone/>
              </a:pPr>
              <a:t>88</a:t>
            </a:fld>
            <a:endParaRPr lang="fr-FR" altLang="fr-FR" sz="1400">
              <a:solidFill>
                <a:srgbClr val="FFFFFF"/>
              </a:solidFill>
            </a:endParaRPr>
          </a:p>
        </p:txBody>
      </p:sp>
      <p:pic>
        <p:nvPicPr>
          <p:cNvPr id="80900" name="Picture 2">
            <a:extLst>
              <a:ext uri="{FF2B5EF4-FFF2-40B4-BE49-F238E27FC236}">
                <a16:creationId xmlns:a16="http://schemas.microsoft.com/office/drawing/2014/main" xmlns="" id="{578A46F2-BC94-8D42-29E4-9B70AC27BF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5513" y="2009775"/>
            <a:ext cx="4321175" cy="432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F03D974-898E-509A-59F3-B4EE7C428E63}"/>
              </a:ext>
            </a:extLst>
          </p:cNvPr>
          <p:cNvSpPr>
            <a:spLocks noGrp="1"/>
          </p:cNvSpPr>
          <p:nvPr>
            <p:ph type="title"/>
          </p:nvPr>
        </p:nvSpPr>
        <p:spPr/>
        <p:txBody>
          <a:bodyPr/>
          <a:lstStyle/>
          <a:p>
            <a:pPr>
              <a:defRPr/>
            </a:pPr>
            <a:r>
              <a:rPr lang="fr-CA" dirty="0"/>
              <a:t>Tableau du Sprint</a:t>
            </a:r>
            <a:endParaRPr lang="fr-FR" dirty="0"/>
          </a:p>
        </p:txBody>
      </p:sp>
      <p:sp>
        <p:nvSpPr>
          <p:cNvPr id="81923" name="Espace réservé du numéro de diapositive 3">
            <a:extLst>
              <a:ext uri="{FF2B5EF4-FFF2-40B4-BE49-F238E27FC236}">
                <a16:creationId xmlns:a16="http://schemas.microsoft.com/office/drawing/2014/main" xmlns="" id="{2555AEAE-C35B-AF7D-B828-92A96CE4B24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7211213-9EE4-4BFE-9323-61C7D09DC5DF}" type="slidenum">
              <a:rPr lang="fr-FR" altLang="fr-FR" sz="1400">
                <a:solidFill>
                  <a:srgbClr val="FFFFFF"/>
                </a:solidFill>
              </a:rPr>
              <a:pPr>
                <a:spcBef>
                  <a:spcPct val="0"/>
                </a:spcBef>
                <a:buClrTx/>
                <a:buSzTx/>
                <a:buFontTx/>
                <a:buNone/>
              </a:pPr>
              <a:t>89</a:t>
            </a:fld>
            <a:endParaRPr lang="fr-FR" altLang="fr-FR" sz="1400">
              <a:solidFill>
                <a:srgbClr val="FFFFFF"/>
              </a:solidFill>
            </a:endParaRPr>
          </a:p>
        </p:txBody>
      </p:sp>
      <p:pic>
        <p:nvPicPr>
          <p:cNvPr id="81924" name="Picture 2">
            <a:extLst>
              <a:ext uri="{FF2B5EF4-FFF2-40B4-BE49-F238E27FC236}">
                <a16:creationId xmlns:a16="http://schemas.microsoft.com/office/drawing/2014/main" xmlns="" id="{3E029BB8-90E1-DD97-C5C2-0DE7EF5397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0138" y="2060575"/>
            <a:ext cx="6991350" cy="3438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0C1EAFB-A2BD-FF3D-D270-69C78C498413}"/>
              </a:ext>
            </a:extLst>
          </p:cNvPr>
          <p:cNvSpPr>
            <a:spLocks noGrp="1"/>
          </p:cNvSpPr>
          <p:nvPr>
            <p:ph type="title"/>
          </p:nvPr>
        </p:nvSpPr>
        <p:spPr/>
        <p:txBody>
          <a:bodyPr/>
          <a:lstStyle/>
          <a:p>
            <a:pPr>
              <a:defRPr/>
            </a:pPr>
            <a:endParaRPr lang="fr-FR"/>
          </a:p>
        </p:txBody>
      </p:sp>
      <p:sp>
        <p:nvSpPr>
          <p:cNvPr id="82947" name="Espace réservé du contenu 2">
            <a:extLst>
              <a:ext uri="{FF2B5EF4-FFF2-40B4-BE49-F238E27FC236}">
                <a16:creationId xmlns:a16="http://schemas.microsoft.com/office/drawing/2014/main" xmlns="" id="{20B87ECB-80C2-011A-C97B-BDE9F523ADAF}"/>
              </a:ext>
            </a:extLst>
          </p:cNvPr>
          <p:cNvSpPr>
            <a:spLocks noGrp="1"/>
          </p:cNvSpPr>
          <p:nvPr>
            <p:ph idx="1"/>
          </p:nvPr>
        </p:nvSpPr>
        <p:spPr/>
        <p:txBody>
          <a:bodyPr/>
          <a:lstStyle/>
          <a:p>
            <a:r>
              <a:rPr lang="fr-FR" altLang="fr-FR" dirty="0">
                <a:hlinkClick r:id="rId2"/>
              </a:rPr>
              <a:t>https://www.youtube.com/watch?v=P_8Zav29rJs</a:t>
            </a:r>
            <a:endParaRPr lang="fr-FR" altLang="fr-FR" dirty="0"/>
          </a:p>
          <a:p>
            <a:endParaRPr lang="fr-FR" altLang="fr-FR" dirty="0"/>
          </a:p>
          <a:p>
            <a:endParaRPr lang="fr-FR" altLang="fr-FR" dirty="0"/>
          </a:p>
          <a:p>
            <a:endParaRPr lang="fr-FR" altLang="fr-FR" dirty="0"/>
          </a:p>
          <a:p>
            <a:endParaRPr lang="fr-FR" altLang="fr-FR" dirty="0"/>
          </a:p>
          <a:p>
            <a:r>
              <a:rPr lang="fr-FR" altLang="fr-FR" dirty="0"/>
              <a:t>https://www.youtube.com/watch?v=zTuH1pGzEGY</a:t>
            </a:r>
          </a:p>
        </p:txBody>
      </p:sp>
      <p:sp>
        <p:nvSpPr>
          <p:cNvPr id="82948" name="Espace réservé du numéro de diapositive 3">
            <a:extLst>
              <a:ext uri="{FF2B5EF4-FFF2-40B4-BE49-F238E27FC236}">
                <a16:creationId xmlns:a16="http://schemas.microsoft.com/office/drawing/2014/main" xmlns="" id="{FC495897-B738-5F3E-71A9-67483CAED8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A92272B-5F66-4297-9F46-1CDF565CF94F}" type="slidenum">
              <a:rPr lang="fr-FR" altLang="fr-FR" sz="1400">
                <a:solidFill>
                  <a:srgbClr val="FFFFFF"/>
                </a:solidFill>
              </a:rPr>
              <a:pPr>
                <a:spcBef>
                  <a:spcPct val="0"/>
                </a:spcBef>
                <a:buClrTx/>
                <a:buSzTx/>
                <a:buFontTx/>
                <a:buNone/>
              </a:pPr>
              <a:t>90</a:t>
            </a:fld>
            <a:endParaRPr lang="fr-FR" altLang="fr-FR" sz="1400">
              <a:solidFill>
                <a:srgbClr val="FFFFFF"/>
              </a:solidFil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a16="http://schemas.microsoft.com/office/drawing/2014/main" xmlns=""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91</a:t>
            </a:fld>
            <a:endParaRPr lang="fr-FR" altLang="fr-FR" sz="1400">
              <a:solidFill>
                <a:srgbClr val="FFFFFF"/>
              </a:solidFill>
            </a:endParaRPr>
          </a:p>
        </p:txBody>
      </p:sp>
      <p:pic>
        <p:nvPicPr>
          <p:cNvPr id="83972" name="Picture 2">
            <a:extLst>
              <a:ext uri="{FF2B5EF4-FFF2-40B4-BE49-F238E27FC236}">
                <a16:creationId xmlns:a16="http://schemas.microsoft.com/office/drawing/2014/main" xmlns=""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a16="http://schemas.microsoft.com/office/drawing/2014/main" xmlns=""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a16="http://schemas.microsoft.com/office/drawing/2014/main" xmlns=""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pic>
        <p:nvPicPr>
          <p:cNvPr id="84996" name="Picture 2">
            <a:extLst>
              <a:ext uri="{FF2B5EF4-FFF2-40B4-BE49-F238E27FC236}">
                <a16:creationId xmlns:a16="http://schemas.microsoft.com/office/drawing/2014/main" xmlns=""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a16="http://schemas.microsoft.com/office/drawing/2014/main" xmlns=""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93</a:t>
            </a:fld>
            <a:endParaRPr lang="fr-FR" altLang="fr-FR" sz="1400">
              <a:solidFill>
                <a:srgbClr val="FFFFFF"/>
              </a:solidFill>
            </a:endParaRPr>
          </a:p>
        </p:txBody>
      </p:sp>
      <p:pic>
        <p:nvPicPr>
          <p:cNvPr id="86020" name="Picture 2">
            <a:extLst>
              <a:ext uri="{FF2B5EF4-FFF2-40B4-BE49-F238E27FC236}">
                <a16:creationId xmlns:a16="http://schemas.microsoft.com/office/drawing/2014/main" xmlns=""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a16="http://schemas.microsoft.com/office/drawing/2014/main" xmlns=""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94</a:t>
            </a:fld>
            <a:endParaRPr lang="fr-FR" altLang="fr-FR" sz="1400">
              <a:solidFill>
                <a:srgbClr val="FFFFFF"/>
              </a:solidFill>
            </a:endParaRPr>
          </a:p>
        </p:txBody>
      </p:sp>
      <p:pic>
        <p:nvPicPr>
          <p:cNvPr id="87044" name="Picture 3">
            <a:extLst>
              <a:ext uri="{FF2B5EF4-FFF2-40B4-BE49-F238E27FC236}">
                <a16:creationId xmlns:a16="http://schemas.microsoft.com/office/drawing/2014/main" xmlns=""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a16="http://schemas.microsoft.com/office/drawing/2014/main" xmlns=""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a16="http://schemas.microsoft.com/office/drawing/2014/main" xmlns=""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95</a:t>
            </a:fld>
            <a:endParaRPr lang="fr-FR" altLang="fr-FR" sz="1400">
              <a:solidFill>
                <a:srgbClr val="FFFFFF"/>
              </a:solidFil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a16="http://schemas.microsoft.com/office/drawing/2014/main" xmlns=""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a16="http://schemas.microsoft.com/office/drawing/2014/main" xmlns=""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96</a:t>
            </a:fld>
            <a:endParaRPr lang="fr-FR" altLang="fr-FR" sz="1400">
              <a:solidFill>
                <a:srgbClr val="FFFFFF"/>
              </a:solidFil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a16="http://schemas.microsoft.com/office/drawing/2014/main" xmlns=""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a16="http://schemas.microsoft.com/office/drawing/2014/main" xmlns=""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97</a:t>
            </a:fld>
            <a:endParaRPr lang="fr-FR" altLang="fr-FR" sz="1400">
              <a:solidFill>
                <a:srgbClr val="FFFFFF"/>
              </a:solidFil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a16="http://schemas.microsoft.com/office/drawing/2014/main" xmlns=""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a16="http://schemas.microsoft.com/office/drawing/2014/main" xmlns=""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98</a:t>
            </a:fld>
            <a:endParaRPr lang="fr-FR" altLang="fr-FR" sz="1400">
              <a:solidFill>
                <a:srgbClr val="FFFFFF"/>
              </a:solidFil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a16="http://schemas.microsoft.com/office/drawing/2014/main" xmlns=""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a16="http://schemas.microsoft.com/office/drawing/2014/main" xmlns=""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99</a:t>
            </a:fld>
            <a:endParaRPr lang="fr-FR" altLang="fr-FR" sz="1400">
              <a:solidFill>
                <a:srgbClr val="FFFFFF"/>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a16="http://schemas.microsoft.com/office/drawing/2014/main" xmlns=""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a16="http://schemas.microsoft.com/office/drawing/2014/main" xmlns=""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100</a:t>
            </a:fld>
            <a:endParaRPr lang="fr-FR" altLang="fr-FR" sz="1400">
              <a:solidFill>
                <a:srgbClr val="FFFFFF"/>
              </a:solidFil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a16="http://schemas.microsoft.com/office/drawing/2014/main" xmlns=""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101</a:t>
            </a:fld>
            <a:endParaRPr lang="fr-FR" altLang="fr-FR" sz="1400">
              <a:solidFill>
                <a:srgbClr val="FFFFFF"/>
              </a:solidFill>
            </a:endParaRPr>
          </a:p>
        </p:txBody>
      </p:sp>
      <p:pic>
        <p:nvPicPr>
          <p:cNvPr id="94212" name="Picture 2">
            <a:extLst>
              <a:ext uri="{FF2B5EF4-FFF2-40B4-BE49-F238E27FC236}">
                <a16:creationId xmlns:a16="http://schemas.microsoft.com/office/drawing/2014/main" xmlns=""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a16="http://schemas.microsoft.com/office/drawing/2014/main" xmlns=""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102</a:t>
            </a:fld>
            <a:endParaRPr lang="fr-FR" altLang="fr-FR" sz="1400">
              <a:solidFill>
                <a:srgbClr val="FFFFFF"/>
              </a:solidFill>
            </a:endParaRPr>
          </a:p>
        </p:txBody>
      </p:sp>
      <p:pic>
        <p:nvPicPr>
          <p:cNvPr id="95236" name="Picture 2">
            <a:extLst>
              <a:ext uri="{FF2B5EF4-FFF2-40B4-BE49-F238E27FC236}">
                <a16:creationId xmlns:a16="http://schemas.microsoft.com/office/drawing/2014/main" xmlns=""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a16="http://schemas.microsoft.com/office/drawing/2014/main" xmlns=""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103</a:t>
            </a:fld>
            <a:endParaRPr lang="fr-FR" altLang="fr-FR" sz="1400">
              <a:solidFill>
                <a:srgbClr val="FFFFFF"/>
              </a:solidFill>
            </a:endParaRPr>
          </a:p>
        </p:txBody>
      </p:sp>
      <p:pic>
        <p:nvPicPr>
          <p:cNvPr id="96260" name="Picture 2">
            <a:extLst>
              <a:ext uri="{FF2B5EF4-FFF2-40B4-BE49-F238E27FC236}">
                <a16:creationId xmlns:a16="http://schemas.microsoft.com/office/drawing/2014/main" xmlns=""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a16="http://schemas.microsoft.com/office/drawing/2014/main" xmlns=""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104</a:t>
            </a:fld>
            <a:endParaRPr lang="fr-FR" altLang="fr-FR" sz="1400">
              <a:solidFill>
                <a:srgbClr val="FFFFFF"/>
              </a:solidFill>
            </a:endParaRPr>
          </a:p>
        </p:txBody>
      </p:sp>
      <p:pic>
        <p:nvPicPr>
          <p:cNvPr id="97284" name="Picture 2">
            <a:extLst>
              <a:ext uri="{FF2B5EF4-FFF2-40B4-BE49-F238E27FC236}">
                <a16:creationId xmlns:a16="http://schemas.microsoft.com/office/drawing/2014/main" xmlns=""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a16="http://schemas.microsoft.com/office/drawing/2014/main" xmlns=""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105</a:t>
            </a:fld>
            <a:endParaRPr lang="fr-FR" altLang="fr-FR" sz="1400">
              <a:solidFill>
                <a:srgbClr val="FFFFFF"/>
              </a:solidFill>
            </a:endParaRPr>
          </a:p>
        </p:txBody>
      </p:sp>
      <p:pic>
        <p:nvPicPr>
          <p:cNvPr id="98308" name="Picture 2">
            <a:extLst>
              <a:ext uri="{FF2B5EF4-FFF2-40B4-BE49-F238E27FC236}">
                <a16:creationId xmlns:a16="http://schemas.microsoft.com/office/drawing/2014/main" xmlns=""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a16="http://schemas.microsoft.com/office/drawing/2014/main" xmlns=""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99332" name="Picture 2">
            <a:extLst>
              <a:ext uri="{FF2B5EF4-FFF2-40B4-BE49-F238E27FC236}">
                <a16:creationId xmlns:a16="http://schemas.microsoft.com/office/drawing/2014/main" xmlns=""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a16="http://schemas.microsoft.com/office/drawing/2014/main" xmlns=""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100356" name="Picture 2">
            <a:extLst>
              <a:ext uri="{FF2B5EF4-FFF2-40B4-BE49-F238E27FC236}">
                <a16:creationId xmlns:a16="http://schemas.microsoft.com/office/drawing/2014/main" xmlns=""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a16="http://schemas.microsoft.com/office/drawing/2014/main" xmlns=""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101380" name="Picture 2">
            <a:extLst>
              <a:ext uri="{FF2B5EF4-FFF2-40B4-BE49-F238E27FC236}">
                <a16:creationId xmlns:a16="http://schemas.microsoft.com/office/drawing/2014/main" xmlns=""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a16="http://schemas.microsoft.com/office/drawing/2014/main" xmlns=""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102404" name="Picture 2">
            <a:extLst>
              <a:ext uri="{FF2B5EF4-FFF2-40B4-BE49-F238E27FC236}">
                <a16:creationId xmlns:a16="http://schemas.microsoft.com/office/drawing/2014/main" xmlns=""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a16="http://schemas.microsoft.com/office/drawing/2014/main" xmlns=""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pic>
        <p:nvPicPr>
          <p:cNvPr id="103428" name="Picture 2">
            <a:extLst>
              <a:ext uri="{FF2B5EF4-FFF2-40B4-BE49-F238E27FC236}">
                <a16:creationId xmlns:a16="http://schemas.microsoft.com/office/drawing/2014/main" xmlns=""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a16="http://schemas.microsoft.com/office/drawing/2014/main" xmlns=""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pic>
        <p:nvPicPr>
          <p:cNvPr id="104452" name="Picture 2">
            <a:extLst>
              <a:ext uri="{FF2B5EF4-FFF2-40B4-BE49-F238E27FC236}">
                <a16:creationId xmlns:a16="http://schemas.microsoft.com/office/drawing/2014/main" xmlns=""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a16="http://schemas.microsoft.com/office/drawing/2014/main" xmlns=""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pic>
        <p:nvPicPr>
          <p:cNvPr id="105476" name="Picture 2">
            <a:extLst>
              <a:ext uri="{FF2B5EF4-FFF2-40B4-BE49-F238E27FC236}">
                <a16:creationId xmlns:a16="http://schemas.microsoft.com/office/drawing/2014/main" xmlns=""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a16="http://schemas.microsoft.com/office/drawing/2014/main" xmlns=""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pic>
        <p:nvPicPr>
          <p:cNvPr id="106500" name="Picture 2">
            <a:extLst>
              <a:ext uri="{FF2B5EF4-FFF2-40B4-BE49-F238E27FC236}">
                <a16:creationId xmlns:a16="http://schemas.microsoft.com/office/drawing/2014/main" xmlns=""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a16="http://schemas.microsoft.com/office/drawing/2014/main" xmlns=""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pic>
        <p:nvPicPr>
          <p:cNvPr id="107524" name="Picture 2">
            <a:extLst>
              <a:ext uri="{FF2B5EF4-FFF2-40B4-BE49-F238E27FC236}">
                <a16:creationId xmlns:a16="http://schemas.microsoft.com/office/drawing/2014/main" xmlns=""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a16="http://schemas.microsoft.com/office/drawing/2014/main" xmlns=""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pic>
        <p:nvPicPr>
          <p:cNvPr id="108548" name="Picture 2">
            <a:extLst>
              <a:ext uri="{FF2B5EF4-FFF2-40B4-BE49-F238E27FC236}">
                <a16:creationId xmlns:a16="http://schemas.microsoft.com/office/drawing/2014/main" xmlns=""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a16="http://schemas.microsoft.com/office/drawing/2014/main" xmlns=""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109572" name="Picture 2">
            <a:extLst>
              <a:ext uri="{FF2B5EF4-FFF2-40B4-BE49-F238E27FC236}">
                <a16:creationId xmlns:a16="http://schemas.microsoft.com/office/drawing/2014/main" xmlns=""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a16="http://schemas.microsoft.com/office/drawing/2014/main" xmlns=""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a16="http://schemas.microsoft.com/office/drawing/2014/main" xmlns=""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a16="http://schemas.microsoft.com/office/drawing/2014/main" xmlns=""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a16="http://schemas.microsoft.com/office/drawing/2014/main" xmlns=""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a16="http://schemas.microsoft.com/office/drawing/2014/main" xmlns=""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1" y="2864477"/>
            <a:ext cx="5544616" cy="293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a16="http://schemas.microsoft.com/office/drawing/2014/main" xmlns=""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a16="http://schemas.microsoft.com/office/drawing/2014/main" xmlns=""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a16="http://schemas.microsoft.com/office/drawing/2014/main" xmlns="" id="{3783E161-F4DE-F152-F430-3DEA05B2B678}"/>
              </a:ext>
            </a:extLst>
          </p:cNvPr>
          <p:cNvSpPr>
            <a:spLocks noGrp="1"/>
          </p:cNvSpPr>
          <p:nvPr>
            <p:ph idx="1"/>
          </p:nvPr>
        </p:nvSpPr>
        <p:spPr/>
        <p:txBody>
          <a:bodyPr/>
          <a:lstStyle/>
          <a:p>
            <a:r>
              <a:rPr lang="fr-FR" altLang="fr-FR" sz="1600"/>
              <a:t>6-afficher/récupérer une version d'un fichier (via idcommit) </a:t>
            </a:r>
          </a:p>
          <a:p>
            <a:endParaRPr lang="fr-FR" altLang="fr-FR" sz="1600"/>
          </a:p>
          <a:p>
            <a:r>
              <a:rPr lang="fr-FR" altLang="fr-FR" sz="1600"/>
              <a:t>git show ee0c89b9ecd352e8ed858fef297dc126575f3f38 groupes.txt       :afficher</a:t>
            </a:r>
          </a:p>
          <a:p>
            <a:endParaRPr lang="fr-FR" altLang="fr-FR" sz="1600"/>
          </a:p>
          <a:p>
            <a:r>
              <a:rPr lang="fr-FR" altLang="fr-FR" sz="1600"/>
              <a:t>git checkout ee0c89b9ecd352e8ed858fef297dc126575f3f38 groupes.txt   :récupérer</a:t>
            </a:r>
          </a:p>
          <a:p>
            <a:endParaRPr lang="fr-FR" altLang="fr-FR" sz="1600"/>
          </a:p>
          <a:p>
            <a:endParaRPr lang="fr-FR" altLang="fr-FR" sz="1600"/>
          </a:p>
          <a:p>
            <a:r>
              <a:rPr lang="fr-FR" altLang="fr-FR" sz="1600"/>
              <a:t>git checkout master   ( se positionner dans le branche master)</a:t>
            </a:r>
          </a:p>
          <a:p>
            <a:endParaRPr lang="fr-FR" altLang="fr-FR" sz="1600"/>
          </a:p>
          <a:p>
            <a:r>
              <a:rPr lang="fr-FR" altLang="fr-FR" sz="1600"/>
              <a:t>.gitignore ( contient les fichiers à ne pas tracker    exemple : *.txt : tous les fichiers txt)</a:t>
            </a:r>
          </a:p>
          <a:p>
            <a:endParaRPr lang="fr-FR" altLang="fr-FR" sz="1600"/>
          </a:p>
          <a:p>
            <a:endParaRPr lang="fr-FR" altLang="fr-FR" sz="1600"/>
          </a:p>
          <a:p>
            <a:r>
              <a:rPr lang="fr-FR" altLang="fr-FR" sz="1600"/>
              <a:t>git rm --cached nomfile</a:t>
            </a:r>
          </a:p>
        </p:txBody>
      </p:sp>
      <p:sp>
        <p:nvSpPr>
          <p:cNvPr id="113668" name="Espace réservé du numéro de diapositive 3">
            <a:extLst>
              <a:ext uri="{FF2B5EF4-FFF2-40B4-BE49-F238E27FC236}">
                <a16:creationId xmlns:a16="http://schemas.microsoft.com/office/drawing/2014/main" xmlns=""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a16="http://schemas.microsoft.com/office/drawing/2014/main" xmlns=""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a16="http://schemas.microsoft.com/office/drawing/2014/main" xmlns=""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a16="http://schemas.microsoft.com/office/drawing/2014/main" xmlns=""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a16="http://schemas.microsoft.com/office/drawing/2014/main" xmlns=""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a16="http://schemas.microsoft.com/office/drawing/2014/main" xmlns=""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a16="http://schemas.microsoft.com/office/drawing/2014/main" xmlns=""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a16="http://schemas.microsoft.com/office/drawing/2014/main" xmlns=""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a16="http://schemas.microsoft.com/office/drawing/2014/main" xmlns=""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124</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a16="http://schemas.microsoft.com/office/drawing/2014/main" xmlns=""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a16="http://schemas.microsoft.com/office/drawing/2014/main" xmlns=""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a16="http://schemas.microsoft.com/office/drawing/2014/main" xmlns=""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a16="http://schemas.microsoft.com/office/drawing/2014/main" xmlns=""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a16="http://schemas.microsoft.com/office/drawing/2014/main" xmlns=""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b="1" dirty="0" err="1"/>
              <a:t>DevOps</a:t>
            </a:r>
            <a:r>
              <a:rPr lang="fr-CA" sz="1800" dirty="0"/>
              <a:t> est une approche qui rapproche les équipes </a:t>
            </a:r>
            <a:r>
              <a:rPr lang="fr-CA" sz="1800" b="1" dirty="0"/>
              <a:t>développement (</a:t>
            </a:r>
            <a:r>
              <a:rPr lang="fr-CA" sz="1800" b="1" dirty="0" err="1"/>
              <a:t>Dev</a:t>
            </a:r>
            <a:r>
              <a:rPr lang="fr-CA" sz="1800" b="1" dirty="0"/>
              <a:t>)</a:t>
            </a:r>
            <a:r>
              <a:rPr lang="fr-CA" sz="1800" dirty="0"/>
              <a:t> et </a:t>
            </a:r>
            <a:r>
              <a:rPr lang="fr-CA" sz="1800" b="1" dirty="0"/>
              <a:t>opérations (</a:t>
            </a:r>
            <a:r>
              <a:rPr lang="fr-CA" sz="1800" b="1" dirty="0" err="1"/>
              <a:t>Ops</a:t>
            </a:r>
            <a:r>
              <a:rPr lang="fr-CA" sz="1800" b="1" dirty="0"/>
              <a:t>)</a:t>
            </a:r>
            <a:r>
              <a:rPr lang="fr-CA" sz="1800" dirty="0"/>
              <a:t> afin d’</a:t>
            </a:r>
            <a:r>
              <a:rPr lang="fr-CA" sz="1800" b="1" dirty="0"/>
              <a:t>automatiser</a:t>
            </a:r>
            <a:r>
              <a:rPr lang="fr-CA" sz="1800" dirty="0"/>
              <a:t>, </a:t>
            </a:r>
            <a:r>
              <a:rPr lang="fr-CA" sz="1800" b="1" dirty="0"/>
              <a:t>collaborer</a:t>
            </a:r>
            <a:r>
              <a:rPr lang="fr-CA" sz="1800" dirty="0"/>
              <a:t> et </a:t>
            </a:r>
            <a:r>
              <a:rPr lang="fr-CA" sz="1800" b="1" dirty="0"/>
              <a:t>livrer plus rapidement</a:t>
            </a:r>
            <a:r>
              <a:rPr lang="fr-CA" sz="1800" dirty="0"/>
              <a:t> des logiciels de qualité.</a:t>
            </a:r>
            <a:br>
              <a:rPr lang="fr-CA" sz="1800" dirty="0"/>
            </a:br>
            <a:r>
              <a:rPr lang="fr-CA" sz="1800" dirty="0"/>
              <a:t>Elle repose sur des outils et pratiques comme l’intégration continue (CI), le déploiement continu (CD), la surveillance, et l’automatisation.</a:t>
            </a:r>
            <a:endParaRPr lang="fr-FR" altLang="fr-FR" sz="18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37668B2E-FC7E-440F-2427-EE59C57DDB08}"/>
              </a:ext>
            </a:extLst>
          </p:cNvPr>
          <p:cNvSpPr>
            <a:spLocks noGrp="1"/>
          </p:cNvSpPr>
          <p:nvPr>
            <p:ph idx="1"/>
          </p:nvPr>
        </p:nvSpPr>
        <p:spPr/>
        <p:txBody>
          <a:bodyPr/>
          <a:lstStyle/>
          <a:p>
            <a:pPr>
              <a:buFont typeface="Arial" charset="0"/>
              <a:buChar char="•"/>
              <a:defRPr/>
            </a:pPr>
            <a:r>
              <a:rPr lang="fr-CA" dirty="0"/>
              <a:t>Les  pratiques </a:t>
            </a:r>
            <a:r>
              <a:rPr lang="fr-CA" dirty="0" err="1"/>
              <a:t>devops</a:t>
            </a:r>
            <a:r>
              <a:rPr lang="fr-CA" dirty="0"/>
              <a:t> permettent alors de développer, tester et livrer des applications plus </a:t>
            </a:r>
            <a:r>
              <a:rPr lang="fr-CA" b="1" dirty="0"/>
              <a:t>rapidement</a:t>
            </a:r>
            <a:r>
              <a:rPr lang="fr-CA" dirty="0"/>
              <a:t> et avec plus de </a:t>
            </a:r>
            <a:r>
              <a:rPr lang="fr-CA" b="1" dirty="0"/>
              <a:t>fiabilité.</a:t>
            </a:r>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a:t>.</a:t>
            </a:r>
          </a:p>
          <a:p>
            <a:pPr marL="0" indent="0">
              <a:buFont typeface="Arial" charset="0"/>
              <a:buNone/>
              <a:defRPr/>
            </a:pP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a16="http://schemas.microsoft.com/office/drawing/2014/main" xmlns=""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127</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128</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129</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a16="http://schemas.microsoft.com/office/drawing/2014/main" xmlns=""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24931" name="Picture 2">
            <a:extLst>
              <a:ext uri="{FF2B5EF4-FFF2-40B4-BE49-F238E27FC236}">
                <a16:creationId xmlns:a16="http://schemas.microsoft.com/office/drawing/2014/main" xmlns=""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a16="http://schemas.microsoft.com/office/drawing/2014/main" xmlns=""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a16="http://schemas.microsoft.com/office/drawing/2014/main" xmlns=""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25956" name="Picture 3">
            <a:extLst>
              <a:ext uri="{FF2B5EF4-FFF2-40B4-BE49-F238E27FC236}">
                <a16:creationId xmlns:a16="http://schemas.microsoft.com/office/drawing/2014/main" xmlns=""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a16="http://schemas.microsoft.com/office/drawing/2014/main" xmlns=""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a16="http://schemas.microsoft.com/office/drawing/2014/main" xmlns=""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a16="http://schemas.microsoft.com/office/drawing/2014/main" xmlns=""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a16="http://schemas.microsoft.com/office/drawing/2014/main" xmlns=""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a16="http://schemas.microsoft.com/office/drawing/2014/main" xmlns=""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a16="http://schemas.microsoft.com/office/drawing/2014/main" xmlns=""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a16="http://schemas.microsoft.com/office/drawing/2014/main" xmlns=""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134</a:t>
            </a:fld>
            <a:endParaRPr lang="fr-FR" altLang="fr-FR" sz="1400">
              <a:solidFill>
                <a:srgbClr val="FFFFFF"/>
              </a:solidFill>
            </a:endParaRPr>
          </a:p>
        </p:txBody>
      </p:sp>
      <p:pic>
        <p:nvPicPr>
          <p:cNvPr id="129028" name="Picture 2">
            <a:extLst>
              <a:ext uri="{FF2B5EF4-FFF2-40B4-BE49-F238E27FC236}">
                <a16:creationId xmlns:a16="http://schemas.microsoft.com/office/drawing/2014/main" xmlns=""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a16="http://schemas.microsoft.com/office/drawing/2014/main" xmlns=""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a16="http://schemas.microsoft.com/office/drawing/2014/main" xmlns=""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a16="http://schemas.microsoft.com/office/drawing/2014/main" xmlns=""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a16="http://schemas.microsoft.com/office/drawing/2014/main" xmlns=""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136</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a16="http://schemas.microsoft.com/office/drawing/2014/main" xmlns="" id="{A264A7D6-9F32-3AC7-6471-C1CB7E091847}"/>
              </a:ext>
            </a:extLst>
          </p:cNvPr>
          <p:cNvSpPr>
            <a:spLocks noGrp="1"/>
          </p:cNvSpPr>
          <p:nvPr>
            <p:ph idx="1"/>
          </p:nvPr>
        </p:nvSpPr>
        <p:spPr/>
        <p:txBody>
          <a:bodyPr/>
          <a:lstStyle/>
          <a:p>
            <a:r>
              <a:rPr lang="fr-FR" altLang="fr-FR"/>
              <a:t>https://www.youtube.com/watch?v=cERdbQ-GgOo</a:t>
            </a:r>
          </a:p>
        </p:txBody>
      </p:sp>
      <p:sp>
        <p:nvSpPr>
          <p:cNvPr id="131076" name="Espace réservé du numéro de diapositive 3">
            <a:extLst>
              <a:ext uri="{FF2B5EF4-FFF2-40B4-BE49-F238E27FC236}">
                <a16:creationId xmlns:a16="http://schemas.microsoft.com/office/drawing/2014/main" xmlns=""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139</a:t>
            </a:fld>
            <a:endParaRPr lang="fr-FR" altLang="fr-FR" sz="1400">
              <a:solidFill>
                <a:srgbClr val="FFFFFF"/>
              </a:solidFil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141</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144</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a16="http://schemas.microsoft.com/office/drawing/2014/main" xmlns=""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146</a:t>
            </a:fld>
            <a:endParaRPr lang="fr-FR" altLang="fr-FR" sz="1400">
              <a:solidFill>
                <a:srgbClr val="FFFFFF"/>
              </a:solidFill>
            </a:endParaRPr>
          </a:p>
        </p:txBody>
      </p:sp>
      <p:sp>
        <p:nvSpPr>
          <p:cNvPr id="132099" name="Rectangle 4">
            <a:extLst>
              <a:ext uri="{FF2B5EF4-FFF2-40B4-BE49-F238E27FC236}">
                <a16:creationId xmlns:a16="http://schemas.microsoft.com/office/drawing/2014/main" xmlns=""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a16="http://schemas.microsoft.com/office/drawing/2014/main" xmlns=""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a16="http://schemas.microsoft.com/office/drawing/2014/main" xmlns=""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a16="http://schemas.microsoft.com/office/drawing/2014/main" xmlns=""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147</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148</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149</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150</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a16="http://schemas.microsoft.com/office/drawing/2014/main" xmlns=""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a16="http://schemas.microsoft.com/office/drawing/2014/main" xmlns=""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151</a:t>
            </a:fld>
            <a:endParaRPr lang="fr-FR" altLang="fr-FR" sz="1400">
              <a:solidFill>
                <a:srgbClr val="FFFFFF"/>
              </a:solidFil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a16="http://schemas.microsoft.com/office/drawing/2014/main" xmlns=""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152</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a16="http://schemas.microsoft.com/office/drawing/2014/main" xmlns=""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a16="http://schemas.microsoft.com/office/drawing/2014/main" xmlns=""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a16="http://schemas.microsoft.com/office/drawing/2014/main" xmlns=""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40292" name="Picture 2">
            <a:extLst>
              <a:ext uri="{FF2B5EF4-FFF2-40B4-BE49-F238E27FC236}">
                <a16:creationId xmlns:a16="http://schemas.microsoft.com/office/drawing/2014/main" xmlns=""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a16="http://schemas.microsoft.com/office/drawing/2014/main" xmlns=""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a16="http://schemas.microsoft.com/office/drawing/2014/main" xmlns=""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pic>
        <p:nvPicPr>
          <p:cNvPr id="141317" name="Picture 2">
            <a:extLst>
              <a:ext uri="{FF2B5EF4-FFF2-40B4-BE49-F238E27FC236}">
                <a16:creationId xmlns:a16="http://schemas.microsoft.com/office/drawing/2014/main" xmlns=""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a16="http://schemas.microsoft.com/office/drawing/2014/main" xmlns=""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a16="http://schemas.microsoft.com/office/drawing/2014/main" xmlns=""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a16="http://schemas.microsoft.com/office/drawing/2014/main" xmlns=""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sp>
        <p:nvSpPr>
          <p:cNvPr id="142341" name="Rectangle 4">
            <a:extLst>
              <a:ext uri="{FF2B5EF4-FFF2-40B4-BE49-F238E27FC236}">
                <a16:creationId xmlns:a16="http://schemas.microsoft.com/office/drawing/2014/main" xmlns=""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157</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158</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159</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4871</TotalTime>
  <Words>4332</Words>
  <Application>Microsoft Office PowerPoint</Application>
  <PresentationFormat>Affichage à l'écran (4:3)</PresentationFormat>
  <Paragraphs>825</Paragraphs>
  <Slides>164</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164</vt:i4>
      </vt:variant>
    </vt:vector>
  </HeadingPairs>
  <TitlesOfParts>
    <vt:vector size="166"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Evenements SCRUM</vt:lpstr>
      <vt:lpstr>Les différents rôles -L’équipe</vt:lpstr>
      <vt:lpstr>Présentation PowerPoint</vt:lpstr>
      <vt:lpstr>Présentation PowerPoint</vt:lpstr>
      <vt:lpstr>Présentation PowerPoint</vt:lpstr>
      <vt:lpstr>User Stories &amp; Product Backlog</vt:lpstr>
      <vt:lpstr>Présentation PowerPoint</vt:lpstr>
      <vt:lpstr>Présentation PowerPoint</vt:lpstr>
      <vt:lpstr>Grooming</vt:lpstr>
      <vt:lpstr>Présentation PowerPoint</vt:lpstr>
      <vt:lpstr>Planning poker</vt:lpstr>
      <vt:lpstr>Présentation PowerPoint</vt:lpstr>
      <vt:lpstr>Présentation PowerPoint</vt:lpstr>
      <vt:lpstr>Exemple concret </vt:lpstr>
      <vt:lpstr>Qu’est ce qu’un sprint ? </vt:lpstr>
      <vt:lpstr>Présentation PowerPoint</vt:lpstr>
      <vt:lpstr>Sprint planning</vt:lpstr>
      <vt:lpstr>Sprint Execution</vt:lpstr>
      <vt:lpstr>Présentation PowerPoint</vt:lpstr>
      <vt:lpstr>Présentation PowerPoint</vt:lpstr>
      <vt:lpstr>Présentation PowerPoint</vt:lpstr>
      <vt:lpstr>Présentation PowerPoint</vt:lpstr>
      <vt:lpstr>Présentation PowerPoint</vt:lpstr>
      <vt:lpstr>Jira</vt:lpstr>
      <vt:lpstr>Présentation PowerPoint</vt:lpstr>
      <vt:lpstr>Présentation PowerPoint</vt:lpstr>
      <vt:lpstr>Présentation PowerPoint</vt:lpstr>
      <vt:lpstr>Créer epic</vt:lpstr>
      <vt:lpstr>Créer story</vt:lpstr>
      <vt:lpstr>Démarrer le Sprint</vt:lpstr>
      <vt:lpstr>Tableau du Sprint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travailler sur un dépôt local (local repository)</vt:lpstr>
      <vt:lpstr>Présentation PowerPoint</vt:lpstr>
      <vt:lpstr>Présentation PowerPoint</vt:lpstr>
      <vt:lpstr>Présentation PowerPoint</vt:lpstr>
      <vt:lpstr>Définition</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531</cp:revision>
  <dcterms:created xsi:type="dcterms:W3CDTF">2009-03-18T21:47:01Z</dcterms:created>
  <dcterms:modified xsi:type="dcterms:W3CDTF">2026-09-23T10:49:01Z</dcterms:modified>
</cp:coreProperties>
</file>